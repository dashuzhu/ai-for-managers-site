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00:00–00:30. Открытие. Сегодня обсуждаем границы делегирования и делаем первую проверяемую пробу. Презентация рассчитана на 90 минут; справочные слайды не входят в последовательный показ.</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00:30–02:30. Представиться в первом лице. Имя, корпоративный опыт и портрет — существующие материалы преподавателя. Текущая роль WAY, 10 лет высшего образования, авиация, ритейл и МГУ — её рассказ. Не добавлять к авиационному опыту неподтверждённые должности. Фотография из team-2p-v2-final.pptx, слайд 2, рядом с её именем.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02:30–06:30. Короткое знакомство: имя, роль, повторяющаяся задача, опыт с ИИ. В большой группе — чат и 3 голоса вслух. Не обещать каждому индивидуальное внедрение сегодня.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06:30–07:30. Собрать ожидания: время, качество, новые возможности, уверенность. Спросить, чего участники опасаются. Сохранить реальные ответы для следующего занятия; слова на слайде — вопросы для обсуждения, не результаты опроса.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07:30–08:30. Сверить ожидания с границами курса. Рассматриваем инструменты, корпоративные кейсы, методы делегирования и практику. Вводная встреча не обещает запуск production-агента, полную автоматизацию компании или гарантированную экономию. Вопросы по сложным системам собираем для дальнейшего разбора.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08:30–09:30. Даты и результаты исходной программы сохранены. Пользователь уточнил длительность: 10 встреч по 90 минут, всего 15 часов или 20 академических часов. Итог — проверенная проба и план проекта, а не готовая промышленная инфраструктура.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09:30–10:00. Отдельно показать приоритет кейсов. Тайминг всех основных слайдов суммируется до 90 минут. Демонстрация студенческого проекта входит в блок кейсов, не добавляется сверху.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10:00–11:30. Начать вводную с управленческого вопроса. HBR’s 10 Must Reads 2027 — десять основных статей и четыре коротких дополнения; речь не только о технологии. Общая рамка редакторов: жить и развиваться в постоянной неопределённости. Слова на слайде — наша синтезирующая рамка, не дословная цитата.</a:t>
            </a:r>
          </a:p>
          <a:p/>
          <a:p>
            <a:r>
              <a:t>Источник: HBR’s 10 Must Reads 2027 · Editors’ Note · PDF 9–13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11:30–13:00. Harvard Business Review сочетает исследования, практику компаний и авторские рамки. Harvard Business Publishing — издатель, связанный с Harvard Business School. Это не единая позиция университета и не обещание универсальной эффективности. Подборка 2027 вышла в октябре 2026; включает материалы 2025 и начала 2026 года. Полный текст пользовательского PDF не распространяем, на слайде только обложка для представления источника.</a:t>
            </a:r>
          </a:p>
          <a:p/>
          <a:p>
            <a:r>
              <a:t>Источник: Harvard Business Publishing · HBR Press · PDF 5–13, 178–181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13:00–14:30. Аффилиации указаны в About the Contributors и проверены для Stanford/NYU по официальным страницам. Jamil Zaki — Stanford Psychology; Jeffrey Hancock — Stanford Communication и основатель Social Media Lab; Anand — NYU Stern; Wu — HBS. Не называть всех авторами Гарварда или Стэнфорда. Полный состав соавторов и страницы — в отдельном разборе.</a:t>
            </a:r>
          </a:p>
          <a:p/>
          <a:p>
            <a:r>
              <a:t>Источник: About the Contributors · PDF 178–181 · официальные страницы Stanford / NYU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14:30–16:00. Карта чтения, не подробный пересказ за полторы минуты. Полные названия, все авторы, аргументы и практики находятся в материале «HBR: десять статей». Номера слева — исходная нумерация основных статей сборника. Каждый пункт формулирует вклад соответствующего автора.</a:t>
            </a:r>
          </a:p>
          <a:p/>
          <a:p>
            <a:r>
              <a:t>Источник: HBR’s 10 Must Reads 2027 · статьи 1, 3, 4, 6, 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16:00–17:30. Вторая половина карты десяти основных статей. В статье 8 есть жёсткие рекомендации по составу команды и расходам на труд: не скрывать их ради общей человекоцентричной рамки. Rigby/First говорят о создании ценности для сторон, а не о бесконечном чередовании реорганизаций.</a:t>
            </a:r>
          </a:p>
          <a:p/>
          <a:p>
            <a:r>
              <a:t>Источник: HBR’s 10 Must Reads 2027 · статьи 2, 5, 7, 8,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17:30–19:00. Авторская позиция, PDF 28–44: широко доступный инструмент повышает эффективность многих участников рынка, но не гарантирует присвоение прибыли. Собственные данные, процессы, люди и культура определяют, как именно будет создана ценность. Не обещать уникальность любых внутренних данных или прибыль любого ИИ-проекта.</a:t>
            </a:r>
          </a:p>
          <a:p/>
          <a:p>
            <a:r>
              <a:t>Источник: Bharat N. Anand / Andy Wu · The Gen AI Playbook · PDF 28–44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19:00–20:30. Anand/Wu, PDF 41–44: требуется пересборка организации. Возможны межфункциональные роли, исчезновение части ролей и работа среднего менеджера напрямую с программами. Это прогноз и рекомендация авторов, не измеренный эффект сокращения отдела. Компания должна выбрать, куда направить время: качество, новый спрос, рост или пересмотр затрат. Нельзя приписать авторам обещание никого не сокращать.</a:t>
            </a:r>
          </a:p>
          <a:p/>
          <a:p>
            <a:r>
              <a:t>Источник: Anand / Wu · PDF 41–44 · возможный сценарий авторов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20:30–22:00. Anand/Wu предлагают разложить профессию и работу на составляющие. Ниже наша адаптация для учебного решения о запуске продукта. Подготовка и сравнение могут поддерживаться ИИ, но факт готовности рынка, бюджет и обязательства не становятся достоверными от генерации текста. На матрице далее оценим каждый шаг по цене ошибки и знанию.</a:t>
            </a:r>
          </a:p>
          <a:p/>
          <a:p>
            <a:r>
              <a:t>Источник: Принцип Anand / Wu · PDF 31–37 · учебная адаптация запуска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22:00–23:30. Синтез четырёх зон Anand/Wu: низкорисковая операция, варианты для человека, подготовка под экспертную проверку. Четвёртая зона — human-first — сохраняет решение у человека, допускает ограниченную поддержку. Примеры наши, не цитаты и не юридические разрешения. Допустимые данные обязательны.</a:t>
            </a:r>
          </a:p>
          <a:p/>
          <a:p>
            <a:r>
              <a:t>Источник: Anand / Wu · PDF 34–37 · примеры адаптированы для курса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23:30–25:00. Дополнение Workslop, PDF 45–53, шесть авторов: Kate Niederhoffer, Gabriella Rosen Kellerman, Angela Lee, Alex Liebscher, Kristina Rapuano, Jeffrey T. Hancock. Исследование BetterUp Labs совместно со Stanford Social Media Lab; смешанная команда, не только Stanford. Непроверенный опрятный материал может передавать работу получателю. Наша практическая проверка — учитывать время автора и получателя, полноту и пригодность решения. Не переносить результаты американского опроса на любую компанию.</a:t>
            </a:r>
          </a:p>
          <a:p/>
          <a:p>
            <a:r>
              <a:t>Источник: Niederhoffer и соавторы · Workslop · PDF 45–53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25:00–26:30. Начать с знакомого процесса. Не всё на этой схеме генеративный ИИ: прогнозирование, распознавание, правила и генерация могут работать вместе. Факт наличия функции не означает её использование во всех компаниях.</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26:30–28:00. Качественная учебная схема пяти фаз Gartner. В абстракте отчёта 2025 описаны ожидания и освоение, а не измеренная траектория каждой технологии. Оценка GenAI в фазе разочарования относится к 2025; не приписывать всей индустрии положение в 2026. В материалах WAI найден график Rogers — это другая модель.</a:t>
            </a:r>
          </a:p>
          <a:p/>
          <a:p>
            <a:r>
              <a:t>Источник: Gartner · Hype Cycle 2025 · gartner.com/en/documents/6719134</a:t>
            </a:r>
          </a:p>
          <a:p>
            <a:r>
              <a:t>Полная ссылка: https://www.gartner.com/en/documents/6719134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28:00–30:00. ИИ — широкая область, машинное обучение и нейросети — методы; генеративный ИИ — класс возможностей. Не все вычисления требуют языковой модели. Числа проверяем кодом или формулами.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30:00–31:30. Контекст — инструкции и доступные входные сведения. Он отличается от обучения. Приложение может добавлять поиск, память и инструменты. Агентность определяется устройством процесса и правами, а не названием на сайте.</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31:30–33:30. Это примеры семейств и способов использования, не рейтинг качества. Не назначать универсальную лучшую модель. GPT/Claude/Gemini — внешние сервисы; Qwen/DeepSeek/Mistral имеют версии с доступными весами и своими лицензиями. Возможности и доступ зависят от конкретной версии и продукта.</a:t>
            </a:r>
          </a:p>
          <a:p/>
          <a:p>
            <a:r>
              <a:t>Источник: Официальные страницы поставщиков · ссылки в справочном разделе и заметках</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33:30–35:00. Назвать ассистента, сценарий и агента, раскрыть их отличие. Ассистент может включать агентные возможности. Эволюция здесь — логика усложнения рабочего процесса, а не точная хронология появления технологий. Увеличение автономности требует прав, журналов и остановки.</a:t>
            </a:r>
          </a:p>
          <a:p/>
          <a:p>
            <a:r>
              <a:t>Источник: Anthropic · Building effective agents · anthropic.com/engineering/building-effective-agents</a:t>
            </a:r>
          </a:p>
          <a:p>
            <a:r>
              <a:t>Полная ссылка: https://www.anthropic.com/engineering/building-effective-agents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35:00–38:00. Kaiser Permanente / TPMG: ambient AI готовит заметки по разговору для редактирования врачом. Статья описывает раннее внедрение, обучение и контроль качества. Не переносить медицинские показатели на деловые встречи и не обещать универсальную экономию. Аналогия для курса — вернуть внимание в разговор; деловой бриф остаётся проверяемым документом.</a:t>
            </a:r>
          </a:p>
          <a:p/>
          <a:p>
            <a:r>
              <a:t>Источник: Kaiser Permanente DOR / NEJM Catalyst · 2024 · doi:10.1056/cat.23.0404</a:t>
            </a:r>
          </a:p>
          <a:p>
            <a:r>
              <a:t>Полная ссылка: https://divisionofresearch.kaiserpermanente.org/publications/ambient-artificial-intelligence-scribes-to-alleviate-the-burden-of-clinical-documentation/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38:00–41:00. Учебный перенос паттерна скрайбера на клиентский бриф. Это не установленный эффект Kaiser для продаж. Согласовать запись и обработку, проверить имена, отрицания, условные сроки, коммерческие условия и права отправки. Разделить типы использования: заметки встречи, задачи, черновик письма, оценка звонка — разные процессы с разными последствиями.</a:t>
            </a:r>
          </a:p>
          <a:p/>
          <a:p>
            <a:r>
              <a:t>Источник: Учебная схема для курса · деловой перенос паттерна AI-scribe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41:00–44:00. NBER, исходный отчёт 2023 года: данные примерно пяти тысяч операторов одной компании. Около 14% больше решённых обращений в час, эффект сильнее у менее опытных работников. Это внедрение ассистента, не доказательство сокращения отдела. Метрика не равна прибыли или числу людей, которых можно убрать.</a:t>
            </a:r>
          </a:p>
          <a:p/>
          <a:p>
            <a:r>
              <a:t>Источник: Brynjolfsson, Li, Raymond · NBER 2023 · nber.org/digest/20236/measuring-productivity-impact-generative-ai</a:t>
            </a:r>
          </a:p>
          <a:p>
            <a:r>
              <a:t>Полная ссылка: https://www.nber.org/digest/20236/measuring-productivity-impact-generative-ai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44:00–47:00. Март 2025: Unilever сообщает о цифровых двойниках товаров и встроенном процессе производства изображений. По данным компании этот процесс вдвое быстрее и на 50% дешевле. Это сообщение компании, не независимый эксперимент, не эффект всего маркетинга и не свидетельство замены отдела. Оставшиеся показатели статьи не переносим, чтобы не смешивать периметры.</a:t>
            </a:r>
          </a:p>
          <a:p/>
          <a:p>
            <a:r>
              <a:t>Источник: Unilever · март 2025 · официальный кейс цифровых двойников продуктов</a:t>
            </a:r>
          </a:p>
          <a:p>
            <a:r>
              <a:t>Изображение: Unilever, официальный материал о цифровых двойниках продуктов.</a:t>
            </a:r>
          </a:p>
          <a:p>
            <a:r>
              <a:t>Полная ссылка: https://www.unilever.com/news/press-and-media/press-releases/2025/unilever-reinvents-product-shoots-with-digital-twins-and-ai/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47:00–49:00. Учебная схема, не подтверждённая замена конкретного отдела. Обсудить, какие фрагменты процесса можно ускорить, а какие остаются на людях. Пересборка ролей требует спроса, качества и экономики. Менеджер может собрать прототип кампании, но не становится одновременно полноценным исследователем, юристом, дизайнером и медиапланером.</a:t>
            </a:r>
          </a:p>
          <a:p/>
          <a:p>
            <a:r>
              <a:t>Источник: Учебная схема маркетингового процесса · не кейс сокращения штата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49:00–52:00. Кейс Autodesk / Stantec: ранние анализы солнца, ветра и углерода в Forma связаны с Revit; визуализация помогает обсуждению вариантов с клиентом. Часть задач — анализ среды, часть — генеративные визуальные варианты; не называем всё одной нейросетью. Кейс поставщика не доказывает, что можно вдвое сократить штат. Исследования, расчёты и нормативное решение не заменяются картинкой.</a:t>
            </a:r>
          </a:p>
          <a:p/>
          <a:p>
            <a:r>
              <a:t>Источник: Autodesk / Stantec · Forma Site Design · autodesk.com/customer-stories/stantec-forma-site-design-story</a:t>
            </a:r>
          </a:p>
          <a:p>
            <a:r>
              <a:t>Изображение проекта: Stantec, опубликовано Autodesk; визуализация здания, не фотография построенного объекта. Команда принимает проектные решения.</a:t>
            </a:r>
          </a:p>
          <a:p>
            <a:r>
              <a:t>Полная ссылка: https://www.autodesk.com/customer-stories/stantec-forma-site-design-story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52:00–54:00. Анонимный пример бюро из рассказа Дарьи: Revit и клиентские 3D-показы уже освоены. Ниже — гипотезы, не описание результатов компании. Не обещаем, что новые сегменты прибыльны: проверяем спрос, стоимость сделки и загрузку. Сценарий 30→15 из разговора не используем как измеренный эффект.</a:t>
            </a:r>
          </a:p>
          <a:p/>
          <a:p>
            <a:r>
              <a:t>Источник: Пример Дарьи · гипотезы для архитектурного бюро</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54:00–59:00. Работа в парах. Две минуты выбрать одну гипотезу, две — определить ограниченный тест, одну — короткий ответ. Выслушать 2 примера. Уменьшаем число альтернатив, не просим группы разработать стратегию компании. Любая выгода должна быть гипотезой, пока не проверена.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59:00–60:00. Дарья показывает выбранный ею проект с собственного экрана. Ссылки и файлы конкретных демонстраций пока не предоставлены; этот слайд не утверждает их наличие в репозитории. Дать 1 минуту на основной показ. Если показывать нечего, использовать ту же минуту на ответ одной пары о бюро, не изображать несуществующее демо.</a:t>
            </a:r>
          </a:p>
          <a:p/>
          <a:p>
            <a:r>
              <a:t>Источник: Авторский показ Дарьи · проверяем результат на экране</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60:00–61:30. Это предлагаемый управленческий принцип курса, а не результат научного сравнения всех компаний. Компания может выбрать рост качества и новые услуги вместо автоматического сокращения. Нельзя обещать отсутствие любых кадровых изменений. Честно обсудить с командой цели, изменения ролей, обучение и нагрузку. Метафора семьи не заменяет прозрачных правил.</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61:30–64:00. Адаптация Anand/Wu, HBR PDF 28–44: цена ошибки и явное/неявное знание. Дополнительные входные условия курса: разрешённые данные и проверяющий. Режим выбирается для шага, не для профессии. Явное знание проверяется правилами и источниками; неявное опирается на опыт, отношения и контекст. Не использовать матрицу как юридическое разрешение.</a:t>
            </a:r>
          </a:p>
          <a:p/>
          <a:p>
            <a:r>
              <a:t>Источник: Anand &amp; Wu · HBR’s 10 Must Reads 2027 · PDF 28–44 · учебная адаптация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64:00–65:00. Авторская интерпретация: руководитель с ИИ может сделать бриф, черновик, простой прототип и увидеть цену проверки. Это полезно для постановки задачи и приёмки. Ограничение: не забирать весь процесс у специалистов, не замещать код-ревью и не превращать эксперимент в бесконечную параллельную работу. Vibe coding в узком значении — построение по видимому результату почти без чтения кода; для рабочего запуска этого недостаточно.</a:t>
            </a:r>
          </a:p>
          <a:p/>
          <a:p>
            <a:r>
              <a:t>Источник: Практика курса · разграничение прототипа и рабочего запуска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65:00–66:30. Jamil Zaki описывает суперфасилитатора: замечать сильные стороны, поддерживать доверие и давать людям участвовать. Статья не призывает менеджера выполнять всю работу за команду. Сопоставить с предыдущим слайдом: участие в прототипе помогает понять задачу; постоянное перетягивание решений на себя лишает команду вклада.</a:t>
            </a:r>
          </a:p>
          <a:p/>
          <a:p>
            <a:r>
              <a:t>Источник: Jamil Zaki · Every Team Needs a Super-Facilitator · HBR PDF 68–78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66:30–68:00. Ye/Ranganathan: 8-месячное наблюдение одной технологической компании из 200 человек и 40+ интервью. Участники расширяли задачи, заполняли паузы и вели параллельные потоки. Это качественное исследование, не универсальная причинная оценка. Workslop из HBR — отдельный риск: работа возвращается коллегам на переделку. Предложение курса: ограничить параллельные пробы и считать полное время с проверкой.</a:t>
            </a:r>
          </a:p>
          <a:p/>
          <a:p>
            <a:r>
              <a:t>Источник: UC Berkeley Haas · 18.02.2026 · Ye / Ranganathan; HBR workslop · PDF 45–53</a:t>
            </a:r>
          </a:p>
          <a:p>
            <a:r>
              <a:t>Полная ссылка: https://newsroom.haas.berkeley.edu/ai-promised-to-free-up-workers-time-uc-berkeley-haas-researchers-found-the-opposite/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68:00–70:00. Вымышленный исходник для демо. Показать запись полностью: Клиент просит скидку 7%, скидку не согласовали. Дарья готовит расчёт к 23 октября, только если до 21 октября получит ответ поставщика. Ответственный за сроки производства не назначен. Предложение пока не отправляем. Никакие реальные данные клиента не загружаются.</a:t>
            </a:r>
          </a:p>
          <a:p/>
          <a:p>
            <a:r>
              <a:t>Источник: Учебный пример · все условия вымышлены</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70:00–73:00. На экране открыть доступный одобренный чат. Прочитать запрос, вставить учебный исходник из заметок предыдущего слайда. Не просить модель скрытые цепочки рассуждений; нужен результат со ссылками на исходные фразы. Роль модели не заменяет контекст и критерий. Запрос для копирования также сохранён в отдельном материале.</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73:00–74:00. Сравнить фактический ответ модели с исходником. Если ответ хорош, не выдумывать ошибку. При недоступном сервисе показать эталон: скидка — просьба, согласования нет; расчёт — Дарья, 23.10 при ответе до 21.10; сроки производства — ответственный не назначен; отправка запрещена до разрешения. Эталон подготовлен человеком для упражнения, не представлен как результат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74:00–80:00. 1 минута выбрать небольшую операцию, 2 минуты написать запрос, 2 минуты получить/проверить ответ, 1 минута сформулировать вывод. Разрешён учебный исходник. У кого нет доступа, проверяет подготовленный эталон и улучшает запрос. Работы без допустимых данных не запускаем. Этот короткий эксперимент не доказывает стабильность автоматизации.</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80:00–83:00. Показать схему FAQ-бота, не выдавать её за работающий бот. Telegram-запрос запускает поиск по утверждённой справке, затем формируется ответ со ссылкой; если ответа нет — передача человеку. Вне класса можно подключить n8n/Albato/Make с разрешёнными аккаунтами. Выбор следующего шага моделью делает процесс агентным; фиксированная цепочка сама по себе агентом не является.</a:t>
            </a:r>
          </a:p>
          <a:p/>
          <a:p>
            <a:r>
              <a:t>Источник: n8n · docs.n8n.io/advanced-ai/ · учебная схема FAQ-бота</a:t>
            </a:r>
          </a:p>
          <a:p>
            <a:r>
              <a:t>Полная ссылка: https://docs.n8n.io/advanced-ai/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83:00–86:00. Ввести персональные данные и коммерческую тайну без юридических обещаний. Доступ, место обработки, хранение, внешние обращения и удаление — разные вопросы. Локальная модель, управляемый корпоративный сервис и защитная обёртка — варианты и слои, которые могут сочетаться. RAG не равен локальности, обёртка не гарантирует законность. Важны договоры и конкретная конфигурация.</a:t>
            </a:r>
          </a:p>
          <a:p/>
          <a:p>
            <a:r>
              <a:t>Источник: NIST AI 600-1; пример корпоративного внедрения DLA Piper / Microsoft, 2024</a:t>
            </a:r>
          </a:p>
          <a:p>
            <a:r>
              <a:t>Полная ссылка: https://www.microsoft.com/en/customers/story/19584-dla-piper-microsoft-365-copilot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86:00–87:00. Разобрать спорные обещания вроде «ИИ-CEO» и «замена мозга»: система может подготовить выбор и выполнить разрешённые операции. Управленческая ответственность и цели не исчезают от делегирования. Для критичных шагов нужен специалист, а не просто формальное нажатие «подтвердить». Это принцип курса, не утверждение, что ИИ никогда не сможет справляться с другими задачами.</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87:00–88:00. Выходной круг: одну операцию назвать полностью; что получает ИИ, кто проверяет, когда останавливаемся. Критерии до запуска. Обоснованный отказ, если нет допустимых данных или проверяющего, — полноценный результат. Не используем шкалу доверия как оценку людей.</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88:00–90:00. Задание: перечислить пять задач отдела, выбрать одну, записать вход и запрос, сохранить ответ, проверить факты/пропуски, оценить время автора и получателя, обозначить, что стоит менять. Без закрытых данных. Следующая встреча — команда, опасения и освоение ИИ. Сдача в «Мои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Краткие рабочие определения. Полный словарь перед стартом размещён в портале. Vibe coding — узкое значение почти без разбора кода; не любое программирование с ИИ. AI slop — низкокачественный сгенерированный контент, workslop — материал, создающий дополнительную содержательную работу получателю. Источники Merriam-Webster, Simon Willison и предоставленный HBR PDF 45–53.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Справочник, не последовательная часть 90 минут. Официальные входы перечислены в отдельном материале. Перед занятием преподаватель проверяет свой вход. Не обещаем доступ, оплату или конкретный тариф для каждого участника. Все примеры обезличены. Наличие российского интерфейса не означает разрешения передавать ему закрытые данные.</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Для Алисы AI подтверждён официальный веб-вход alice.yandex.ru по справке Яндекса. GigaChat — giga.chat, динамическая страница, вход пользователя не проверялся. Claude — список поддерживаемых стран anthropic.com/supported-countries. Для других сервисов проверяются собственные условия, аккаунт и способы оплаты; не обещаем обход региональных ограничений. Доступ к UI не равен API и разрешению работодателя.</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Учебные числа, не результат исследования. Было: 45 минут автора + 10 получателя =55. Стало: 10 подготовки +15 генерации/правок/сверки автора +35 повторной работы получателя =60. На обсуждении нужно точно определить категории, не считать одни минуты дважды. Workslop оцениваем по дополнительной работе и качеству, не по факту использования ИИ.</a:t>
            </a:r>
          </a:p>
          <a:p/>
          <a:p>
            <a:r>
              <a:t>Источник: Учебный расчёт · не измерение потерь компании</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Полный учебный кейс опубликован отдельно. 12 интервью, 8 упоминаний боли, 3 готовности попробовать, 20 тестов с ошибками; все числа вымышлены. Не назначать фиктивные вероятности успеха. Сначала согласовать данные и критерии пилота, проверить полный процесс и спрос. Рекомендация ограниченного пилота допустима только при выполнении условий.</a:t>
            </a:r>
          </a:p>
          <a:p/>
          <a:p>
            <a:r>
              <a:t>Источник: Учебный кейс запуска ИИ-сервиса · данные вымышлены</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Полные URL сохранены в research.md и отдельном пакете ведущей. Кейс компании и исследование различаются по силе доказательства; учебные схемы прямо обозначены.</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HBR предоставлен пользователем; оригинал не распространяется. Авторы имеют разные академические аффилиации, это не единая позиция Гарвардского университета. Berkeley — отдельное исследование 2026 года, оно не входит в предоставленный сборник. Подробные страницы и ссылки research.md.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57200"/>
            <a:ext cx="9144000" cy="457200"/>
          </a:xfrm>
          <a:prstGeom prst="rect">
            <a:avLst/>
          </a:prstGeom>
          <a:noFill/>
        </p:spPr>
        <p:txBody>
          <a:bodyPr wrap="square">
            <a:spAutoFit/>
          </a:bodyPr>
          <a:lstStyle/>
          <a:p>
            <a:pPr algn="l"/>
            <a:r>
              <a:rPr sz="1900" b="0">
                <a:solidFill>
                  <a:srgbClr val="66635D"/>
                </a:solidFill>
                <a:latin typeface="Arial"/>
                <a:ea typeface="Arial"/>
                <a:cs typeface="Arial"/>
              </a:rPr>
              <a:t>ИИ для менеджеров</a:t>
            </a:r>
          </a:p>
        </p:txBody>
      </p:sp>
      <p:cxnSp>
        <p:nvCxnSpPr>
          <p:cNvPr id="3" name="Connector 2"/>
          <p:cNvCxnSpPr/>
          <p:nvPr/>
        </p:nvCxnSpPr>
        <p:spPr>
          <a:xfrm>
            <a:off x="640080" y="1097280"/>
            <a:ext cx="1092708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594360" y="1572768"/>
            <a:ext cx="9052560" cy="2103120"/>
          </a:xfrm>
          <a:prstGeom prst="rect">
            <a:avLst/>
          </a:prstGeom>
          <a:noFill/>
        </p:spPr>
        <p:txBody>
          <a:bodyPr wrap="square">
            <a:spAutoFit/>
          </a:bodyPr>
          <a:lstStyle/>
          <a:p>
            <a:pPr algn="l"/>
            <a:r>
              <a:rPr sz="4900" b="0">
                <a:solidFill>
                  <a:srgbClr val="20201E"/>
                </a:solidFill>
                <a:latin typeface="Georgia"/>
                <a:ea typeface="Arial"/>
                <a:cs typeface="Arial"/>
              </a:rPr>
              <a:t>Где ИИ пригодится
в работе менеджера</a:t>
            </a:r>
          </a:p>
        </p:txBody>
      </p:sp>
      <p:sp>
        <p:nvSpPr>
          <p:cNvPr id="5" name="TextBox 4"/>
          <p:cNvSpPr txBox="1"/>
          <p:nvPr/>
        </p:nvSpPr>
        <p:spPr>
          <a:xfrm>
            <a:off x="640080" y="4206240"/>
            <a:ext cx="5669280" cy="960120"/>
          </a:xfrm>
          <a:prstGeom prst="rect">
            <a:avLst/>
          </a:prstGeom>
          <a:noFill/>
        </p:spPr>
        <p:txBody>
          <a:bodyPr wrap="square">
            <a:spAutoFit/>
          </a:bodyPr>
          <a:lstStyle/>
          <a:p>
            <a:pPr algn="l"/>
            <a:r>
              <a:rPr sz="2700" b="0">
                <a:solidFill>
                  <a:srgbClr val="20201E"/>
                </a:solidFill>
                <a:latin typeface="Arial"/>
                <a:ea typeface="Arial"/>
                <a:cs typeface="Arial"/>
              </a:rPr>
              <a:t>Найти задачу для ИИ
и проверить первый результат.</a:t>
            </a:r>
          </a:p>
        </p:txBody>
      </p:sp>
      <p:sp>
        <p:nvSpPr>
          <p:cNvPr id="6" name="Rectangle 5"/>
          <p:cNvSpPr/>
          <p:nvPr/>
        </p:nvSpPr>
        <p:spPr>
          <a:xfrm>
            <a:off x="9875520" y="1508760"/>
            <a:ext cx="1645920" cy="4434840"/>
          </a:xfrm>
          <a:prstGeom prst="rect">
            <a:avLst/>
          </a:prstGeom>
          <a:solidFill>
            <a:srgbClr val="C5422D"/>
          </a:solidFill>
          <a:ln>
            <a:noFill/>
          </a:ln>
        </p:spPr>
        <p:txBody>
          <a:bodyPr rtlCol="0" anchor="ctr"/>
          <a:lstStyle/>
          <a:p>
            <a:pPr algn="ctr"/>
          </a:p>
        </p:txBody>
      </p:sp>
      <p:sp>
        <p:nvSpPr>
          <p:cNvPr id="7" name="TextBox 6"/>
          <p:cNvSpPr txBox="1"/>
          <p:nvPr/>
        </p:nvSpPr>
        <p:spPr>
          <a:xfrm>
            <a:off x="10076688" y="1828800"/>
            <a:ext cx="1280160" cy="1143000"/>
          </a:xfrm>
          <a:prstGeom prst="rect">
            <a:avLst/>
          </a:prstGeom>
          <a:noFill/>
        </p:spPr>
        <p:txBody>
          <a:bodyPr wrap="square">
            <a:spAutoFit/>
          </a:bodyPr>
          <a:lstStyle/>
          <a:p>
            <a:pPr algn="l"/>
            <a:r>
              <a:rPr sz="5200" b="1">
                <a:solidFill>
                  <a:srgbClr val="F6F3EC"/>
                </a:solidFill>
                <a:latin typeface="Arial"/>
                <a:ea typeface="Arial"/>
                <a:cs typeface="Arial"/>
              </a:rPr>
              <a:t>01</a:t>
            </a:r>
          </a:p>
        </p:txBody>
      </p:sp>
      <p:sp>
        <p:nvSpPr>
          <p:cNvPr id="8" name="TextBox 7"/>
          <p:cNvSpPr txBox="1"/>
          <p:nvPr/>
        </p:nvSpPr>
        <p:spPr>
          <a:xfrm>
            <a:off x="10076688" y="4937760"/>
            <a:ext cx="1280160" cy="640080"/>
          </a:xfrm>
          <a:prstGeom prst="rect">
            <a:avLst/>
          </a:prstGeom>
          <a:noFill/>
        </p:spPr>
        <p:txBody>
          <a:bodyPr wrap="square">
            <a:spAutoFit/>
          </a:bodyPr>
          <a:lstStyle/>
          <a:p>
            <a:pPr algn="l"/>
            <a:r>
              <a:rPr sz="1900" b="0">
                <a:solidFill>
                  <a:srgbClr val="F6F3EC"/>
                </a:solidFill>
                <a:latin typeface="Arial"/>
                <a:ea typeface="Arial"/>
                <a:cs typeface="Arial"/>
              </a:rPr>
              <a:t>90
минут</a:t>
            </a:r>
          </a:p>
        </p:txBody>
      </p:sp>
      <p:cxnSp>
        <p:nvCxnSpPr>
          <p:cNvPr id="9" name="Connector 8"/>
          <p:cNvCxnSpPr/>
          <p:nvPr/>
        </p:nvCxnSpPr>
        <p:spPr>
          <a:xfrm>
            <a:off x="640080" y="6035040"/>
            <a:ext cx="832104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640080" y="6263640"/>
            <a:ext cx="9144000" cy="320040"/>
          </a:xfrm>
          <a:prstGeom prst="rect">
            <a:avLst/>
          </a:prstGeom>
          <a:noFill/>
        </p:spPr>
        <p:txBody>
          <a:bodyPr wrap="square">
            <a:spAutoFit/>
          </a:bodyPr>
          <a:lstStyle/>
          <a:p>
            <a:pPr algn="l"/>
            <a:r>
              <a:rPr sz="1400" b="0">
                <a:solidFill>
                  <a:srgbClr val="66635D"/>
                </a:solidFill>
                <a:latin typeface="Arial"/>
                <a:ea typeface="Arial"/>
                <a:cs typeface="Arial"/>
              </a:rPr>
              <a:t>Дарья Жуйкова · 20 октября 2026 · 19:00–20:30 МСК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pic>
        <p:nvPicPr>
          <p:cNvPr id="2" name="Picture 1" descr="5fcf90cf164ab134064940d8dc2cc66b.png"/>
          <p:cNvPicPr>
            <a:picLocks noChangeAspect="1"/>
          </p:cNvPicPr>
          <p:nvPr/>
        </p:nvPicPr>
        <p:blipFill>
          <a:blip r:embed="rId3"/>
          <a:stretch>
            <a:fillRect/>
          </a:stretch>
        </p:blipFill>
        <p:spPr>
          <a:xfrm>
            <a:off x="731520" y="1600200"/>
            <a:ext cx="3474720" cy="3474720"/>
          </a:xfrm>
          <a:prstGeom prst="rect">
            <a:avLst/>
          </a:prstGeom>
        </p:spPr>
      </p:pic>
      <p:sp>
        <p:nvSpPr>
          <p:cNvPr id="3" name="TextBox 2"/>
          <p:cNvSpPr txBox="1"/>
          <p:nvPr/>
        </p:nvSpPr>
        <p:spPr>
          <a:xfrm>
            <a:off x="4800600" y="731520"/>
            <a:ext cx="6400800" cy="1417320"/>
          </a:xfrm>
          <a:prstGeom prst="rect">
            <a:avLst/>
          </a:prstGeom>
          <a:noFill/>
        </p:spPr>
        <p:txBody>
          <a:bodyPr wrap="square">
            <a:spAutoFit/>
          </a:bodyPr>
          <a:lstStyle/>
          <a:p>
            <a:pPr algn="l"/>
            <a:r>
              <a:rPr sz="4500" b="0">
                <a:solidFill>
                  <a:srgbClr val="20201E"/>
                </a:solidFill>
                <a:latin typeface="Georgia"/>
                <a:ea typeface="Arial"/>
                <a:cs typeface="Arial"/>
              </a:rPr>
              <a:t>Дарья
Жуйкова</a:t>
            </a:r>
          </a:p>
        </p:txBody>
      </p:sp>
      <p:sp>
        <p:nvSpPr>
          <p:cNvPr id="4" name="TextBox 3"/>
          <p:cNvSpPr txBox="1"/>
          <p:nvPr/>
        </p:nvSpPr>
        <p:spPr>
          <a:xfrm>
            <a:off x="4846320" y="2468880"/>
            <a:ext cx="6400800" cy="640080"/>
          </a:xfrm>
          <a:prstGeom prst="rect">
            <a:avLst/>
          </a:prstGeom>
          <a:noFill/>
        </p:spPr>
        <p:txBody>
          <a:bodyPr wrap="square">
            <a:spAutoFit/>
          </a:bodyPr>
          <a:lstStyle/>
          <a:p>
            <a:pPr algn="l"/>
            <a:r>
              <a:rPr sz="2500" b="1">
                <a:solidFill>
                  <a:srgbClr val="C5422D"/>
                </a:solidFill>
                <a:latin typeface="Arial"/>
                <a:ea typeface="Arial"/>
                <a:cs typeface="Arial"/>
              </a:rPr>
              <a:t>Партнёр и сооснователь WAY</a:t>
            </a:r>
          </a:p>
        </p:txBody>
      </p:sp>
      <p:cxnSp>
        <p:nvCxnSpPr>
          <p:cNvPr id="5" name="Connector 4"/>
          <p:cNvCxnSpPr/>
          <p:nvPr/>
        </p:nvCxnSpPr>
        <p:spPr>
          <a:xfrm>
            <a:off x="4846320" y="3337560"/>
            <a:ext cx="649224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4846320" y="3657600"/>
            <a:ext cx="6400800" cy="457200"/>
          </a:xfrm>
          <a:prstGeom prst="rect">
            <a:avLst/>
          </a:prstGeom>
          <a:noFill/>
        </p:spPr>
        <p:txBody>
          <a:bodyPr wrap="square">
            <a:spAutoFit/>
          </a:bodyPr>
          <a:lstStyle/>
          <a:p>
            <a:pPr algn="l"/>
            <a:r>
              <a:rPr sz="2100" b="0">
                <a:solidFill>
                  <a:srgbClr val="20201E"/>
                </a:solidFill>
                <a:latin typeface="Arial"/>
                <a:ea typeface="Arial"/>
                <a:cs typeface="Arial"/>
              </a:rPr>
              <a:t>10 лет в высшем образовании</a:t>
            </a:r>
          </a:p>
        </p:txBody>
      </p:sp>
      <p:sp>
        <p:nvSpPr>
          <p:cNvPr id="7" name="TextBox 6"/>
          <p:cNvSpPr txBox="1"/>
          <p:nvPr/>
        </p:nvSpPr>
        <p:spPr>
          <a:xfrm>
            <a:off x="4846320" y="4142232"/>
            <a:ext cx="6400800" cy="457200"/>
          </a:xfrm>
          <a:prstGeom prst="rect">
            <a:avLst/>
          </a:prstGeom>
          <a:noFill/>
        </p:spPr>
        <p:txBody>
          <a:bodyPr wrap="square">
            <a:spAutoFit/>
          </a:bodyPr>
          <a:lstStyle/>
          <a:p>
            <a:pPr algn="l"/>
            <a:r>
              <a:rPr sz="2100" b="0">
                <a:solidFill>
                  <a:srgbClr val="20201E"/>
                </a:solidFill>
                <a:latin typeface="Arial"/>
                <a:ea typeface="Arial"/>
                <a:cs typeface="Arial"/>
              </a:rPr>
              <a:t>Авиация и ритейл</a:t>
            </a:r>
          </a:p>
        </p:txBody>
      </p:sp>
      <p:sp>
        <p:nvSpPr>
          <p:cNvPr id="8" name="TextBox 7"/>
          <p:cNvSpPr txBox="1"/>
          <p:nvPr/>
        </p:nvSpPr>
        <p:spPr>
          <a:xfrm>
            <a:off x="4846320" y="4626864"/>
            <a:ext cx="6400800" cy="457200"/>
          </a:xfrm>
          <a:prstGeom prst="rect">
            <a:avLst/>
          </a:prstGeom>
          <a:noFill/>
        </p:spPr>
        <p:txBody>
          <a:bodyPr wrap="square">
            <a:spAutoFit/>
          </a:bodyPr>
          <a:lstStyle/>
          <a:p>
            <a:pPr algn="l"/>
            <a:r>
              <a:rPr sz="2100" b="0">
                <a:solidFill>
                  <a:srgbClr val="20201E"/>
                </a:solidFill>
                <a:latin typeface="Arial"/>
                <a:ea typeface="Arial"/>
                <a:cs typeface="Arial"/>
              </a:rPr>
              <a:t>GenAI: Северсталь и Севергрупп</a:t>
            </a:r>
          </a:p>
        </p:txBody>
      </p:sp>
      <p:sp>
        <p:nvSpPr>
          <p:cNvPr id="9" name="TextBox 8"/>
          <p:cNvSpPr txBox="1"/>
          <p:nvPr/>
        </p:nvSpPr>
        <p:spPr>
          <a:xfrm>
            <a:off x="4846320" y="5111496"/>
            <a:ext cx="6400800" cy="457200"/>
          </a:xfrm>
          <a:prstGeom prst="rect">
            <a:avLst/>
          </a:prstGeom>
          <a:noFill/>
        </p:spPr>
        <p:txBody>
          <a:bodyPr wrap="square">
            <a:spAutoFit/>
          </a:bodyPr>
          <a:lstStyle/>
          <a:p>
            <a:pPr algn="l"/>
            <a:r>
              <a:rPr sz="2100" b="0">
                <a:solidFill>
                  <a:srgbClr val="20201E"/>
                </a:solidFill>
                <a:latin typeface="Arial"/>
                <a:ea typeface="Arial"/>
                <a:cs typeface="Arial"/>
              </a:rPr>
              <a:t>Преподавание в МФТИ и МГУ</a:t>
            </a:r>
          </a:p>
        </p:txBody>
      </p:sp>
      <p:sp>
        <p:nvSpPr>
          <p:cNvPr id="10" name="TextBox 9"/>
          <p:cNvSpPr txBox="1"/>
          <p:nvPr/>
        </p:nvSpPr>
        <p:spPr>
          <a:xfrm>
            <a:off x="777240" y="5897880"/>
            <a:ext cx="10515600" cy="457200"/>
          </a:xfrm>
          <a:prstGeom prst="rect">
            <a:avLst/>
          </a:prstGeom>
          <a:noFill/>
        </p:spPr>
        <p:txBody>
          <a:bodyPr wrap="square">
            <a:spAutoFit/>
          </a:bodyPr>
          <a:lstStyle/>
          <a:p>
            <a:pPr algn="l"/>
            <a:r>
              <a:rPr sz="2100" b="0">
                <a:solidFill>
                  <a:srgbClr val="66635D"/>
                </a:solidFill>
                <a:latin typeface="Arial"/>
                <a:ea typeface="Arial"/>
                <a:cs typeface="Arial"/>
              </a:rPr>
              <a:t>Рабочие задачи, обучение команд и внедрение ИИ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С какой задачей вы пришли?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a:t>
            </a:r>
          </a:p>
        </p:txBody>
      </p:sp>
      <p:sp>
        <p:nvSpPr>
          <p:cNvPr id="5" name="TextBox 4"/>
          <p:cNvSpPr txBox="1"/>
          <p:nvPr/>
        </p:nvSpPr>
        <p:spPr>
          <a:xfrm>
            <a:off x="731520" y="1874519"/>
            <a:ext cx="10607040" cy="1143000"/>
          </a:xfrm>
          <a:prstGeom prst="rect">
            <a:avLst/>
          </a:prstGeom>
          <a:noFill/>
        </p:spPr>
        <p:txBody>
          <a:bodyPr wrap="square">
            <a:spAutoFit/>
          </a:bodyPr>
          <a:lstStyle/>
          <a:p>
            <a:pPr algn="l"/>
            <a:r>
              <a:rPr sz="3500" b="0">
                <a:solidFill>
                  <a:srgbClr val="20201E"/>
                </a:solidFill>
                <a:latin typeface="Georgia"/>
                <a:ea typeface="Arial"/>
                <a:cs typeface="Arial"/>
              </a:rPr>
              <a:t>«Каждую неделю я трачу время на…»</a:t>
            </a:r>
          </a:p>
        </p:txBody>
      </p:sp>
      <p:sp>
        <p:nvSpPr>
          <p:cNvPr id="6" name="TextBox 5"/>
          <p:cNvSpPr txBox="1"/>
          <p:nvPr/>
        </p:nvSpPr>
        <p:spPr>
          <a:xfrm>
            <a:off x="777240" y="3657600"/>
            <a:ext cx="1371600" cy="914400"/>
          </a:xfrm>
          <a:prstGeom prst="rect">
            <a:avLst/>
          </a:prstGeom>
          <a:noFill/>
        </p:spPr>
        <p:txBody>
          <a:bodyPr wrap="square">
            <a:spAutoFit/>
          </a:bodyPr>
          <a:lstStyle/>
          <a:p>
            <a:pPr algn="l"/>
            <a:r>
              <a:rPr sz="5200" b="0">
                <a:solidFill>
                  <a:srgbClr val="C5422D"/>
                </a:solidFill>
                <a:latin typeface="Georgia"/>
                <a:ea typeface="Arial"/>
                <a:cs typeface="Arial"/>
              </a:rPr>
              <a:t>0</a:t>
            </a:r>
          </a:p>
        </p:txBody>
      </p:sp>
      <p:cxnSp>
        <p:nvCxnSpPr>
          <p:cNvPr id="7" name="Connector 6"/>
          <p:cNvCxnSpPr/>
          <p:nvPr/>
        </p:nvCxnSpPr>
        <p:spPr>
          <a:xfrm>
            <a:off x="777240" y="4709160"/>
            <a:ext cx="246888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77240" y="4983480"/>
            <a:ext cx="2560320" cy="822960"/>
          </a:xfrm>
          <a:prstGeom prst="rect">
            <a:avLst/>
          </a:prstGeom>
          <a:noFill/>
        </p:spPr>
        <p:txBody>
          <a:bodyPr wrap="square">
            <a:spAutoFit/>
          </a:bodyPr>
          <a:lstStyle/>
          <a:p>
            <a:pPr algn="l"/>
            <a:r>
              <a:rPr sz="2200" b="0">
                <a:solidFill>
                  <a:srgbClr val="20201E"/>
                </a:solidFill>
                <a:latin typeface="Arial"/>
                <a:ea typeface="Arial"/>
                <a:cs typeface="Arial"/>
              </a:rPr>
              <a:t>Ещё не пробовал</a:t>
            </a:r>
          </a:p>
        </p:txBody>
      </p:sp>
      <p:sp>
        <p:nvSpPr>
          <p:cNvPr id="9" name="TextBox 8"/>
          <p:cNvSpPr txBox="1"/>
          <p:nvPr/>
        </p:nvSpPr>
        <p:spPr>
          <a:xfrm>
            <a:off x="3630168" y="3657600"/>
            <a:ext cx="1371600" cy="914400"/>
          </a:xfrm>
          <a:prstGeom prst="rect">
            <a:avLst/>
          </a:prstGeom>
          <a:noFill/>
        </p:spPr>
        <p:txBody>
          <a:bodyPr wrap="square">
            <a:spAutoFit/>
          </a:bodyPr>
          <a:lstStyle/>
          <a:p>
            <a:pPr algn="l"/>
            <a:r>
              <a:rPr sz="5200" b="0">
                <a:solidFill>
                  <a:srgbClr val="C5422D"/>
                </a:solidFill>
                <a:latin typeface="Georgia"/>
                <a:ea typeface="Arial"/>
                <a:cs typeface="Arial"/>
              </a:rPr>
              <a:t>1</a:t>
            </a:r>
          </a:p>
        </p:txBody>
      </p:sp>
      <p:cxnSp>
        <p:nvCxnSpPr>
          <p:cNvPr id="10" name="Connector 9"/>
          <p:cNvCxnSpPr/>
          <p:nvPr/>
        </p:nvCxnSpPr>
        <p:spPr>
          <a:xfrm>
            <a:off x="3630168" y="4709160"/>
            <a:ext cx="246888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630168" y="4983480"/>
            <a:ext cx="2560320" cy="822960"/>
          </a:xfrm>
          <a:prstGeom prst="rect">
            <a:avLst/>
          </a:prstGeom>
          <a:noFill/>
        </p:spPr>
        <p:txBody>
          <a:bodyPr wrap="square">
            <a:spAutoFit/>
          </a:bodyPr>
          <a:lstStyle/>
          <a:p>
            <a:pPr algn="l"/>
            <a:r>
              <a:rPr sz="2200" b="0">
                <a:solidFill>
                  <a:srgbClr val="20201E"/>
                </a:solidFill>
                <a:latin typeface="Arial"/>
                <a:ea typeface="Arial"/>
                <a:cs typeface="Arial"/>
              </a:rPr>
              <a:t>Иногда спрашиваю</a:t>
            </a:r>
          </a:p>
        </p:txBody>
      </p:sp>
      <p:sp>
        <p:nvSpPr>
          <p:cNvPr id="12" name="TextBox 11"/>
          <p:cNvSpPr txBox="1"/>
          <p:nvPr/>
        </p:nvSpPr>
        <p:spPr>
          <a:xfrm>
            <a:off x="6483096" y="3657600"/>
            <a:ext cx="1371600" cy="914400"/>
          </a:xfrm>
          <a:prstGeom prst="rect">
            <a:avLst/>
          </a:prstGeom>
          <a:noFill/>
        </p:spPr>
        <p:txBody>
          <a:bodyPr wrap="square">
            <a:spAutoFit/>
          </a:bodyPr>
          <a:lstStyle/>
          <a:p>
            <a:pPr algn="l"/>
            <a:r>
              <a:rPr sz="5200" b="0">
                <a:solidFill>
                  <a:srgbClr val="C5422D"/>
                </a:solidFill>
                <a:latin typeface="Georgia"/>
                <a:ea typeface="Arial"/>
                <a:cs typeface="Arial"/>
              </a:rPr>
              <a:t>2</a:t>
            </a:r>
          </a:p>
        </p:txBody>
      </p:sp>
      <p:cxnSp>
        <p:nvCxnSpPr>
          <p:cNvPr id="13" name="Connector 12"/>
          <p:cNvCxnSpPr/>
          <p:nvPr/>
        </p:nvCxnSpPr>
        <p:spPr>
          <a:xfrm>
            <a:off x="6483096" y="4709160"/>
            <a:ext cx="246888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483096" y="4983480"/>
            <a:ext cx="2560320" cy="822960"/>
          </a:xfrm>
          <a:prstGeom prst="rect">
            <a:avLst/>
          </a:prstGeom>
          <a:noFill/>
        </p:spPr>
        <p:txBody>
          <a:bodyPr wrap="square">
            <a:spAutoFit/>
          </a:bodyPr>
          <a:lstStyle/>
          <a:p>
            <a:pPr algn="l"/>
            <a:r>
              <a:rPr sz="2200" b="0">
                <a:solidFill>
                  <a:srgbClr val="20201E"/>
                </a:solidFill>
                <a:latin typeface="Arial"/>
                <a:ea typeface="Arial"/>
                <a:cs typeface="Arial"/>
              </a:rPr>
              <a:t>Использую в работе</a:t>
            </a:r>
          </a:p>
        </p:txBody>
      </p:sp>
      <p:sp>
        <p:nvSpPr>
          <p:cNvPr id="15" name="TextBox 14"/>
          <p:cNvSpPr txBox="1"/>
          <p:nvPr/>
        </p:nvSpPr>
        <p:spPr>
          <a:xfrm>
            <a:off x="9336024" y="3657600"/>
            <a:ext cx="1371600" cy="914400"/>
          </a:xfrm>
          <a:prstGeom prst="rect">
            <a:avLst/>
          </a:prstGeom>
          <a:noFill/>
        </p:spPr>
        <p:txBody>
          <a:bodyPr wrap="square">
            <a:spAutoFit/>
          </a:bodyPr>
          <a:lstStyle/>
          <a:p>
            <a:pPr algn="l"/>
            <a:r>
              <a:rPr sz="5200" b="0">
                <a:solidFill>
                  <a:srgbClr val="C5422D"/>
                </a:solidFill>
                <a:latin typeface="Georgia"/>
                <a:ea typeface="Arial"/>
                <a:cs typeface="Arial"/>
              </a:rPr>
              <a:t>3</a:t>
            </a:r>
          </a:p>
        </p:txBody>
      </p:sp>
      <p:cxnSp>
        <p:nvCxnSpPr>
          <p:cNvPr id="16" name="Connector 15"/>
          <p:cNvCxnSpPr/>
          <p:nvPr/>
        </p:nvCxnSpPr>
        <p:spPr>
          <a:xfrm>
            <a:off x="9336024" y="4709160"/>
            <a:ext cx="246888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336024" y="4983480"/>
            <a:ext cx="2560320" cy="822960"/>
          </a:xfrm>
          <a:prstGeom prst="rect">
            <a:avLst/>
          </a:prstGeom>
          <a:noFill/>
        </p:spPr>
        <p:txBody>
          <a:bodyPr wrap="square">
            <a:spAutoFit/>
          </a:bodyPr>
          <a:lstStyle/>
          <a:p>
            <a:pPr algn="l"/>
            <a:r>
              <a:rPr sz="2200" b="0">
                <a:solidFill>
                  <a:srgbClr val="20201E"/>
                </a:solidFill>
                <a:latin typeface="Arial"/>
                <a:ea typeface="Arial"/>
                <a:cs typeface="Arial"/>
              </a:rPr>
              <a:t>Собираю процессы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Что должно измениться после курса?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a:t>
            </a:r>
          </a:p>
        </p:txBody>
      </p:sp>
      <p:sp>
        <p:nvSpPr>
          <p:cNvPr id="5" name="TextBox 4"/>
          <p:cNvSpPr txBox="1"/>
          <p:nvPr/>
        </p:nvSpPr>
        <p:spPr>
          <a:xfrm>
            <a:off x="731520" y="1828800"/>
            <a:ext cx="2560320" cy="640080"/>
          </a:xfrm>
          <a:prstGeom prst="rect">
            <a:avLst/>
          </a:prstGeom>
          <a:noFill/>
        </p:spPr>
        <p:txBody>
          <a:bodyPr wrap="square">
            <a:spAutoFit/>
          </a:bodyPr>
          <a:lstStyle/>
          <a:p>
            <a:pPr algn="l"/>
            <a:r>
              <a:rPr sz="2800" b="0">
                <a:solidFill>
                  <a:srgbClr val="C5422D"/>
                </a:solidFill>
                <a:latin typeface="Georgia"/>
                <a:ea typeface="Arial"/>
                <a:cs typeface="Arial"/>
              </a:rPr>
              <a:t>Время</a:t>
            </a:r>
          </a:p>
        </p:txBody>
      </p:sp>
      <p:sp>
        <p:nvSpPr>
          <p:cNvPr id="6" name="TextBox 5"/>
          <p:cNvSpPr txBox="1"/>
          <p:nvPr/>
        </p:nvSpPr>
        <p:spPr>
          <a:xfrm>
            <a:off x="3657600" y="1828800"/>
            <a:ext cx="7315200" cy="731520"/>
          </a:xfrm>
          <a:prstGeom prst="rect">
            <a:avLst/>
          </a:prstGeom>
          <a:noFill/>
        </p:spPr>
        <p:txBody>
          <a:bodyPr wrap="square">
            <a:spAutoFit/>
          </a:bodyPr>
          <a:lstStyle/>
          <a:p>
            <a:pPr algn="l"/>
            <a:r>
              <a:rPr sz="2800" b="0">
                <a:solidFill>
                  <a:srgbClr val="20201E"/>
                </a:solidFill>
                <a:latin typeface="Arial"/>
                <a:ea typeface="Arial"/>
                <a:cs typeface="Arial"/>
              </a:rPr>
              <a:t>Меньше рутины?</a:t>
            </a:r>
          </a:p>
        </p:txBody>
      </p:sp>
      <p:cxnSp>
        <p:nvCxnSpPr>
          <p:cNvPr id="7" name="Connector 6"/>
          <p:cNvCxnSpPr/>
          <p:nvPr/>
        </p:nvCxnSpPr>
        <p:spPr>
          <a:xfrm>
            <a:off x="731520" y="2697480"/>
            <a:ext cx="1051560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31520" y="2926080"/>
            <a:ext cx="2560320" cy="640080"/>
          </a:xfrm>
          <a:prstGeom prst="rect">
            <a:avLst/>
          </a:prstGeom>
          <a:noFill/>
        </p:spPr>
        <p:txBody>
          <a:bodyPr wrap="square">
            <a:spAutoFit/>
          </a:bodyPr>
          <a:lstStyle/>
          <a:p>
            <a:pPr algn="l"/>
            <a:r>
              <a:rPr sz="2800" b="0">
                <a:solidFill>
                  <a:srgbClr val="C5422D"/>
                </a:solidFill>
                <a:latin typeface="Georgia"/>
                <a:ea typeface="Arial"/>
                <a:cs typeface="Arial"/>
              </a:rPr>
              <a:t>Результат</a:t>
            </a:r>
          </a:p>
        </p:txBody>
      </p:sp>
      <p:sp>
        <p:nvSpPr>
          <p:cNvPr id="9" name="TextBox 8"/>
          <p:cNvSpPr txBox="1"/>
          <p:nvPr/>
        </p:nvSpPr>
        <p:spPr>
          <a:xfrm>
            <a:off x="3657600" y="2926080"/>
            <a:ext cx="7315200" cy="731520"/>
          </a:xfrm>
          <a:prstGeom prst="rect">
            <a:avLst/>
          </a:prstGeom>
          <a:noFill/>
        </p:spPr>
        <p:txBody>
          <a:bodyPr wrap="square">
            <a:spAutoFit/>
          </a:bodyPr>
          <a:lstStyle/>
          <a:p>
            <a:pPr algn="l"/>
            <a:r>
              <a:rPr sz="2800" b="0">
                <a:solidFill>
                  <a:srgbClr val="20201E"/>
                </a:solidFill>
                <a:latin typeface="Arial"/>
                <a:ea typeface="Arial"/>
                <a:cs typeface="Arial"/>
              </a:rPr>
              <a:t>Быстрее проверять гипотезы?</a:t>
            </a:r>
          </a:p>
        </p:txBody>
      </p:sp>
      <p:cxnSp>
        <p:nvCxnSpPr>
          <p:cNvPr id="10" name="Connector 9"/>
          <p:cNvCxnSpPr/>
          <p:nvPr/>
        </p:nvCxnSpPr>
        <p:spPr>
          <a:xfrm>
            <a:off x="731520" y="3794760"/>
            <a:ext cx="1051560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31520" y="4023360"/>
            <a:ext cx="2560320" cy="640080"/>
          </a:xfrm>
          <a:prstGeom prst="rect">
            <a:avLst/>
          </a:prstGeom>
          <a:noFill/>
        </p:spPr>
        <p:txBody>
          <a:bodyPr wrap="square">
            <a:spAutoFit/>
          </a:bodyPr>
          <a:lstStyle/>
          <a:p>
            <a:pPr algn="l"/>
            <a:r>
              <a:rPr sz="2800" b="0">
                <a:solidFill>
                  <a:srgbClr val="C5422D"/>
                </a:solidFill>
                <a:latin typeface="Georgia"/>
                <a:ea typeface="Arial"/>
                <a:cs typeface="Arial"/>
              </a:rPr>
              <a:t>Люди</a:t>
            </a:r>
          </a:p>
        </p:txBody>
      </p:sp>
      <p:sp>
        <p:nvSpPr>
          <p:cNvPr id="12" name="TextBox 11"/>
          <p:cNvSpPr txBox="1"/>
          <p:nvPr/>
        </p:nvSpPr>
        <p:spPr>
          <a:xfrm>
            <a:off x="3657600" y="4023360"/>
            <a:ext cx="7315200" cy="731520"/>
          </a:xfrm>
          <a:prstGeom prst="rect">
            <a:avLst/>
          </a:prstGeom>
          <a:noFill/>
        </p:spPr>
        <p:txBody>
          <a:bodyPr wrap="square">
            <a:spAutoFit/>
          </a:bodyPr>
          <a:lstStyle/>
          <a:p>
            <a:pPr algn="l"/>
            <a:r>
              <a:rPr sz="2800" b="0">
                <a:solidFill>
                  <a:srgbClr val="20201E"/>
                </a:solidFill>
                <a:latin typeface="Arial"/>
                <a:ea typeface="Arial"/>
                <a:cs typeface="Arial"/>
              </a:rPr>
              <a:t>Сохранить качество и отношения?</a:t>
            </a:r>
          </a:p>
        </p:txBody>
      </p:sp>
      <p:cxnSp>
        <p:nvCxnSpPr>
          <p:cNvPr id="13" name="Connector 12"/>
          <p:cNvCxnSpPr/>
          <p:nvPr/>
        </p:nvCxnSpPr>
        <p:spPr>
          <a:xfrm>
            <a:off x="731520" y="4892040"/>
            <a:ext cx="1051560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777240" y="5486400"/>
            <a:ext cx="10058400" cy="502920"/>
          </a:xfrm>
          <a:prstGeom prst="rect">
            <a:avLst/>
          </a:prstGeom>
          <a:noFill/>
        </p:spPr>
        <p:txBody>
          <a:bodyPr wrap="square">
            <a:spAutoFit/>
          </a:bodyPr>
          <a:lstStyle/>
          <a:p>
            <a:pPr algn="l"/>
            <a:r>
              <a:rPr sz="2800" b="0">
                <a:solidFill>
                  <a:srgbClr val="C5422D"/>
                </a:solidFill>
                <a:latin typeface="Georgia"/>
                <a:ea typeface="Arial"/>
                <a:cs typeface="Arial"/>
              </a:rPr>
              <a:t>А что тревожит?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О чём договоримся на старте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5</a:t>
            </a:r>
          </a:p>
        </p:txBody>
      </p:sp>
      <p:sp>
        <p:nvSpPr>
          <p:cNvPr id="5" name="Rectangle 4"/>
          <p:cNvSpPr/>
          <p:nvPr/>
        </p:nvSpPr>
        <p:spPr>
          <a:xfrm>
            <a:off x="640080" y="1737360"/>
            <a:ext cx="5257800" cy="4251960"/>
          </a:xfrm>
          <a:prstGeom prst="rect">
            <a:avLst/>
          </a:prstGeom>
          <a:solidFill>
            <a:srgbClr val="FFFFFF"/>
          </a:solidFill>
          <a:ln>
            <a:noFill/>
          </a:ln>
        </p:spPr>
        <p:txBody>
          <a:bodyPr rtlCol="0" anchor="ctr"/>
          <a:lstStyle/>
          <a:p>
            <a:pPr algn="ctr"/>
          </a:p>
        </p:txBody>
      </p:sp>
      <p:sp>
        <p:nvSpPr>
          <p:cNvPr id="6" name="Rectangle 5"/>
          <p:cNvSpPr/>
          <p:nvPr/>
        </p:nvSpPr>
        <p:spPr>
          <a:xfrm>
            <a:off x="6080760" y="1737360"/>
            <a:ext cx="5440680" cy="4251960"/>
          </a:xfrm>
          <a:prstGeom prst="rect">
            <a:avLst/>
          </a:prstGeom>
          <a:solidFill>
            <a:srgbClr val="20201E"/>
          </a:solidFill>
          <a:ln>
            <a:noFill/>
          </a:ln>
        </p:spPr>
        <p:txBody>
          <a:bodyPr rtlCol="0" anchor="ctr"/>
          <a:lstStyle/>
          <a:p>
            <a:pPr algn="ctr"/>
          </a:p>
        </p:txBody>
      </p:sp>
      <p:sp>
        <p:nvSpPr>
          <p:cNvPr id="7" name="TextBox 6"/>
          <p:cNvSpPr txBox="1"/>
          <p:nvPr/>
        </p:nvSpPr>
        <p:spPr>
          <a:xfrm>
            <a:off x="914400" y="2011680"/>
            <a:ext cx="4709160" cy="502920"/>
          </a:xfrm>
          <a:prstGeom prst="rect">
            <a:avLst/>
          </a:prstGeom>
          <a:noFill/>
        </p:spPr>
        <p:txBody>
          <a:bodyPr wrap="square">
            <a:spAutoFit/>
          </a:bodyPr>
          <a:lstStyle/>
          <a:p>
            <a:pPr algn="l"/>
            <a:r>
              <a:rPr sz="2900" b="1">
                <a:solidFill>
                  <a:srgbClr val="C5422D"/>
                </a:solidFill>
                <a:latin typeface="Arial"/>
                <a:ea typeface="Arial"/>
                <a:cs typeface="Arial"/>
              </a:rPr>
              <a:t>На курсе</a:t>
            </a:r>
          </a:p>
        </p:txBody>
      </p:sp>
      <p:sp>
        <p:nvSpPr>
          <p:cNvPr id="8" name="TextBox 7"/>
          <p:cNvSpPr txBox="1"/>
          <p:nvPr/>
        </p:nvSpPr>
        <p:spPr>
          <a:xfrm>
            <a:off x="914400" y="2743200"/>
            <a:ext cx="4663440" cy="2834640"/>
          </a:xfrm>
          <a:prstGeom prst="rect">
            <a:avLst/>
          </a:prstGeom>
          <a:noFill/>
        </p:spPr>
        <p:txBody>
          <a:bodyPr wrap="square">
            <a:spAutoFit/>
          </a:bodyPr>
          <a:lstStyle/>
          <a:p>
            <a:pPr algn="l"/>
            <a:r>
              <a:rPr sz="2500" b="0">
                <a:solidFill>
                  <a:srgbClr val="20201E"/>
                </a:solidFill>
                <a:latin typeface="Arial"/>
                <a:ea typeface="Arial"/>
                <a:cs typeface="Arial"/>
              </a:rPr>
              <a:t>Ландшафт и инструменты
Кейсы и методы компаний
Практика делегирования
Проверка и границы</a:t>
            </a:r>
          </a:p>
        </p:txBody>
      </p:sp>
      <p:sp>
        <p:nvSpPr>
          <p:cNvPr id="9" name="TextBox 8"/>
          <p:cNvSpPr txBox="1"/>
          <p:nvPr/>
        </p:nvSpPr>
        <p:spPr>
          <a:xfrm>
            <a:off x="6400800" y="2011680"/>
            <a:ext cx="4663440" cy="502920"/>
          </a:xfrm>
          <a:prstGeom prst="rect">
            <a:avLst/>
          </a:prstGeom>
          <a:noFill/>
        </p:spPr>
        <p:txBody>
          <a:bodyPr wrap="square">
            <a:spAutoFit/>
          </a:bodyPr>
          <a:lstStyle/>
          <a:p>
            <a:pPr algn="l"/>
            <a:r>
              <a:rPr sz="2900" b="1">
                <a:solidFill>
                  <a:srgbClr val="E8E3D8"/>
                </a:solidFill>
                <a:latin typeface="Arial"/>
                <a:ea typeface="Arial"/>
                <a:cs typeface="Arial"/>
              </a:rPr>
              <a:t>Сегодня за рамками</a:t>
            </a:r>
          </a:p>
        </p:txBody>
      </p:sp>
      <p:sp>
        <p:nvSpPr>
          <p:cNvPr id="10" name="TextBox 9"/>
          <p:cNvSpPr txBox="1"/>
          <p:nvPr/>
        </p:nvSpPr>
        <p:spPr>
          <a:xfrm>
            <a:off x="6400800" y="2743200"/>
            <a:ext cx="4663440" cy="2834640"/>
          </a:xfrm>
          <a:prstGeom prst="rect">
            <a:avLst/>
          </a:prstGeom>
          <a:noFill/>
        </p:spPr>
        <p:txBody>
          <a:bodyPr wrap="square">
            <a:spAutoFit/>
          </a:bodyPr>
          <a:lstStyle/>
          <a:p>
            <a:pPr algn="l"/>
            <a:r>
              <a:rPr sz="2500" b="0">
                <a:solidFill>
                  <a:srgbClr val="FFFFFF"/>
                </a:solidFill>
                <a:latin typeface="Arial"/>
                <a:ea typeface="Arial"/>
                <a:cs typeface="Arial"/>
              </a:rPr>
              <a:t>Развёртывание агентов
Собственная инфраструктура
Готовый бот для компании
Обещание заменить отдел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Десять встреч: от задачи к внедрению</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6</a:t>
            </a:r>
          </a:p>
        </p:txBody>
      </p:sp>
      <p:sp>
        <p:nvSpPr>
          <p:cNvPr id="5" name="TextBox 4"/>
          <p:cNvSpPr txBox="1"/>
          <p:nvPr/>
        </p:nvSpPr>
        <p:spPr>
          <a:xfrm>
            <a:off x="685800" y="1783080"/>
            <a:ext cx="1097280" cy="457200"/>
          </a:xfrm>
          <a:prstGeom prst="rect">
            <a:avLst/>
          </a:prstGeom>
          <a:noFill/>
        </p:spPr>
        <p:txBody>
          <a:bodyPr wrap="square">
            <a:spAutoFit/>
          </a:bodyPr>
          <a:lstStyle/>
          <a:p>
            <a:pPr algn="l"/>
            <a:r>
              <a:rPr sz="2100" b="1">
                <a:solidFill>
                  <a:srgbClr val="C5422D"/>
                </a:solidFill>
                <a:latin typeface="Arial"/>
                <a:ea typeface="Arial"/>
                <a:cs typeface="Arial"/>
              </a:rPr>
              <a:t>20.10</a:t>
            </a:r>
          </a:p>
        </p:txBody>
      </p:sp>
      <p:sp>
        <p:nvSpPr>
          <p:cNvPr id="6" name="TextBox 5"/>
          <p:cNvSpPr txBox="1"/>
          <p:nvPr/>
        </p:nvSpPr>
        <p:spPr>
          <a:xfrm>
            <a:off x="1874519" y="1783080"/>
            <a:ext cx="4297680" cy="530352"/>
          </a:xfrm>
          <a:prstGeom prst="rect">
            <a:avLst/>
          </a:prstGeom>
          <a:noFill/>
        </p:spPr>
        <p:txBody>
          <a:bodyPr wrap="square">
            <a:spAutoFit/>
          </a:bodyPr>
          <a:lstStyle/>
          <a:p>
            <a:pPr algn="l"/>
            <a:r>
              <a:rPr sz="2200" b="0">
                <a:solidFill>
                  <a:srgbClr val="20201E"/>
                </a:solidFill>
                <a:latin typeface="Arial"/>
                <a:ea typeface="Arial"/>
                <a:cs typeface="Arial"/>
              </a:rPr>
              <a:t>Задачи отдела и первая проба</a:t>
            </a:r>
          </a:p>
        </p:txBody>
      </p:sp>
      <p:cxnSp>
        <p:nvCxnSpPr>
          <p:cNvPr id="7" name="Connector 6"/>
          <p:cNvCxnSpPr/>
          <p:nvPr/>
        </p:nvCxnSpPr>
        <p:spPr>
          <a:xfrm>
            <a:off x="685800" y="2377440"/>
            <a:ext cx="53035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85800" y="2532888"/>
            <a:ext cx="1097280" cy="457200"/>
          </a:xfrm>
          <a:prstGeom prst="rect">
            <a:avLst/>
          </a:prstGeom>
          <a:noFill/>
        </p:spPr>
        <p:txBody>
          <a:bodyPr wrap="square">
            <a:spAutoFit/>
          </a:bodyPr>
          <a:lstStyle/>
          <a:p>
            <a:pPr algn="l"/>
            <a:r>
              <a:rPr sz="2100" b="1">
                <a:solidFill>
                  <a:srgbClr val="C5422D"/>
                </a:solidFill>
                <a:latin typeface="Arial"/>
                <a:ea typeface="Arial"/>
                <a:cs typeface="Arial"/>
              </a:rPr>
              <a:t>22.10</a:t>
            </a:r>
          </a:p>
        </p:txBody>
      </p:sp>
      <p:sp>
        <p:nvSpPr>
          <p:cNvPr id="9" name="TextBox 8"/>
          <p:cNvSpPr txBox="1"/>
          <p:nvPr/>
        </p:nvSpPr>
        <p:spPr>
          <a:xfrm>
            <a:off x="1874519" y="2532888"/>
            <a:ext cx="4297680" cy="530352"/>
          </a:xfrm>
          <a:prstGeom prst="rect">
            <a:avLst/>
          </a:prstGeom>
          <a:noFill/>
        </p:spPr>
        <p:txBody>
          <a:bodyPr wrap="square">
            <a:spAutoFit/>
          </a:bodyPr>
          <a:lstStyle/>
          <a:p>
            <a:pPr algn="l"/>
            <a:r>
              <a:rPr sz="2200" b="0">
                <a:solidFill>
                  <a:srgbClr val="20201E"/>
                </a:solidFill>
                <a:latin typeface="Arial"/>
                <a:ea typeface="Arial"/>
                <a:cs typeface="Arial"/>
              </a:rPr>
              <a:t>Команда и освоение ИИ</a:t>
            </a:r>
          </a:p>
        </p:txBody>
      </p:sp>
      <p:cxnSp>
        <p:nvCxnSpPr>
          <p:cNvPr id="10" name="Connector 9"/>
          <p:cNvCxnSpPr/>
          <p:nvPr/>
        </p:nvCxnSpPr>
        <p:spPr>
          <a:xfrm>
            <a:off x="685800" y="3127248"/>
            <a:ext cx="53035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85800" y="3282696"/>
            <a:ext cx="1097280" cy="457200"/>
          </a:xfrm>
          <a:prstGeom prst="rect">
            <a:avLst/>
          </a:prstGeom>
          <a:noFill/>
        </p:spPr>
        <p:txBody>
          <a:bodyPr wrap="square">
            <a:spAutoFit/>
          </a:bodyPr>
          <a:lstStyle/>
          <a:p>
            <a:pPr algn="l"/>
            <a:r>
              <a:rPr sz="2100" b="1">
                <a:solidFill>
                  <a:srgbClr val="C5422D"/>
                </a:solidFill>
                <a:latin typeface="Arial"/>
                <a:ea typeface="Arial"/>
                <a:cs typeface="Arial"/>
              </a:rPr>
              <a:t>27.10</a:t>
            </a:r>
          </a:p>
        </p:txBody>
      </p:sp>
      <p:sp>
        <p:nvSpPr>
          <p:cNvPr id="12" name="TextBox 11"/>
          <p:cNvSpPr txBox="1"/>
          <p:nvPr/>
        </p:nvSpPr>
        <p:spPr>
          <a:xfrm>
            <a:off x="1874519" y="3282696"/>
            <a:ext cx="4297680" cy="530352"/>
          </a:xfrm>
          <a:prstGeom prst="rect">
            <a:avLst/>
          </a:prstGeom>
          <a:noFill/>
        </p:spPr>
        <p:txBody>
          <a:bodyPr wrap="square">
            <a:spAutoFit/>
          </a:bodyPr>
          <a:lstStyle/>
          <a:p>
            <a:pPr algn="l"/>
            <a:r>
              <a:rPr sz="2200" b="0">
                <a:solidFill>
                  <a:srgbClr val="20201E"/>
                </a:solidFill>
                <a:latin typeface="Arial"/>
                <a:ea typeface="Arial"/>
                <a:cs typeface="Arial"/>
              </a:rPr>
              <a:t>Полезные запросы</a:t>
            </a:r>
          </a:p>
        </p:txBody>
      </p:sp>
      <p:cxnSp>
        <p:nvCxnSpPr>
          <p:cNvPr id="13" name="Connector 12"/>
          <p:cNvCxnSpPr/>
          <p:nvPr/>
        </p:nvCxnSpPr>
        <p:spPr>
          <a:xfrm>
            <a:off x="685800" y="3877056"/>
            <a:ext cx="53035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85800" y="4032504"/>
            <a:ext cx="1097280" cy="457200"/>
          </a:xfrm>
          <a:prstGeom prst="rect">
            <a:avLst/>
          </a:prstGeom>
          <a:noFill/>
        </p:spPr>
        <p:txBody>
          <a:bodyPr wrap="square">
            <a:spAutoFit/>
          </a:bodyPr>
          <a:lstStyle/>
          <a:p>
            <a:pPr algn="l"/>
            <a:r>
              <a:rPr sz="2100" b="1">
                <a:solidFill>
                  <a:srgbClr val="C5422D"/>
                </a:solidFill>
                <a:latin typeface="Arial"/>
                <a:ea typeface="Arial"/>
                <a:cs typeface="Arial"/>
              </a:rPr>
              <a:t>29.10</a:t>
            </a:r>
          </a:p>
        </p:txBody>
      </p:sp>
      <p:sp>
        <p:nvSpPr>
          <p:cNvPr id="15" name="TextBox 14"/>
          <p:cNvSpPr txBox="1"/>
          <p:nvPr/>
        </p:nvSpPr>
        <p:spPr>
          <a:xfrm>
            <a:off x="1874519" y="4032504"/>
            <a:ext cx="4297680" cy="530352"/>
          </a:xfrm>
          <a:prstGeom prst="rect">
            <a:avLst/>
          </a:prstGeom>
          <a:noFill/>
        </p:spPr>
        <p:txBody>
          <a:bodyPr wrap="square">
            <a:spAutoFit/>
          </a:bodyPr>
          <a:lstStyle/>
          <a:p>
            <a:pPr algn="l"/>
            <a:r>
              <a:rPr sz="2200" b="0">
                <a:solidFill>
                  <a:srgbClr val="20201E"/>
                </a:solidFill>
                <a:latin typeface="Arial"/>
                <a:ea typeface="Arial"/>
                <a:cs typeface="Arial"/>
              </a:rPr>
              <a:t>Сценарий в несколько шагов</a:t>
            </a:r>
          </a:p>
        </p:txBody>
      </p:sp>
      <p:cxnSp>
        <p:nvCxnSpPr>
          <p:cNvPr id="16" name="Connector 15"/>
          <p:cNvCxnSpPr/>
          <p:nvPr/>
        </p:nvCxnSpPr>
        <p:spPr>
          <a:xfrm>
            <a:off x="685800" y="4626864"/>
            <a:ext cx="53035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685800" y="4782312"/>
            <a:ext cx="1097280" cy="457200"/>
          </a:xfrm>
          <a:prstGeom prst="rect">
            <a:avLst/>
          </a:prstGeom>
          <a:noFill/>
        </p:spPr>
        <p:txBody>
          <a:bodyPr wrap="square">
            <a:spAutoFit/>
          </a:bodyPr>
          <a:lstStyle/>
          <a:p>
            <a:pPr algn="l"/>
            <a:r>
              <a:rPr sz="2100" b="1">
                <a:solidFill>
                  <a:srgbClr val="C5422D"/>
                </a:solidFill>
                <a:latin typeface="Arial"/>
                <a:ea typeface="Arial"/>
                <a:cs typeface="Arial"/>
              </a:rPr>
              <a:t>03.11</a:t>
            </a:r>
          </a:p>
        </p:txBody>
      </p:sp>
      <p:sp>
        <p:nvSpPr>
          <p:cNvPr id="18" name="TextBox 17"/>
          <p:cNvSpPr txBox="1"/>
          <p:nvPr/>
        </p:nvSpPr>
        <p:spPr>
          <a:xfrm>
            <a:off x="1874519" y="4782312"/>
            <a:ext cx="4297680" cy="530352"/>
          </a:xfrm>
          <a:prstGeom prst="rect">
            <a:avLst/>
          </a:prstGeom>
          <a:noFill/>
        </p:spPr>
        <p:txBody>
          <a:bodyPr wrap="square">
            <a:spAutoFit/>
          </a:bodyPr>
          <a:lstStyle/>
          <a:p>
            <a:pPr algn="l"/>
            <a:r>
              <a:rPr sz="2200" b="0">
                <a:solidFill>
                  <a:srgbClr val="20201E"/>
                </a:solidFill>
                <a:latin typeface="Arial"/>
                <a:ea typeface="Arial"/>
                <a:cs typeface="Arial"/>
              </a:rPr>
              <a:t>Выбор ИИ-проекта</a:t>
            </a:r>
          </a:p>
        </p:txBody>
      </p:sp>
      <p:cxnSp>
        <p:nvCxnSpPr>
          <p:cNvPr id="19" name="Connector 18"/>
          <p:cNvCxnSpPr/>
          <p:nvPr/>
        </p:nvCxnSpPr>
        <p:spPr>
          <a:xfrm>
            <a:off x="685800" y="5376672"/>
            <a:ext cx="53035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492240" y="1783080"/>
            <a:ext cx="1097280" cy="457200"/>
          </a:xfrm>
          <a:prstGeom prst="rect">
            <a:avLst/>
          </a:prstGeom>
          <a:noFill/>
        </p:spPr>
        <p:txBody>
          <a:bodyPr wrap="square">
            <a:spAutoFit/>
          </a:bodyPr>
          <a:lstStyle/>
          <a:p>
            <a:pPr algn="l"/>
            <a:r>
              <a:rPr sz="2100" b="1">
                <a:solidFill>
                  <a:srgbClr val="C5422D"/>
                </a:solidFill>
                <a:latin typeface="Arial"/>
                <a:ea typeface="Arial"/>
                <a:cs typeface="Arial"/>
              </a:rPr>
              <a:t>05.11</a:t>
            </a:r>
          </a:p>
        </p:txBody>
      </p:sp>
      <p:sp>
        <p:nvSpPr>
          <p:cNvPr id="21" name="TextBox 20"/>
          <p:cNvSpPr txBox="1"/>
          <p:nvPr/>
        </p:nvSpPr>
        <p:spPr>
          <a:xfrm>
            <a:off x="7680960" y="1783080"/>
            <a:ext cx="4297680" cy="530352"/>
          </a:xfrm>
          <a:prstGeom prst="rect">
            <a:avLst/>
          </a:prstGeom>
          <a:noFill/>
        </p:spPr>
        <p:txBody>
          <a:bodyPr wrap="square">
            <a:spAutoFit/>
          </a:bodyPr>
          <a:lstStyle/>
          <a:p>
            <a:pPr algn="l"/>
            <a:r>
              <a:rPr sz="2200" b="0">
                <a:solidFill>
                  <a:srgbClr val="20201E"/>
                </a:solidFill>
                <a:latin typeface="Arial"/>
                <a:ea typeface="Arial"/>
                <a:cs typeface="Arial"/>
              </a:rPr>
              <a:t>Роли и ответственность</a:t>
            </a:r>
          </a:p>
        </p:txBody>
      </p:sp>
      <p:cxnSp>
        <p:nvCxnSpPr>
          <p:cNvPr id="22" name="Connector 21"/>
          <p:cNvCxnSpPr/>
          <p:nvPr/>
        </p:nvCxnSpPr>
        <p:spPr>
          <a:xfrm>
            <a:off x="6492240" y="2377440"/>
            <a:ext cx="5303519"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492240" y="2532888"/>
            <a:ext cx="1097280" cy="457200"/>
          </a:xfrm>
          <a:prstGeom prst="rect">
            <a:avLst/>
          </a:prstGeom>
          <a:noFill/>
        </p:spPr>
        <p:txBody>
          <a:bodyPr wrap="square">
            <a:spAutoFit/>
          </a:bodyPr>
          <a:lstStyle/>
          <a:p>
            <a:pPr algn="l"/>
            <a:r>
              <a:rPr sz="2100" b="1">
                <a:solidFill>
                  <a:srgbClr val="C5422D"/>
                </a:solidFill>
                <a:latin typeface="Arial"/>
                <a:ea typeface="Arial"/>
                <a:cs typeface="Arial"/>
              </a:rPr>
              <a:t>10.11</a:t>
            </a:r>
          </a:p>
        </p:txBody>
      </p:sp>
      <p:sp>
        <p:nvSpPr>
          <p:cNvPr id="24" name="TextBox 23"/>
          <p:cNvSpPr txBox="1"/>
          <p:nvPr/>
        </p:nvSpPr>
        <p:spPr>
          <a:xfrm>
            <a:off x="7680960" y="2532888"/>
            <a:ext cx="4297680" cy="530352"/>
          </a:xfrm>
          <a:prstGeom prst="rect">
            <a:avLst/>
          </a:prstGeom>
          <a:noFill/>
        </p:spPr>
        <p:txBody>
          <a:bodyPr wrap="square">
            <a:spAutoFit/>
          </a:bodyPr>
          <a:lstStyle/>
          <a:p>
            <a:pPr algn="l"/>
            <a:r>
              <a:rPr sz="2200" b="0">
                <a:solidFill>
                  <a:srgbClr val="20201E"/>
                </a:solidFill>
                <a:latin typeface="Arial"/>
                <a:ea typeface="Arial"/>
                <a:cs typeface="Arial"/>
              </a:rPr>
              <a:t>Задание разработчикам</a:t>
            </a:r>
          </a:p>
        </p:txBody>
      </p:sp>
      <p:cxnSp>
        <p:nvCxnSpPr>
          <p:cNvPr id="25" name="Connector 24"/>
          <p:cNvCxnSpPr/>
          <p:nvPr/>
        </p:nvCxnSpPr>
        <p:spPr>
          <a:xfrm>
            <a:off x="6492240" y="3127248"/>
            <a:ext cx="5303519"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492240" y="3282696"/>
            <a:ext cx="1097280" cy="457200"/>
          </a:xfrm>
          <a:prstGeom prst="rect">
            <a:avLst/>
          </a:prstGeom>
          <a:noFill/>
        </p:spPr>
        <p:txBody>
          <a:bodyPr wrap="square">
            <a:spAutoFit/>
          </a:bodyPr>
          <a:lstStyle/>
          <a:p>
            <a:pPr algn="l"/>
            <a:r>
              <a:rPr sz="2100" b="1">
                <a:solidFill>
                  <a:srgbClr val="C5422D"/>
                </a:solidFill>
                <a:latin typeface="Arial"/>
                <a:ea typeface="Arial"/>
                <a:cs typeface="Arial"/>
              </a:rPr>
              <a:t>12.11</a:t>
            </a:r>
          </a:p>
        </p:txBody>
      </p:sp>
      <p:sp>
        <p:nvSpPr>
          <p:cNvPr id="27" name="TextBox 26"/>
          <p:cNvSpPr txBox="1"/>
          <p:nvPr/>
        </p:nvSpPr>
        <p:spPr>
          <a:xfrm>
            <a:off x="7680960" y="3282696"/>
            <a:ext cx="4297680" cy="530352"/>
          </a:xfrm>
          <a:prstGeom prst="rect">
            <a:avLst/>
          </a:prstGeom>
          <a:noFill/>
        </p:spPr>
        <p:txBody>
          <a:bodyPr wrap="square">
            <a:spAutoFit/>
          </a:bodyPr>
          <a:lstStyle/>
          <a:p>
            <a:pPr algn="l"/>
            <a:r>
              <a:rPr sz="2200" b="0">
                <a:solidFill>
                  <a:srgbClr val="20201E"/>
                </a:solidFill>
                <a:latin typeface="Arial"/>
                <a:ea typeface="Arial"/>
                <a:cs typeface="Arial"/>
              </a:rPr>
              <a:t>Данные и правила</a:t>
            </a:r>
          </a:p>
        </p:txBody>
      </p:sp>
      <p:cxnSp>
        <p:nvCxnSpPr>
          <p:cNvPr id="28" name="Connector 27"/>
          <p:cNvCxnSpPr/>
          <p:nvPr/>
        </p:nvCxnSpPr>
        <p:spPr>
          <a:xfrm>
            <a:off x="6492240" y="3877056"/>
            <a:ext cx="5303519"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492240" y="4032504"/>
            <a:ext cx="1097280" cy="457200"/>
          </a:xfrm>
          <a:prstGeom prst="rect">
            <a:avLst/>
          </a:prstGeom>
          <a:noFill/>
        </p:spPr>
        <p:txBody>
          <a:bodyPr wrap="square">
            <a:spAutoFit/>
          </a:bodyPr>
          <a:lstStyle/>
          <a:p>
            <a:pPr algn="l"/>
            <a:r>
              <a:rPr sz="2100" b="1">
                <a:solidFill>
                  <a:srgbClr val="C5422D"/>
                </a:solidFill>
                <a:latin typeface="Arial"/>
                <a:ea typeface="Arial"/>
                <a:cs typeface="Arial"/>
              </a:rPr>
              <a:t>17.11</a:t>
            </a:r>
          </a:p>
        </p:txBody>
      </p:sp>
      <p:sp>
        <p:nvSpPr>
          <p:cNvPr id="30" name="TextBox 29"/>
          <p:cNvSpPr txBox="1"/>
          <p:nvPr/>
        </p:nvSpPr>
        <p:spPr>
          <a:xfrm>
            <a:off x="7680960" y="4032504"/>
            <a:ext cx="4297680" cy="530352"/>
          </a:xfrm>
          <a:prstGeom prst="rect">
            <a:avLst/>
          </a:prstGeom>
          <a:noFill/>
        </p:spPr>
        <p:txBody>
          <a:bodyPr wrap="square">
            <a:spAutoFit/>
          </a:bodyPr>
          <a:lstStyle/>
          <a:p>
            <a:pPr algn="l"/>
            <a:r>
              <a:rPr sz="2200" b="0">
                <a:solidFill>
                  <a:srgbClr val="20201E"/>
                </a:solidFill>
                <a:latin typeface="Arial"/>
                <a:ea typeface="Arial"/>
                <a:cs typeface="Arial"/>
              </a:rPr>
              <a:t>Ассистент по документам</a:t>
            </a:r>
          </a:p>
        </p:txBody>
      </p:sp>
      <p:cxnSp>
        <p:nvCxnSpPr>
          <p:cNvPr id="31" name="Connector 30"/>
          <p:cNvCxnSpPr/>
          <p:nvPr/>
        </p:nvCxnSpPr>
        <p:spPr>
          <a:xfrm>
            <a:off x="6492240" y="4626864"/>
            <a:ext cx="5303519"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6492240" y="4782312"/>
            <a:ext cx="1097280" cy="457200"/>
          </a:xfrm>
          <a:prstGeom prst="rect">
            <a:avLst/>
          </a:prstGeom>
          <a:noFill/>
        </p:spPr>
        <p:txBody>
          <a:bodyPr wrap="square">
            <a:spAutoFit/>
          </a:bodyPr>
          <a:lstStyle/>
          <a:p>
            <a:pPr algn="l"/>
            <a:r>
              <a:rPr sz="2100" b="1">
                <a:solidFill>
                  <a:srgbClr val="C5422D"/>
                </a:solidFill>
                <a:latin typeface="Arial"/>
                <a:ea typeface="Arial"/>
                <a:cs typeface="Arial"/>
              </a:rPr>
              <a:t>19.11</a:t>
            </a:r>
          </a:p>
        </p:txBody>
      </p:sp>
      <p:sp>
        <p:nvSpPr>
          <p:cNvPr id="33" name="TextBox 32"/>
          <p:cNvSpPr txBox="1"/>
          <p:nvPr/>
        </p:nvSpPr>
        <p:spPr>
          <a:xfrm>
            <a:off x="7680960" y="4782312"/>
            <a:ext cx="4297680" cy="530352"/>
          </a:xfrm>
          <a:prstGeom prst="rect">
            <a:avLst/>
          </a:prstGeom>
          <a:noFill/>
        </p:spPr>
        <p:txBody>
          <a:bodyPr wrap="square">
            <a:spAutoFit/>
          </a:bodyPr>
          <a:lstStyle/>
          <a:p>
            <a:pPr algn="l"/>
            <a:r>
              <a:rPr sz="2200" b="0">
                <a:solidFill>
                  <a:srgbClr val="20201E"/>
                </a:solidFill>
                <a:latin typeface="Arial"/>
                <a:ea typeface="Arial"/>
                <a:cs typeface="Arial"/>
              </a:rPr>
              <a:t>План на 90 дней</a:t>
            </a:r>
          </a:p>
        </p:txBody>
      </p:sp>
      <p:cxnSp>
        <p:nvCxnSpPr>
          <p:cNvPr id="34" name="Connector 33"/>
          <p:cNvCxnSpPr/>
          <p:nvPr/>
        </p:nvCxnSpPr>
        <p:spPr>
          <a:xfrm>
            <a:off x="6492240" y="5376672"/>
            <a:ext cx="5303519"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Сегодня — 90 минут</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7</a:t>
            </a:r>
          </a:p>
        </p:txBody>
      </p:sp>
      <p:cxnSp>
        <p:nvCxnSpPr>
          <p:cNvPr id="5" name="Connector 4"/>
          <p:cNvCxnSpPr/>
          <p:nvPr/>
        </p:nvCxnSpPr>
        <p:spPr>
          <a:xfrm>
            <a:off x="640080" y="151790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645920"/>
            <a:ext cx="3776472" cy="484632"/>
          </a:xfrm>
          <a:prstGeom prst="rect">
            <a:avLst/>
          </a:prstGeom>
          <a:noFill/>
        </p:spPr>
        <p:txBody>
          <a:bodyPr wrap="square">
            <a:spAutoFit/>
          </a:bodyPr>
          <a:lstStyle/>
          <a:p>
            <a:pPr algn="l"/>
            <a:r>
              <a:rPr sz="2200" b="0">
                <a:solidFill>
                  <a:srgbClr val="20201E"/>
                </a:solidFill>
                <a:latin typeface="Georgia"/>
                <a:ea typeface="Arial"/>
                <a:cs typeface="Arial"/>
              </a:rPr>
              <a:t>00–10</a:t>
            </a:r>
          </a:p>
        </p:txBody>
      </p:sp>
      <p:sp>
        <p:nvSpPr>
          <p:cNvPr id="7" name="TextBox 6"/>
          <p:cNvSpPr txBox="1"/>
          <p:nvPr/>
        </p:nvSpPr>
        <p:spPr>
          <a:xfrm>
            <a:off x="4632350" y="1645920"/>
            <a:ext cx="6689750" cy="484632"/>
          </a:xfrm>
          <a:prstGeom prst="rect">
            <a:avLst/>
          </a:prstGeom>
          <a:noFill/>
        </p:spPr>
        <p:txBody>
          <a:bodyPr wrap="square">
            <a:spAutoFit/>
          </a:bodyPr>
          <a:lstStyle/>
          <a:p>
            <a:pPr algn="l"/>
            <a:r>
              <a:rPr sz="2000" b="0">
                <a:solidFill>
                  <a:srgbClr val="20201E"/>
                </a:solidFill>
                <a:latin typeface="Arial"/>
                <a:ea typeface="Arial"/>
                <a:cs typeface="Arial"/>
              </a:rPr>
              <a:t>Знакомство и маршрут курса</a:t>
            </a:r>
          </a:p>
        </p:txBody>
      </p:sp>
      <p:cxnSp>
        <p:nvCxnSpPr>
          <p:cNvPr id="8" name="Connector 7"/>
          <p:cNvCxnSpPr/>
          <p:nvPr/>
        </p:nvCxnSpPr>
        <p:spPr>
          <a:xfrm>
            <a:off x="640080" y="213969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267712"/>
            <a:ext cx="3776472" cy="484632"/>
          </a:xfrm>
          <a:prstGeom prst="rect">
            <a:avLst/>
          </a:prstGeom>
          <a:noFill/>
        </p:spPr>
        <p:txBody>
          <a:bodyPr wrap="square">
            <a:spAutoFit/>
          </a:bodyPr>
          <a:lstStyle/>
          <a:p>
            <a:pPr algn="l"/>
            <a:r>
              <a:rPr sz="2200" b="0">
                <a:solidFill>
                  <a:srgbClr val="20201E"/>
                </a:solidFill>
                <a:latin typeface="Georgia"/>
                <a:ea typeface="Arial"/>
                <a:cs typeface="Arial"/>
              </a:rPr>
              <a:t>10–25</a:t>
            </a:r>
          </a:p>
        </p:txBody>
      </p:sp>
      <p:sp>
        <p:nvSpPr>
          <p:cNvPr id="10" name="TextBox 9"/>
          <p:cNvSpPr txBox="1"/>
          <p:nvPr/>
        </p:nvSpPr>
        <p:spPr>
          <a:xfrm>
            <a:off x="4632350" y="2267712"/>
            <a:ext cx="6689750" cy="484632"/>
          </a:xfrm>
          <a:prstGeom prst="rect">
            <a:avLst/>
          </a:prstGeom>
          <a:noFill/>
        </p:spPr>
        <p:txBody>
          <a:bodyPr wrap="square">
            <a:spAutoFit/>
          </a:bodyPr>
          <a:lstStyle/>
          <a:p>
            <a:pPr algn="l"/>
            <a:r>
              <a:rPr sz="2000" b="0">
                <a:solidFill>
                  <a:srgbClr val="20201E"/>
                </a:solidFill>
                <a:latin typeface="Arial"/>
                <a:ea typeface="Arial"/>
                <a:cs typeface="Arial"/>
              </a:rPr>
              <a:t>HBR: лидерство, бизнес и делегирование</a:t>
            </a:r>
          </a:p>
        </p:txBody>
      </p:sp>
      <p:cxnSp>
        <p:nvCxnSpPr>
          <p:cNvPr id="11" name="Connector 10"/>
          <p:cNvCxnSpPr/>
          <p:nvPr/>
        </p:nvCxnSpPr>
        <p:spPr>
          <a:xfrm>
            <a:off x="640080" y="276148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2889504"/>
            <a:ext cx="3776472" cy="484632"/>
          </a:xfrm>
          <a:prstGeom prst="rect">
            <a:avLst/>
          </a:prstGeom>
          <a:noFill/>
        </p:spPr>
        <p:txBody>
          <a:bodyPr wrap="square">
            <a:spAutoFit/>
          </a:bodyPr>
          <a:lstStyle/>
          <a:p>
            <a:pPr algn="l"/>
            <a:r>
              <a:rPr sz="2200" b="0">
                <a:solidFill>
                  <a:srgbClr val="20201E"/>
                </a:solidFill>
                <a:latin typeface="Georgia"/>
                <a:ea typeface="Arial"/>
                <a:cs typeface="Arial"/>
              </a:rPr>
              <a:t>25–35</a:t>
            </a:r>
          </a:p>
        </p:txBody>
      </p:sp>
      <p:sp>
        <p:nvSpPr>
          <p:cNvPr id="13" name="TextBox 12"/>
          <p:cNvSpPr txBox="1"/>
          <p:nvPr/>
        </p:nvSpPr>
        <p:spPr>
          <a:xfrm>
            <a:off x="4632350" y="2889504"/>
            <a:ext cx="6689750" cy="484632"/>
          </a:xfrm>
          <a:prstGeom prst="rect">
            <a:avLst/>
          </a:prstGeom>
          <a:noFill/>
        </p:spPr>
        <p:txBody>
          <a:bodyPr wrap="square">
            <a:spAutoFit/>
          </a:bodyPr>
          <a:lstStyle/>
          <a:p>
            <a:pPr algn="l"/>
            <a:r>
              <a:rPr sz="2000" b="0">
                <a:solidFill>
                  <a:srgbClr val="20201E"/>
                </a:solidFill>
                <a:latin typeface="Arial"/>
                <a:ea typeface="Arial"/>
                <a:cs typeface="Arial"/>
              </a:rPr>
              <a:t>Ландшафт и возможности ИИ</a:t>
            </a:r>
          </a:p>
        </p:txBody>
      </p:sp>
      <p:cxnSp>
        <p:nvCxnSpPr>
          <p:cNvPr id="14" name="Connector 13"/>
          <p:cNvCxnSpPr/>
          <p:nvPr/>
        </p:nvCxnSpPr>
        <p:spPr>
          <a:xfrm>
            <a:off x="640080" y="3383279"/>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3511296"/>
            <a:ext cx="3776472" cy="484632"/>
          </a:xfrm>
          <a:prstGeom prst="rect">
            <a:avLst/>
          </a:prstGeom>
          <a:noFill/>
        </p:spPr>
        <p:txBody>
          <a:bodyPr wrap="square">
            <a:spAutoFit/>
          </a:bodyPr>
          <a:lstStyle/>
          <a:p>
            <a:pPr algn="l"/>
            <a:r>
              <a:rPr sz="2200" b="0">
                <a:solidFill>
                  <a:srgbClr val="20201E"/>
                </a:solidFill>
                <a:latin typeface="Georgia"/>
                <a:ea typeface="Arial"/>
                <a:cs typeface="Arial"/>
              </a:rPr>
              <a:t>35–60</a:t>
            </a:r>
          </a:p>
        </p:txBody>
      </p:sp>
      <p:sp>
        <p:nvSpPr>
          <p:cNvPr id="16" name="TextBox 15"/>
          <p:cNvSpPr txBox="1"/>
          <p:nvPr/>
        </p:nvSpPr>
        <p:spPr>
          <a:xfrm>
            <a:off x="4632350" y="3511296"/>
            <a:ext cx="6689750" cy="484632"/>
          </a:xfrm>
          <a:prstGeom prst="rect">
            <a:avLst/>
          </a:prstGeom>
          <a:noFill/>
        </p:spPr>
        <p:txBody>
          <a:bodyPr wrap="square">
            <a:spAutoFit/>
          </a:bodyPr>
          <a:lstStyle/>
          <a:p>
            <a:pPr algn="l"/>
            <a:r>
              <a:rPr sz="2000" b="0">
                <a:solidFill>
                  <a:srgbClr val="20201E"/>
                </a:solidFill>
                <a:latin typeface="Arial"/>
                <a:ea typeface="Arial"/>
                <a:cs typeface="Arial"/>
              </a:rPr>
              <a:t>Корпоративные кейсы и обсуждение</a:t>
            </a:r>
          </a:p>
        </p:txBody>
      </p:sp>
      <p:cxnSp>
        <p:nvCxnSpPr>
          <p:cNvPr id="17" name="Connector 16"/>
          <p:cNvCxnSpPr/>
          <p:nvPr/>
        </p:nvCxnSpPr>
        <p:spPr>
          <a:xfrm>
            <a:off x="640080" y="400507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4133088"/>
            <a:ext cx="3776472" cy="484632"/>
          </a:xfrm>
          <a:prstGeom prst="rect">
            <a:avLst/>
          </a:prstGeom>
          <a:noFill/>
        </p:spPr>
        <p:txBody>
          <a:bodyPr wrap="square">
            <a:spAutoFit/>
          </a:bodyPr>
          <a:lstStyle/>
          <a:p>
            <a:pPr algn="l"/>
            <a:r>
              <a:rPr sz="2200" b="0">
                <a:solidFill>
                  <a:srgbClr val="20201E"/>
                </a:solidFill>
                <a:latin typeface="Georgia"/>
                <a:ea typeface="Arial"/>
                <a:cs typeface="Arial"/>
              </a:rPr>
              <a:t>60–68</a:t>
            </a:r>
          </a:p>
        </p:txBody>
      </p:sp>
      <p:sp>
        <p:nvSpPr>
          <p:cNvPr id="19" name="TextBox 18"/>
          <p:cNvSpPr txBox="1"/>
          <p:nvPr/>
        </p:nvSpPr>
        <p:spPr>
          <a:xfrm>
            <a:off x="4632350" y="4133088"/>
            <a:ext cx="6689750" cy="484632"/>
          </a:xfrm>
          <a:prstGeom prst="rect">
            <a:avLst/>
          </a:prstGeom>
          <a:noFill/>
        </p:spPr>
        <p:txBody>
          <a:bodyPr wrap="square">
            <a:spAutoFit/>
          </a:bodyPr>
          <a:lstStyle/>
          <a:p>
            <a:pPr algn="l"/>
            <a:r>
              <a:rPr sz="2000" b="0">
                <a:solidFill>
                  <a:srgbClr val="20201E"/>
                </a:solidFill>
                <a:latin typeface="Arial"/>
                <a:ea typeface="Arial"/>
                <a:cs typeface="Arial"/>
              </a:rPr>
              <a:t>Люди, лидерство и нагрузка</a:t>
            </a:r>
          </a:p>
        </p:txBody>
      </p:sp>
      <p:cxnSp>
        <p:nvCxnSpPr>
          <p:cNvPr id="20" name="Connector 19"/>
          <p:cNvCxnSpPr/>
          <p:nvPr/>
        </p:nvCxnSpPr>
        <p:spPr>
          <a:xfrm>
            <a:off x="640080" y="46268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40080" y="4754880"/>
            <a:ext cx="3776472" cy="484632"/>
          </a:xfrm>
          <a:prstGeom prst="rect">
            <a:avLst/>
          </a:prstGeom>
          <a:noFill/>
        </p:spPr>
        <p:txBody>
          <a:bodyPr wrap="square">
            <a:spAutoFit/>
          </a:bodyPr>
          <a:lstStyle/>
          <a:p>
            <a:pPr algn="l"/>
            <a:r>
              <a:rPr sz="2200" b="0">
                <a:solidFill>
                  <a:srgbClr val="20201E"/>
                </a:solidFill>
                <a:latin typeface="Georgia"/>
                <a:ea typeface="Arial"/>
                <a:cs typeface="Arial"/>
              </a:rPr>
              <a:t>68–80</a:t>
            </a:r>
          </a:p>
        </p:txBody>
      </p:sp>
      <p:sp>
        <p:nvSpPr>
          <p:cNvPr id="22" name="TextBox 21"/>
          <p:cNvSpPr txBox="1"/>
          <p:nvPr/>
        </p:nvSpPr>
        <p:spPr>
          <a:xfrm>
            <a:off x="4632350" y="4754880"/>
            <a:ext cx="6689750" cy="484632"/>
          </a:xfrm>
          <a:prstGeom prst="rect">
            <a:avLst/>
          </a:prstGeom>
          <a:noFill/>
        </p:spPr>
        <p:txBody>
          <a:bodyPr wrap="square">
            <a:spAutoFit/>
          </a:bodyPr>
          <a:lstStyle/>
          <a:p>
            <a:pPr algn="l"/>
            <a:r>
              <a:rPr sz="2000" b="0">
                <a:solidFill>
                  <a:srgbClr val="20201E"/>
                </a:solidFill>
                <a:latin typeface="Arial"/>
                <a:ea typeface="Arial"/>
                <a:cs typeface="Arial"/>
              </a:rPr>
              <a:t>Запрос и первая проба</a:t>
            </a:r>
          </a:p>
        </p:txBody>
      </p:sp>
      <p:cxnSp>
        <p:nvCxnSpPr>
          <p:cNvPr id="23" name="Connector 22"/>
          <p:cNvCxnSpPr/>
          <p:nvPr/>
        </p:nvCxnSpPr>
        <p:spPr>
          <a:xfrm>
            <a:off x="640080" y="524865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640080" y="5376672"/>
            <a:ext cx="3776472" cy="484632"/>
          </a:xfrm>
          <a:prstGeom prst="rect">
            <a:avLst/>
          </a:prstGeom>
          <a:noFill/>
        </p:spPr>
        <p:txBody>
          <a:bodyPr wrap="square">
            <a:spAutoFit/>
          </a:bodyPr>
          <a:lstStyle/>
          <a:p>
            <a:pPr algn="l"/>
            <a:r>
              <a:rPr sz="2200" b="0">
                <a:solidFill>
                  <a:srgbClr val="20201E"/>
                </a:solidFill>
                <a:latin typeface="Georgia"/>
                <a:ea typeface="Arial"/>
                <a:cs typeface="Arial"/>
              </a:rPr>
              <a:t>80–90</a:t>
            </a:r>
          </a:p>
        </p:txBody>
      </p:sp>
      <p:sp>
        <p:nvSpPr>
          <p:cNvPr id="25" name="TextBox 24"/>
          <p:cNvSpPr txBox="1"/>
          <p:nvPr/>
        </p:nvSpPr>
        <p:spPr>
          <a:xfrm>
            <a:off x="4632350" y="5376672"/>
            <a:ext cx="6689750" cy="484632"/>
          </a:xfrm>
          <a:prstGeom prst="rect">
            <a:avLst/>
          </a:prstGeom>
          <a:noFill/>
        </p:spPr>
        <p:txBody>
          <a:bodyPr wrap="square">
            <a:spAutoFit/>
          </a:bodyPr>
          <a:lstStyle/>
          <a:p>
            <a:pPr algn="l"/>
            <a:r>
              <a:rPr sz="2000" b="0">
                <a:solidFill>
                  <a:srgbClr val="20201E"/>
                </a:solidFill>
                <a:latin typeface="Arial"/>
                <a:ea typeface="Arial"/>
                <a:cs typeface="Arial"/>
              </a:rPr>
              <a:t>Агенты, данные и следующий шаг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Какую компанию мы строим с ИИ?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D4CEC3"/>
                </a:solidFill>
                <a:latin typeface="Arial"/>
                <a:ea typeface="Arial"/>
                <a:cs typeface="Arial"/>
              </a:rPr>
              <a:t>HBR’s 10 Must Reads 2027 · Editors’ Note · PDF 9–13</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8</a:t>
            </a:r>
          </a:p>
        </p:txBody>
      </p:sp>
      <p:sp>
        <p:nvSpPr>
          <p:cNvPr id="5" name="TextBox 4"/>
          <p:cNvSpPr txBox="1"/>
          <p:nvPr/>
        </p:nvSpPr>
        <p:spPr>
          <a:xfrm>
            <a:off x="822960" y="1920240"/>
            <a:ext cx="10424160" cy="1554480"/>
          </a:xfrm>
          <a:prstGeom prst="rect">
            <a:avLst/>
          </a:prstGeom>
          <a:noFill/>
        </p:spPr>
        <p:txBody>
          <a:bodyPr wrap="square">
            <a:spAutoFit/>
          </a:bodyPr>
          <a:lstStyle/>
          <a:p>
            <a:pPr algn="l"/>
            <a:r>
              <a:rPr sz="3800" b="0">
                <a:solidFill>
                  <a:srgbClr val="FFFFFF"/>
                </a:solidFill>
                <a:latin typeface="Georgia"/>
                <a:ea typeface="Arial"/>
                <a:cs typeface="Arial"/>
              </a:rPr>
              <a:t>Как принимаются решения,
как работают люди,
откуда появляется ценность.</a:t>
            </a:r>
          </a:p>
        </p:txBody>
      </p:sp>
      <p:sp>
        <p:nvSpPr>
          <p:cNvPr id="6" name="TextBox 5"/>
          <p:cNvSpPr txBox="1"/>
          <p:nvPr/>
        </p:nvSpPr>
        <p:spPr>
          <a:xfrm>
            <a:off x="914400" y="4937760"/>
            <a:ext cx="9966960" cy="640080"/>
          </a:xfrm>
          <a:prstGeom prst="rect">
            <a:avLst/>
          </a:prstGeom>
          <a:noFill/>
        </p:spPr>
        <p:txBody>
          <a:bodyPr wrap="square">
            <a:spAutoFit/>
          </a:bodyPr>
          <a:lstStyle/>
          <a:p>
            <a:pPr algn="l"/>
            <a:r>
              <a:rPr sz="2500" b="0">
                <a:solidFill>
                  <a:srgbClr val="E8E3D8"/>
                </a:solidFill>
                <a:latin typeface="Arial"/>
                <a:ea typeface="Arial"/>
                <a:cs typeface="Arial"/>
              </a:rPr>
              <a:t>Сначала управленческая логика. Затем — инструменты.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HBR — источник для управленческого разбора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Harvard Business Publishing · HBR Press · PDF 5–13, 178–181</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9</a:t>
            </a:r>
          </a:p>
        </p:txBody>
      </p:sp>
      <p:pic>
        <p:nvPicPr>
          <p:cNvPr id="5" name="Picture 4" descr="197ffc2de89e7fb66b988cd534730977.png"/>
          <p:cNvPicPr>
            <a:picLocks noChangeAspect="1"/>
          </p:cNvPicPr>
          <p:nvPr/>
        </p:nvPicPr>
        <p:blipFill>
          <a:blip r:embed="rId3"/>
          <a:stretch>
            <a:fillRect/>
          </a:stretch>
        </p:blipFill>
        <p:spPr>
          <a:xfrm>
            <a:off x="777240" y="1554480"/>
            <a:ext cx="3200400" cy="4142232"/>
          </a:xfrm>
          <a:prstGeom prst="rect">
            <a:avLst/>
          </a:prstGeom>
        </p:spPr>
      </p:pic>
      <p:sp>
        <p:nvSpPr>
          <p:cNvPr id="6" name="TextBox 5"/>
          <p:cNvSpPr txBox="1"/>
          <p:nvPr/>
        </p:nvSpPr>
        <p:spPr>
          <a:xfrm>
            <a:off x="4526280" y="1691640"/>
            <a:ext cx="6675120" cy="1005840"/>
          </a:xfrm>
          <a:prstGeom prst="rect">
            <a:avLst/>
          </a:prstGeom>
          <a:noFill/>
        </p:spPr>
        <p:txBody>
          <a:bodyPr wrap="square">
            <a:spAutoFit/>
          </a:bodyPr>
          <a:lstStyle/>
          <a:p>
            <a:pPr algn="l"/>
            <a:r>
              <a:rPr sz="3200" b="0">
                <a:solidFill>
                  <a:srgbClr val="C5422D"/>
                </a:solidFill>
                <a:latin typeface="Georgia"/>
                <a:ea typeface="Arial"/>
                <a:cs typeface="Arial"/>
              </a:rPr>
              <a:t>HBR’s 10 Must Reads 2027</a:t>
            </a:r>
          </a:p>
        </p:txBody>
      </p:sp>
      <p:sp>
        <p:nvSpPr>
          <p:cNvPr id="7" name="TextBox 6"/>
          <p:cNvSpPr txBox="1"/>
          <p:nvPr/>
        </p:nvSpPr>
        <p:spPr>
          <a:xfrm>
            <a:off x="4572000" y="3017520"/>
            <a:ext cx="6400800" cy="1645920"/>
          </a:xfrm>
          <a:prstGeom prst="rect">
            <a:avLst/>
          </a:prstGeom>
          <a:noFill/>
        </p:spPr>
        <p:txBody>
          <a:bodyPr wrap="square">
            <a:spAutoFit/>
          </a:bodyPr>
          <a:lstStyle/>
          <a:p>
            <a:pPr algn="l"/>
            <a:r>
              <a:rPr sz="2500" b="0">
                <a:solidFill>
                  <a:srgbClr val="20201E"/>
                </a:solidFill>
                <a:latin typeface="Arial"/>
                <a:ea typeface="Arial"/>
                <a:cs typeface="Arial"/>
              </a:rPr>
              <a:t>10 основных статей
4 коротких дополнения
Лидерство, стратегия и устройство бизнеса</a:t>
            </a:r>
          </a:p>
        </p:txBody>
      </p:sp>
      <p:sp>
        <p:nvSpPr>
          <p:cNvPr id="8" name="TextBox 7"/>
          <p:cNvSpPr txBox="1"/>
          <p:nvPr/>
        </p:nvSpPr>
        <p:spPr>
          <a:xfrm>
            <a:off x="4572000" y="5212080"/>
            <a:ext cx="6400800" cy="685800"/>
          </a:xfrm>
          <a:prstGeom prst="rect">
            <a:avLst/>
          </a:prstGeom>
          <a:noFill/>
        </p:spPr>
        <p:txBody>
          <a:bodyPr wrap="square">
            <a:spAutoFit/>
          </a:bodyPr>
          <a:lstStyle/>
          <a:p>
            <a:pPr algn="l"/>
            <a:r>
              <a:rPr sz="2100" b="0">
                <a:solidFill>
                  <a:srgbClr val="66635D"/>
                </a:solidFill>
                <a:latin typeface="Arial"/>
                <a:ea typeface="Arial"/>
                <a:cs typeface="Arial"/>
              </a:rPr>
              <a:t>Смотрим на доводы, метод и границы вывода.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За текстами — исследователи и практики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About the Contributors · PDF 178–181 · официальные страницы Stanford / NYU</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10</a:t>
            </a:r>
          </a:p>
        </p:txBody>
      </p:sp>
      <p:cxnSp>
        <p:nvCxnSpPr>
          <p:cNvPr id="5" name="Connector 4"/>
          <p:cNvCxnSpPr/>
          <p:nvPr/>
        </p:nvCxnSpPr>
        <p:spPr>
          <a:xfrm>
            <a:off x="640080" y="17007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828800"/>
            <a:ext cx="3776472" cy="804672"/>
          </a:xfrm>
          <a:prstGeom prst="rect">
            <a:avLst/>
          </a:prstGeom>
          <a:noFill/>
        </p:spPr>
        <p:txBody>
          <a:bodyPr wrap="square">
            <a:spAutoFit/>
          </a:bodyPr>
          <a:lstStyle/>
          <a:p>
            <a:pPr algn="l"/>
            <a:r>
              <a:rPr sz="2400" b="0">
                <a:solidFill>
                  <a:srgbClr val="20201E"/>
                </a:solidFill>
                <a:latin typeface="Georgia"/>
                <a:ea typeface="Arial"/>
                <a:cs typeface="Arial"/>
              </a:rPr>
              <a:t>Stanford</a:t>
            </a:r>
          </a:p>
        </p:txBody>
      </p:sp>
      <p:sp>
        <p:nvSpPr>
          <p:cNvPr id="7" name="TextBox 6"/>
          <p:cNvSpPr txBox="1"/>
          <p:nvPr/>
        </p:nvSpPr>
        <p:spPr>
          <a:xfrm>
            <a:off x="4632350" y="1828800"/>
            <a:ext cx="6689750" cy="804672"/>
          </a:xfrm>
          <a:prstGeom prst="rect">
            <a:avLst/>
          </a:prstGeom>
          <a:noFill/>
        </p:spPr>
        <p:txBody>
          <a:bodyPr wrap="square">
            <a:spAutoFit/>
          </a:bodyPr>
          <a:lstStyle/>
          <a:p>
            <a:pPr algn="l"/>
            <a:r>
              <a:rPr sz="2200" b="0">
                <a:solidFill>
                  <a:srgbClr val="20201E"/>
                </a:solidFill>
                <a:latin typeface="Arial"/>
                <a:ea typeface="Arial"/>
                <a:cs typeface="Arial"/>
              </a:rPr>
              <a:t>Jamil Zaki · Jeffrey T. Hancock</a:t>
            </a:r>
          </a:p>
        </p:txBody>
      </p:sp>
      <p:cxnSp>
        <p:nvCxnSpPr>
          <p:cNvPr id="8" name="Connector 7"/>
          <p:cNvCxnSpPr/>
          <p:nvPr/>
        </p:nvCxnSpPr>
        <p:spPr>
          <a:xfrm>
            <a:off x="640080" y="264261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770632"/>
            <a:ext cx="3776472" cy="804672"/>
          </a:xfrm>
          <a:prstGeom prst="rect">
            <a:avLst/>
          </a:prstGeom>
          <a:noFill/>
        </p:spPr>
        <p:txBody>
          <a:bodyPr wrap="square">
            <a:spAutoFit/>
          </a:bodyPr>
          <a:lstStyle/>
          <a:p>
            <a:pPr algn="l"/>
            <a:r>
              <a:rPr sz="2400" b="0">
                <a:solidFill>
                  <a:srgbClr val="20201E"/>
                </a:solidFill>
                <a:latin typeface="Georgia"/>
                <a:ea typeface="Arial"/>
                <a:cs typeface="Arial"/>
              </a:rPr>
              <a:t>Harvard</a:t>
            </a:r>
          </a:p>
        </p:txBody>
      </p:sp>
      <p:sp>
        <p:nvSpPr>
          <p:cNvPr id="10" name="TextBox 9"/>
          <p:cNvSpPr txBox="1"/>
          <p:nvPr/>
        </p:nvSpPr>
        <p:spPr>
          <a:xfrm>
            <a:off x="4632350" y="2770632"/>
            <a:ext cx="6689750" cy="804672"/>
          </a:xfrm>
          <a:prstGeom prst="rect">
            <a:avLst/>
          </a:prstGeom>
          <a:noFill/>
        </p:spPr>
        <p:txBody>
          <a:bodyPr wrap="square">
            <a:spAutoFit/>
          </a:bodyPr>
          <a:lstStyle/>
          <a:p>
            <a:pPr algn="l"/>
            <a:r>
              <a:rPr sz="2200" b="0">
                <a:solidFill>
                  <a:srgbClr val="20201E"/>
                </a:solidFill>
                <a:latin typeface="Arial"/>
                <a:ea typeface="Arial"/>
                <a:cs typeface="Arial"/>
              </a:rPr>
              <a:t>Andy Wu · Amy Edmondson · Michaela Kerrissey</a:t>
            </a:r>
          </a:p>
        </p:txBody>
      </p:sp>
      <p:cxnSp>
        <p:nvCxnSpPr>
          <p:cNvPr id="11" name="Connector 10"/>
          <p:cNvCxnSpPr/>
          <p:nvPr/>
        </p:nvCxnSpPr>
        <p:spPr>
          <a:xfrm>
            <a:off x="640080" y="358444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712464"/>
            <a:ext cx="3776472" cy="804672"/>
          </a:xfrm>
          <a:prstGeom prst="rect">
            <a:avLst/>
          </a:prstGeom>
          <a:noFill/>
        </p:spPr>
        <p:txBody>
          <a:bodyPr wrap="square">
            <a:spAutoFit/>
          </a:bodyPr>
          <a:lstStyle/>
          <a:p>
            <a:pPr algn="l"/>
            <a:r>
              <a:rPr sz="2400" b="0">
                <a:solidFill>
                  <a:srgbClr val="20201E"/>
                </a:solidFill>
                <a:latin typeface="Georgia"/>
                <a:ea typeface="Arial"/>
                <a:cs typeface="Arial"/>
              </a:rPr>
              <a:t>NYU / Columbia</a:t>
            </a:r>
          </a:p>
        </p:txBody>
      </p:sp>
      <p:sp>
        <p:nvSpPr>
          <p:cNvPr id="13" name="TextBox 12"/>
          <p:cNvSpPr txBox="1"/>
          <p:nvPr/>
        </p:nvSpPr>
        <p:spPr>
          <a:xfrm>
            <a:off x="4632350" y="3712464"/>
            <a:ext cx="6689750" cy="804672"/>
          </a:xfrm>
          <a:prstGeom prst="rect">
            <a:avLst/>
          </a:prstGeom>
          <a:noFill/>
        </p:spPr>
        <p:txBody>
          <a:bodyPr wrap="square">
            <a:spAutoFit/>
          </a:bodyPr>
          <a:lstStyle/>
          <a:p>
            <a:pPr algn="l"/>
            <a:r>
              <a:rPr sz="2200" b="0">
                <a:solidFill>
                  <a:srgbClr val="20201E"/>
                </a:solidFill>
                <a:latin typeface="Arial"/>
                <a:ea typeface="Arial"/>
                <a:cs typeface="Arial"/>
              </a:rPr>
              <a:t>Bharat Anand · Peter Coleman</a:t>
            </a:r>
          </a:p>
        </p:txBody>
      </p:sp>
      <p:cxnSp>
        <p:nvCxnSpPr>
          <p:cNvPr id="14" name="Connector 13"/>
          <p:cNvCxnSpPr/>
          <p:nvPr/>
        </p:nvCxnSpPr>
        <p:spPr>
          <a:xfrm>
            <a:off x="640080" y="452628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654296"/>
            <a:ext cx="3776472" cy="804672"/>
          </a:xfrm>
          <a:prstGeom prst="rect">
            <a:avLst/>
          </a:prstGeom>
          <a:noFill/>
        </p:spPr>
        <p:txBody>
          <a:bodyPr wrap="square">
            <a:spAutoFit/>
          </a:bodyPr>
          <a:lstStyle/>
          <a:p>
            <a:pPr algn="l"/>
            <a:r>
              <a:rPr sz="2400" b="0">
                <a:solidFill>
                  <a:srgbClr val="20201E"/>
                </a:solidFill>
                <a:latin typeface="Georgia"/>
                <a:ea typeface="Arial"/>
                <a:cs typeface="Arial"/>
              </a:rPr>
              <a:t>Практики</a:t>
            </a:r>
          </a:p>
        </p:txBody>
      </p:sp>
      <p:sp>
        <p:nvSpPr>
          <p:cNvPr id="16" name="TextBox 15"/>
          <p:cNvSpPr txBox="1"/>
          <p:nvPr/>
        </p:nvSpPr>
        <p:spPr>
          <a:xfrm>
            <a:off x="4632350" y="4654296"/>
            <a:ext cx="6689750" cy="804672"/>
          </a:xfrm>
          <a:prstGeom prst="rect">
            <a:avLst/>
          </a:prstGeom>
          <a:noFill/>
        </p:spPr>
        <p:txBody>
          <a:bodyPr wrap="square">
            <a:spAutoFit/>
          </a:bodyPr>
          <a:lstStyle/>
          <a:p>
            <a:pPr algn="l"/>
            <a:r>
              <a:rPr sz="2200" b="0">
                <a:solidFill>
                  <a:srgbClr val="20201E"/>
                </a:solidFill>
                <a:latin typeface="Arial"/>
                <a:ea typeface="Arial"/>
                <a:cs typeface="Arial"/>
              </a:rPr>
              <a:t>Bain · McKinsey · Spencer Stuart · Domo</a:t>
            </a:r>
          </a:p>
        </p:txBody>
      </p:sp>
      <p:sp>
        <p:nvSpPr>
          <p:cNvPr id="17" name="TextBox 16"/>
          <p:cNvSpPr txBox="1"/>
          <p:nvPr/>
        </p:nvSpPr>
        <p:spPr>
          <a:xfrm>
            <a:off x="777240" y="5806440"/>
            <a:ext cx="10515600" cy="365760"/>
          </a:xfrm>
          <a:prstGeom prst="rect">
            <a:avLst/>
          </a:prstGeom>
          <a:noFill/>
        </p:spPr>
        <p:txBody>
          <a:bodyPr wrap="square">
            <a:spAutoFit/>
          </a:bodyPr>
          <a:lstStyle/>
          <a:p>
            <a:pPr algn="l"/>
            <a:r>
              <a:rPr sz="1800" b="0">
                <a:solidFill>
                  <a:srgbClr val="66635D"/>
                </a:solidFill>
                <a:latin typeface="Arial"/>
                <a:ea typeface="Arial"/>
                <a:cs typeface="Arial"/>
              </a:rPr>
              <a:t>Разные школы и основания выводов — обсуждаем каждую статью отдельно.</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Пять статей: как руководить людьми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HBR’s 10 Must Reads 2027 · статьи 1, 3, 4, 6, 9</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11</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722375"/>
          </a:xfrm>
          <a:prstGeom prst="rect">
            <a:avLst/>
          </a:prstGeom>
          <a:noFill/>
        </p:spPr>
        <p:txBody>
          <a:bodyPr wrap="square">
            <a:spAutoFit/>
          </a:bodyPr>
          <a:lstStyle/>
          <a:p>
            <a:pPr algn="l"/>
            <a:r>
              <a:rPr sz="2200" b="0">
                <a:solidFill>
                  <a:srgbClr val="20201E"/>
                </a:solidFill>
                <a:latin typeface="Georgia"/>
                <a:ea typeface="Arial"/>
                <a:cs typeface="Arial"/>
              </a:rPr>
              <a:t>1 · Coleman</a:t>
            </a:r>
          </a:p>
        </p:txBody>
      </p:sp>
      <p:sp>
        <p:nvSpPr>
          <p:cNvPr id="7" name="TextBox 6"/>
          <p:cNvSpPr txBox="1"/>
          <p:nvPr/>
        </p:nvSpPr>
        <p:spPr>
          <a:xfrm>
            <a:off x="4632350" y="1783080"/>
            <a:ext cx="6689750" cy="722375"/>
          </a:xfrm>
          <a:prstGeom prst="rect">
            <a:avLst/>
          </a:prstGeom>
          <a:noFill/>
        </p:spPr>
        <p:txBody>
          <a:bodyPr wrap="square">
            <a:spAutoFit/>
          </a:bodyPr>
          <a:lstStyle/>
          <a:p>
            <a:pPr algn="l"/>
            <a:r>
              <a:rPr sz="2000" b="0">
                <a:solidFill>
                  <a:srgbClr val="20201E"/>
                </a:solidFill>
                <a:latin typeface="Arial"/>
                <a:ea typeface="Arial"/>
                <a:cs typeface="Arial"/>
              </a:rPr>
              <a:t>Конфликт: понять условия и вести разговор</a:t>
            </a:r>
          </a:p>
        </p:txBody>
      </p:sp>
      <p:cxnSp>
        <p:nvCxnSpPr>
          <p:cNvPr id="8" name="Connector 7"/>
          <p:cNvCxnSpPr/>
          <p:nvPr/>
        </p:nvCxnSpPr>
        <p:spPr>
          <a:xfrm>
            <a:off x="640080" y="2514599"/>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42615"/>
            <a:ext cx="3776472" cy="722375"/>
          </a:xfrm>
          <a:prstGeom prst="rect">
            <a:avLst/>
          </a:prstGeom>
          <a:noFill/>
        </p:spPr>
        <p:txBody>
          <a:bodyPr wrap="square">
            <a:spAutoFit/>
          </a:bodyPr>
          <a:lstStyle/>
          <a:p>
            <a:pPr algn="l"/>
            <a:r>
              <a:rPr sz="2200" b="0">
                <a:solidFill>
                  <a:srgbClr val="20201E"/>
                </a:solidFill>
                <a:latin typeface="Georgia"/>
                <a:ea typeface="Arial"/>
                <a:cs typeface="Arial"/>
              </a:rPr>
              <a:t>3 · Edmondson / Kerrissey</a:t>
            </a:r>
          </a:p>
        </p:txBody>
      </p:sp>
      <p:sp>
        <p:nvSpPr>
          <p:cNvPr id="10" name="TextBox 9"/>
          <p:cNvSpPr txBox="1"/>
          <p:nvPr/>
        </p:nvSpPr>
        <p:spPr>
          <a:xfrm>
            <a:off x="4632350" y="2642615"/>
            <a:ext cx="6689750" cy="722375"/>
          </a:xfrm>
          <a:prstGeom prst="rect">
            <a:avLst/>
          </a:prstGeom>
          <a:noFill/>
        </p:spPr>
        <p:txBody>
          <a:bodyPr wrap="square">
            <a:spAutoFit/>
          </a:bodyPr>
          <a:lstStyle/>
          <a:p>
            <a:pPr algn="l"/>
            <a:r>
              <a:rPr sz="2000" b="0">
                <a:solidFill>
                  <a:srgbClr val="20201E"/>
                </a:solidFill>
                <a:latin typeface="Arial"/>
                <a:ea typeface="Arial"/>
                <a:cs typeface="Arial"/>
              </a:rPr>
              <a:t>Безопасность: открыто обсуждать ошибки</a:t>
            </a:r>
          </a:p>
        </p:txBody>
      </p:sp>
      <p:cxnSp>
        <p:nvCxnSpPr>
          <p:cNvPr id="11" name="Connector 10"/>
          <p:cNvCxnSpPr/>
          <p:nvPr/>
        </p:nvCxnSpPr>
        <p:spPr>
          <a:xfrm>
            <a:off x="640080" y="33741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502152"/>
            <a:ext cx="3776472" cy="722375"/>
          </a:xfrm>
          <a:prstGeom prst="rect">
            <a:avLst/>
          </a:prstGeom>
          <a:noFill/>
        </p:spPr>
        <p:txBody>
          <a:bodyPr wrap="square">
            <a:spAutoFit/>
          </a:bodyPr>
          <a:lstStyle/>
          <a:p>
            <a:pPr algn="l"/>
            <a:r>
              <a:rPr sz="2200" b="0">
                <a:solidFill>
                  <a:srgbClr val="20201E"/>
                </a:solidFill>
                <a:latin typeface="Georgia"/>
                <a:ea typeface="Arial"/>
                <a:cs typeface="Arial"/>
              </a:rPr>
              <a:t>4 · Zaki</a:t>
            </a:r>
          </a:p>
        </p:txBody>
      </p:sp>
      <p:sp>
        <p:nvSpPr>
          <p:cNvPr id="13" name="TextBox 12"/>
          <p:cNvSpPr txBox="1"/>
          <p:nvPr/>
        </p:nvSpPr>
        <p:spPr>
          <a:xfrm>
            <a:off x="4632350" y="3502152"/>
            <a:ext cx="6689750" cy="722375"/>
          </a:xfrm>
          <a:prstGeom prst="rect">
            <a:avLst/>
          </a:prstGeom>
          <a:noFill/>
        </p:spPr>
        <p:txBody>
          <a:bodyPr wrap="square">
            <a:spAutoFit/>
          </a:bodyPr>
          <a:lstStyle/>
          <a:p>
            <a:pPr algn="l"/>
            <a:r>
              <a:rPr sz="2000" b="0">
                <a:solidFill>
                  <a:srgbClr val="20201E"/>
                </a:solidFill>
                <a:latin typeface="Arial"/>
                <a:ea typeface="Arial"/>
                <a:cs typeface="Arial"/>
              </a:rPr>
              <a:t>Сильная команда: соединить разную экспертизу</a:t>
            </a:r>
          </a:p>
        </p:txBody>
      </p:sp>
      <p:cxnSp>
        <p:nvCxnSpPr>
          <p:cNvPr id="14" name="Connector 13"/>
          <p:cNvCxnSpPr/>
          <p:nvPr/>
        </p:nvCxnSpPr>
        <p:spPr>
          <a:xfrm>
            <a:off x="640080" y="423367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361688"/>
            <a:ext cx="3776472" cy="722375"/>
          </a:xfrm>
          <a:prstGeom prst="rect">
            <a:avLst/>
          </a:prstGeom>
          <a:noFill/>
        </p:spPr>
        <p:txBody>
          <a:bodyPr wrap="square">
            <a:spAutoFit/>
          </a:bodyPr>
          <a:lstStyle/>
          <a:p>
            <a:pPr algn="l"/>
            <a:r>
              <a:rPr sz="2200" b="0">
                <a:solidFill>
                  <a:srgbClr val="20201E"/>
                </a:solidFill>
                <a:latin typeface="Georgia"/>
                <a:ea typeface="Arial"/>
                <a:cs typeface="Arial"/>
              </a:rPr>
              <a:t>6 · Hildebrand и соавторы</a:t>
            </a:r>
          </a:p>
        </p:txBody>
      </p:sp>
      <p:sp>
        <p:nvSpPr>
          <p:cNvPr id="16" name="TextBox 15"/>
          <p:cNvSpPr txBox="1"/>
          <p:nvPr/>
        </p:nvSpPr>
        <p:spPr>
          <a:xfrm>
            <a:off x="4632350" y="4361688"/>
            <a:ext cx="6689750" cy="722375"/>
          </a:xfrm>
          <a:prstGeom prst="rect">
            <a:avLst/>
          </a:prstGeom>
          <a:noFill/>
        </p:spPr>
        <p:txBody>
          <a:bodyPr wrap="square">
            <a:spAutoFit/>
          </a:bodyPr>
          <a:lstStyle/>
          <a:p>
            <a:pPr algn="l"/>
            <a:r>
              <a:rPr sz="2000" b="0">
                <a:solidFill>
                  <a:srgbClr val="20201E"/>
                </a:solidFill>
                <a:latin typeface="Arial"/>
                <a:ea typeface="Arial"/>
                <a:cs typeface="Arial"/>
              </a:rPr>
              <a:t>CEO: оценивать адаптивность, а не только стаж</a:t>
            </a:r>
          </a:p>
        </p:txBody>
      </p:sp>
      <p:cxnSp>
        <p:nvCxnSpPr>
          <p:cNvPr id="17" name="Connector 16"/>
          <p:cNvCxnSpPr/>
          <p:nvPr/>
        </p:nvCxnSpPr>
        <p:spPr>
          <a:xfrm>
            <a:off x="640080" y="509320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5221224"/>
            <a:ext cx="3776472" cy="722375"/>
          </a:xfrm>
          <a:prstGeom prst="rect">
            <a:avLst/>
          </a:prstGeom>
          <a:noFill/>
        </p:spPr>
        <p:txBody>
          <a:bodyPr wrap="square">
            <a:spAutoFit/>
          </a:bodyPr>
          <a:lstStyle/>
          <a:p>
            <a:pPr algn="l"/>
            <a:r>
              <a:rPr sz="2200" b="0">
                <a:solidFill>
                  <a:srgbClr val="20201E"/>
                </a:solidFill>
                <a:latin typeface="Georgia"/>
                <a:ea typeface="Arial"/>
                <a:cs typeface="Arial"/>
              </a:rPr>
              <a:t>9 · Wilkins</a:t>
            </a:r>
          </a:p>
        </p:txBody>
      </p:sp>
      <p:sp>
        <p:nvSpPr>
          <p:cNvPr id="19" name="TextBox 18"/>
          <p:cNvSpPr txBox="1"/>
          <p:nvPr/>
        </p:nvSpPr>
        <p:spPr>
          <a:xfrm>
            <a:off x="4632350" y="5221224"/>
            <a:ext cx="6689750" cy="722375"/>
          </a:xfrm>
          <a:prstGeom prst="rect">
            <a:avLst/>
          </a:prstGeom>
          <a:noFill/>
        </p:spPr>
        <p:txBody>
          <a:bodyPr wrap="square">
            <a:spAutoFit/>
          </a:bodyPr>
          <a:lstStyle/>
          <a:p>
            <a:pPr algn="l"/>
            <a:r>
              <a:rPr sz="2000" b="0">
                <a:solidFill>
                  <a:srgbClr val="20201E"/>
                </a:solidFill>
                <a:latin typeface="Arial"/>
                <a:ea typeface="Arial"/>
                <a:cs typeface="Arial"/>
              </a:rPr>
              <a:t>Убеждения: заметить избыточный контроль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Пять статей: как устроить бизнес</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HBR’s 10 Must Reads 2027 · статьи 2, 5, 7, 8, 10</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12</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722375"/>
          </a:xfrm>
          <a:prstGeom prst="rect">
            <a:avLst/>
          </a:prstGeom>
          <a:noFill/>
        </p:spPr>
        <p:txBody>
          <a:bodyPr wrap="square">
            <a:spAutoFit/>
          </a:bodyPr>
          <a:lstStyle/>
          <a:p>
            <a:pPr algn="l"/>
            <a:r>
              <a:rPr sz="2200" b="0">
                <a:solidFill>
                  <a:srgbClr val="20201E"/>
                </a:solidFill>
                <a:latin typeface="Georgia"/>
                <a:ea typeface="Arial"/>
                <a:cs typeface="Arial"/>
              </a:rPr>
              <a:t>2 · Anand / Wu</a:t>
            </a:r>
          </a:p>
        </p:txBody>
      </p:sp>
      <p:sp>
        <p:nvSpPr>
          <p:cNvPr id="7" name="TextBox 6"/>
          <p:cNvSpPr txBox="1"/>
          <p:nvPr/>
        </p:nvSpPr>
        <p:spPr>
          <a:xfrm>
            <a:off x="4632350" y="1783080"/>
            <a:ext cx="6689750" cy="722375"/>
          </a:xfrm>
          <a:prstGeom prst="rect">
            <a:avLst/>
          </a:prstGeom>
          <a:noFill/>
        </p:spPr>
        <p:txBody>
          <a:bodyPr wrap="square">
            <a:spAutoFit/>
          </a:bodyPr>
          <a:lstStyle/>
          <a:p>
            <a:pPr algn="l"/>
            <a:r>
              <a:rPr sz="2000" b="0">
                <a:solidFill>
                  <a:srgbClr val="20201E"/>
                </a:solidFill>
                <a:latin typeface="Arial"/>
                <a:ea typeface="Arial"/>
                <a:cs typeface="Arial"/>
              </a:rPr>
              <a:t>ИИ: выбрать задачи и источник преимущества</a:t>
            </a:r>
          </a:p>
        </p:txBody>
      </p:sp>
      <p:cxnSp>
        <p:nvCxnSpPr>
          <p:cNvPr id="8" name="Connector 7"/>
          <p:cNvCxnSpPr/>
          <p:nvPr/>
        </p:nvCxnSpPr>
        <p:spPr>
          <a:xfrm>
            <a:off x="640080" y="2514599"/>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42615"/>
            <a:ext cx="3776472" cy="722375"/>
          </a:xfrm>
          <a:prstGeom prst="rect">
            <a:avLst/>
          </a:prstGeom>
          <a:noFill/>
        </p:spPr>
        <p:txBody>
          <a:bodyPr wrap="square">
            <a:spAutoFit/>
          </a:bodyPr>
          <a:lstStyle/>
          <a:p>
            <a:pPr algn="l"/>
            <a:r>
              <a:rPr sz="2200" b="0">
                <a:solidFill>
                  <a:srgbClr val="20201E"/>
                </a:solidFill>
                <a:latin typeface="Georgia"/>
                <a:ea typeface="Arial"/>
                <a:cs typeface="Arial"/>
              </a:rPr>
              <a:t>5 · Srinivasan и соавторы</a:t>
            </a:r>
          </a:p>
        </p:txBody>
      </p:sp>
      <p:sp>
        <p:nvSpPr>
          <p:cNvPr id="10" name="TextBox 9"/>
          <p:cNvSpPr txBox="1"/>
          <p:nvPr/>
        </p:nvSpPr>
        <p:spPr>
          <a:xfrm>
            <a:off x="4632350" y="2642615"/>
            <a:ext cx="6689750" cy="722375"/>
          </a:xfrm>
          <a:prstGeom prst="rect">
            <a:avLst/>
          </a:prstGeom>
          <a:noFill/>
        </p:spPr>
        <p:txBody>
          <a:bodyPr wrap="square">
            <a:spAutoFit/>
          </a:bodyPr>
          <a:lstStyle/>
          <a:p>
            <a:pPr algn="l"/>
            <a:r>
              <a:rPr sz="2000" b="0">
                <a:solidFill>
                  <a:srgbClr val="20201E"/>
                </a:solidFill>
                <a:latin typeface="Arial"/>
                <a:ea typeface="Arial"/>
                <a:cs typeface="Arial"/>
              </a:rPr>
              <a:t>Данные: найти клиента и полезное предложение</a:t>
            </a:r>
          </a:p>
        </p:txBody>
      </p:sp>
      <p:cxnSp>
        <p:nvCxnSpPr>
          <p:cNvPr id="11" name="Connector 10"/>
          <p:cNvCxnSpPr/>
          <p:nvPr/>
        </p:nvCxnSpPr>
        <p:spPr>
          <a:xfrm>
            <a:off x="640080" y="33741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502152"/>
            <a:ext cx="3776472" cy="722375"/>
          </a:xfrm>
          <a:prstGeom prst="rect">
            <a:avLst/>
          </a:prstGeom>
          <a:noFill/>
        </p:spPr>
        <p:txBody>
          <a:bodyPr wrap="square">
            <a:spAutoFit/>
          </a:bodyPr>
          <a:lstStyle/>
          <a:p>
            <a:pPr algn="l"/>
            <a:r>
              <a:rPr sz="2200" b="0">
                <a:solidFill>
                  <a:srgbClr val="20201E"/>
                </a:solidFill>
                <a:latin typeface="Georgia"/>
                <a:ea typeface="Arial"/>
                <a:cs typeface="Arial"/>
              </a:rPr>
              <a:t>7 · Salvado / Vermeulen</a:t>
            </a:r>
          </a:p>
        </p:txBody>
      </p:sp>
      <p:sp>
        <p:nvSpPr>
          <p:cNvPr id="13" name="TextBox 12"/>
          <p:cNvSpPr txBox="1"/>
          <p:nvPr/>
        </p:nvSpPr>
        <p:spPr>
          <a:xfrm>
            <a:off x="4632350" y="3502152"/>
            <a:ext cx="6689750" cy="722375"/>
          </a:xfrm>
          <a:prstGeom prst="rect">
            <a:avLst/>
          </a:prstGeom>
          <a:noFill/>
        </p:spPr>
        <p:txBody>
          <a:bodyPr wrap="square">
            <a:spAutoFit/>
          </a:bodyPr>
          <a:lstStyle/>
          <a:p>
            <a:pPr algn="l"/>
            <a:r>
              <a:rPr sz="2000" b="0">
                <a:solidFill>
                  <a:srgbClr val="20201E"/>
                </a:solidFill>
                <a:latin typeface="Arial"/>
                <a:ea typeface="Arial"/>
                <a:cs typeface="Arial"/>
              </a:rPr>
              <a:t>Стратегия: показать логику решений</a:t>
            </a:r>
          </a:p>
        </p:txBody>
      </p:sp>
      <p:cxnSp>
        <p:nvCxnSpPr>
          <p:cNvPr id="14" name="Connector 13"/>
          <p:cNvCxnSpPr/>
          <p:nvPr/>
        </p:nvCxnSpPr>
        <p:spPr>
          <a:xfrm>
            <a:off x="640080" y="423367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361688"/>
            <a:ext cx="3776472" cy="722375"/>
          </a:xfrm>
          <a:prstGeom prst="rect">
            <a:avLst/>
          </a:prstGeom>
          <a:noFill/>
        </p:spPr>
        <p:txBody>
          <a:bodyPr wrap="square">
            <a:spAutoFit/>
          </a:bodyPr>
          <a:lstStyle/>
          <a:p>
            <a:pPr algn="l"/>
            <a:r>
              <a:rPr sz="2200" b="0">
                <a:solidFill>
                  <a:srgbClr val="20201E"/>
                </a:solidFill>
                <a:latin typeface="Georgia"/>
                <a:ea typeface="Arial"/>
                <a:cs typeface="Arial"/>
              </a:rPr>
              <a:t>8 · Capozzi и соавторы</a:t>
            </a:r>
          </a:p>
        </p:txBody>
      </p:sp>
      <p:sp>
        <p:nvSpPr>
          <p:cNvPr id="16" name="TextBox 15"/>
          <p:cNvSpPr txBox="1"/>
          <p:nvPr/>
        </p:nvSpPr>
        <p:spPr>
          <a:xfrm>
            <a:off x="4632350" y="4361688"/>
            <a:ext cx="6689750" cy="722375"/>
          </a:xfrm>
          <a:prstGeom prst="rect">
            <a:avLst/>
          </a:prstGeom>
          <a:noFill/>
        </p:spPr>
        <p:txBody>
          <a:bodyPr wrap="square">
            <a:spAutoFit/>
          </a:bodyPr>
          <a:lstStyle/>
          <a:p>
            <a:pPr algn="l"/>
            <a:r>
              <a:rPr sz="2000" b="0">
                <a:solidFill>
                  <a:srgbClr val="20201E"/>
                </a:solidFill>
                <a:latin typeface="Arial"/>
                <a:ea typeface="Arial"/>
                <a:cs typeface="Arial"/>
              </a:rPr>
              <a:t>Экономика: полные затраты, исполнение, время</a:t>
            </a:r>
          </a:p>
        </p:txBody>
      </p:sp>
      <p:cxnSp>
        <p:nvCxnSpPr>
          <p:cNvPr id="17" name="Connector 16"/>
          <p:cNvCxnSpPr/>
          <p:nvPr/>
        </p:nvCxnSpPr>
        <p:spPr>
          <a:xfrm>
            <a:off x="640080" y="509320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5221224"/>
            <a:ext cx="3776472" cy="722375"/>
          </a:xfrm>
          <a:prstGeom prst="rect">
            <a:avLst/>
          </a:prstGeom>
          <a:noFill/>
        </p:spPr>
        <p:txBody>
          <a:bodyPr wrap="square">
            <a:spAutoFit/>
          </a:bodyPr>
          <a:lstStyle/>
          <a:p>
            <a:pPr algn="l"/>
            <a:r>
              <a:rPr sz="2200" b="0">
                <a:solidFill>
                  <a:srgbClr val="20201E"/>
                </a:solidFill>
                <a:latin typeface="Georgia"/>
                <a:ea typeface="Arial"/>
                <a:cs typeface="Arial"/>
              </a:rPr>
              <a:t>10 · Rigby / First</a:t>
            </a:r>
          </a:p>
        </p:txBody>
      </p:sp>
      <p:sp>
        <p:nvSpPr>
          <p:cNvPr id="19" name="TextBox 18"/>
          <p:cNvSpPr txBox="1"/>
          <p:nvPr/>
        </p:nvSpPr>
        <p:spPr>
          <a:xfrm>
            <a:off x="4632350" y="5221224"/>
            <a:ext cx="6689750" cy="722375"/>
          </a:xfrm>
          <a:prstGeom prst="rect">
            <a:avLst/>
          </a:prstGeom>
          <a:noFill/>
        </p:spPr>
        <p:txBody>
          <a:bodyPr wrap="square">
            <a:spAutoFit/>
          </a:bodyPr>
          <a:lstStyle/>
          <a:p>
            <a:pPr algn="l"/>
            <a:r>
              <a:rPr sz="2000" b="0">
                <a:solidFill>
                  <a:srgbClr val="20201E"/>
                </a:solidFill>
                <a:latin typeface="Arial"/>
                <a:ea typeface="Arial"/>
                <a:cs typeface="Arial"/>
              </a:rPr>
              <a:t>Обновление: укреплять связанную систему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Anand и Wu: стратегия важнее доступа к модели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Bharat N. Anand / Andy Wu · The Gen AI Playbook · PDF 28–44</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13</a:t>
            </a:r>
          </a:p>
        </p:txBody>
      </p:sp>
      <p:sp>
        <p:nvSpPr>
          <p:cNvPr id="5" name="TextBox 4"/>
          <p:cNvSpPr txBox="1"/>
          <p:nvPr/>
        </p:nvSpPr>
        <p:spPr>
          <a:xfrm>
            <a:off x="640080" y="1874519"/>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33172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496312"/>
            <a:ext cx="2409444" cy="1261872"/>
          </a:xfrm>
          <a:prstGeom prst="rect">
            <a:avLst/>
          </a:prstGeom>
          <a:noFill/>
        </p:spPr>
        <p:txBody>
          <a:bodyPr wrap="square">
            <a:spAutoFit/>
          </a:bodyPr>
          <a:lstStyle/>
          <a:p>
            <a:pPr algn="l"/>
            <a:r>
              <a:rPr sz="2300" b="0">
                <a:solidFill>
                  <a:srgbClr val="20201E"/>
                </a:solidFill>
                <a:latin typeface="Georgia"/>
                <a:ea typeface="Arial"/>
                <a:cs typeface="Arial"/>
              </a:rPr>
              <a:t>Общедоступная
модель</a:t>
            </a:r>
          </a:p>
        </p:txBody>
      </p:sp>
      <p:sp>
        <p:nvSpPr>
          <p:cNvPr id="8" name="Right Arrow 7"/>
          <p:cNvSpPr/>
          <p:nvPr/>
        </p:nvSpPr>
        <p:spPr>
          <a:xfrm>
            <a:off x="3131820" y="225856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3433572" y="1874519"/>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3433572" y="233172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433572" y="2496312"/>
            <a:ext cx="2409444" cy="1261872"/>
          </a:xfrm>
          <a:prstGeom prst="rect">
            <a:avLst/>
          </a:prstGeom>
          <a:noFill/>
        </p:spPr>
        <p:txBody>
          <a:bodyPr wrap="square">
            <a:spAutoFit/>
          </a:bodyPr>
          <a:lstStyle/>
          <a:p>
            <a:pPr algn="l"/>
            <a:r>
              <a:rPr sz="2300" b="0">
                <a:solidFill>
                  <a:srgbClr val="20201E"/>
                </a:solidFill>
                <a:latin typeface="Georgia"/>
                <a:ea typeface="Arial"/>
                <a:cs typeface="Arial"/>
              </a:rPr>
              <a:t>Собственные
данные</a:t>
            </a:r>
          </a:p>
        </p:txBody>
      </p:sp>
      <p:sp>
        <p:nvSpPr>
          <p:cNvPr id="12" name="Right Arrow 11"/>
          <p:cNvSpPr/>
          <p:nvPr/>
        </p:nvSpPr>
        <p:spPr>
          <a:xfrm>
            <a:off x="5925312" y="225856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6227064" y="1874519"/>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6227064" y="233172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27064" y="2496312"/>
            <a:ext cx="2409444" cy="1261872"/>
          </a:xfrm>
          <a:prstGeom prst="rect">
            <a:avLst/>
          </a:prstGeom>
          <a:noFill/>
        </p:spPr>
        <p:txBody>
          <a:bodyPr wrap="square">
            <a:spAutoFit/>
          </a:bodyPr>
          <a:lstStyle/>
          <a:p>
            <a:pPr algn="l"/>
            <a:r>
              <a:rPr sz="2300" b="0">
                <a:solidFill>
                  <a:srgbClr val="20201E"/>
                </a:solidFill>
                <a:latin typeface="Georgia"/>
                <a:ea typeface="Arial"/>
                <a:cs typeface="Arial"/>
              </a:rPr>
              <a:t>Процессы
и команда</a:t>
            </a:r>
          </a:p>
        </p:txBody>
      </p:sp>
      <p:sp>
        <p:nvSpPr>
          <p:cNvPr id="16" name="Right Arrow 15"/>
          <p:cNvSpPr/>
          <p:nvPr/>
        </p:nvSpPr>
        <p:spPr>
          <a:xfrm>
            <a:off x="8718804" y="225856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9020556" y="1874519"/>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9020556" y="233172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020556" y="2496312"/>
            <a:ext cx="2409444" cy="1261872"/>
          </a:xfrm>
          <a:prstGeom prst="rect">
            <a:avLst/>
          </a:prstGeom>
          <a:noFill/>
        </p:spPr>
        <p:txBody>
          <a:bodyPr wrap="square">
            <a:spAutoFit/>
          </a:bodyPr>
          <a:lstStyle/>
          <a:p>
            <a:pPr algn="l"/>
            <a:r>
              <a:rPr sz="2300" b="0">
                <a:solidFill>
                  <a:srgbClr val="20201E"/>
                </a:solidFill>
                <a:latin typeface="Georgia"/>
                <a:ea typeface="Arial"/>
                <a:cs typeface="Arial"/>
              </a:rPr>
              <a:t>Ценность
клиенту</a:t>
            </a:r>
          </a:p>
        </p:txBody>
      </p:sp>
      <p:sp>
        <p:nvSpPr>
          <p:cNvPr id="20" name="TextBox 19"/>
          <p:cNvSpPr txBox="1"/>
          <p:nvPr/>
        </p:nvSpPr>
        <p:spPr>
          <a:xfrm>
            <a:off x="868680" y="4297680"/>
            <a:ext cx="10332720" cy="1234440"/>
          </a:xfrm>
          <a:prstGeom prst="rect">
            <a:avLst/>
          </a:prstGeom>
          <a:noFill/>
        </p:spPr>
        <p:txBody>
          <a:bodyPr wrap="square">
            <a:spAutoFit/>
          </a:bodyPr>
          <a:lstStyle/>
          <a:p>
            <a:pPr algn="l"/>
            <a:r>
              <a:rPr sz="3200" b="0">
                <a:solidFill>
                  <a:srgbClr val="C5422D"/>
                </a:solidFill>
                <a:latin typeface="Georgia"/>
                <a:ea typeface="Arial"/>
                <a:cs typeface="Arial"/>
              </a:rPr>
              <a:t>Экономия на операции ещё не означает
прибыль и устойчивое преимущество.</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Организация после ИИ: роли тоже меняются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Anand / Wu · PDF 41–44 · возможный сценарий авторов</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14</a:t>
            </a:r>
          </a:p>
        </p:txBody>
      </p:sp>
      <p:sp>
        <p:nvSpPr>
          <p:cNvPr id="5" name="TextBox 4"/>
          <p:cNvSpPr txBox="1"/>
          <p:nvPr/>
        </p:nvSpPr>
        <p:spPr>
          <a:xfrm>
            <a:off x="777240" y="1828800"/>
            <a:ext cx="10607040" cy="1051560"/>
          </a:xfrm>
          <a:prstGeom prst="rect">
            <a:avLst/>
          </a:prstGeom>
          <a:noFill/>
        </p:spPr>
        <p:txBody>
          <a:bodyPr wrap="square">
            <a:spAutoFit/>
          </a:bodyPr>
          <a:lstStyle/>
          <a:p>
            <a:pPr algn="l"/>
            <a:r>
              <a:rPr sz="3400" b="0">
                <a:solidFill>
                  <a:srgbClr val="C5422D"/>
                </a:solidFill>
                <a:latin typeface="Georgia"/>
                <a:ea typeface="Arial"/>
                <a:cs typeface="Arial"/>
              </a:rPr>
              <a:t>Менеджер может работать
напрямую с программными системами.</a:t>
            </a:r>
          </a:p>
        </p:txBody>
      </p:sp>
      <p:cxnSp>
        <p:nvCxnSpPr>
          <p:cNvPr id="6" name="Connector 5"/>
          <p:cNvCxnSpPr/>
          <p:nvPr/>
        </p:nvCxnSpPr>
        <p:spPr>
          <a:xfrm>
            <a:off x="640080" y="343814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3566160"/>
            <a:ext cx="3776472" cy="557784"/>
          </a:xfrm>
          <a:prstGeom prst="rect">
            <a:avLst/>
          </a:prstGeom>
          <a:noFill/>
        </p:spPr>
        <p:txBody>
          <a:bodyPr wrap="square">
            <a:spAutoFit/>
          </a:bodyPr>
          <a:lstStyle/>
          <a:p>
            <a:pPr algn="l"/>
            <a:r>
              <a:rPr sz="2300" b="0">
                <a:solidFill>
                  <a:srgbClr val="20201E"/>
                </a:solidFill>
                <a:latin typeface="Georgia"/>
                <a:ea typeface="Arial"/>
                <a:cs typeface="Arial"/>
              </a:rPr>
              <a:t>Роли</a:t>
            </a:r>
          </a:p>
        </p:txBody>
      </p:sp>
      <p:sp>
        <p:nvSpPr>
          <p:cNvPr id="8" name="TextBox 7"/>
          <p:cNvSpPr txBox="1"/>
          <p:nvPr/>
        </p:nvSpPr>
        <p:spPr>
          <a:xfrm>
            <a:off x="4632350" y="3566160"/>
            <a:ext cx="6689750" cy="557784"/>
          </a:xfrm>
          <a:prstGeom prst="rect">
            <a:avLst/>
          </a:prstGeom>
          <a:noFill/>
        </p:spPr>
        <p:txBody>
          <a:bodyPr wrap="square">
            <a:spAutoFit/>
          </a:bodyPr>
          <a:lstStyle/>
          <a:p>
            <a:pPr algn="l"/>
            <a:r>
              <a:rPr sz="2100" b="0">
                <a:solidFill>
                  <a:srgbClr val="20201E"/>
                </a:solidFill>
                <a:latin typeface="Arial"/>
                <a:ea typeface="Arial"/>
                <a:cs typeface="Arial"/>
              </a:rPr>
              <a:t>Какие операции объединяются и кто проверяет</a:t>
            </a:r>
          </a:p>
        </p:txBody>
      </p:sp>
      <p:cxnSp>
        <p:nvCxnSpPr>
          <p:cNvPr id="9" name="Connector 8"/>
          <p:cNvCxnSpPr/>
          <p:nvPr/>
        </p:nvCxnSpPr>
        <p:spPr>
          <a:xfrm>
            <a:off x="640080" y="413308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640080" y="4261104"/>
            <a:ext cx="3776472" cy="557784"/>
          </a:xfrm>
          <a:prstGeom prst="rect">
            <a:avLst/>
          </a:prstGeom>
          <a:noFill/>
        </p:spPr>
        <p:txBody>
          <a:bodyPr wrap="square">
            <a:spAutoFit/>
          </a:bodyPr>
          <a:lstStyle/>
          <a:p>
            <a:pPr algn="l"/>
            <a:r>
              <a:rPr sz="2300" b="0">
                <a:solidFill>
                  <a:srgbClr val="20201E"/>
                </a:solidFill>
                <a:latin typeface="Georgia"/>
                <a:ea typeface="Arial"/>
                <a:cs typeface="Arial"/>
              </a:rPr>
              <a:t>Время</a:t>
            </a:r>
          </a:p>
        </p:txBody>
      </p:sp>
      <p:sp>
        <p:nvSpPr>
          <p:cNvPr id="11" name="TextBox 10"/>
          <p:cNvSpPr txBox="1"/>
          <p:nvPr/>
        </p:nvSpPr>
        <p:spPr>
          <a:xfrm>
            <a:off x="4632350" y="4261104"/>
            <a:ext cx="6689750" cy="557784"/>
          </a:xfrm>
          <a:prstGeom prst="rect">
            <a:avLst/>
          </a:prstGeom>
          <a:noFill/>
        </p:spPr>
        <p:txBody>
          <a:bodyPr wrap="square">
            <a:spAutoFit/>
          </a:bodyPr>
          <a:lstStyle/>
          <a:p>
            <a:pPr algn="l"/>
            <a:r>
              <a:rPr sz="2100" b="0">
                <a:solidFill>
                  <a:srgbClr val="20201E"/>
                </a:solidFill>
                <a:latin typeface="Arial"/>
                <a:ea typeface="Arial"/>
                <a:cs typeface="Arial"/>
              </a:rPr>
              <a:t>На что пойдёт высвободившийся ресурс</a:t>
            </a:r>
          </a:p>
        </p:txBody>
      </p:sp>
      <p:cxnSp>
        <p:nvCxnSpPr>
          <p:cNvPr id="12" name="Connector 11"/>
          <p:cNvCxnSpPr/>
          <p:nvPr/>
        </p:nvCxnSpPr>
        <p:spPr>
          <a:xfrm>
            <a:off x="640080" y="482803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40080" y="4956048"/>
            <a:ext cx="3776472" cy="557784"/>
          </a:xfrm>
          <a:prstGeom prst="rect">
            <a:avLst/>
          </a:prstGeom>
          <a:noFill/>
        </p:spPr>
        <p:txBody>
          <a:bodyPr wrap="square">
            <a:spAutoFit/>
          </a:bodyPr>
          <a:lstStyle/>
          <a:p>
            <a:pPr algn="l"/>
            <a:r>
              <a:rPr sz="2300" b="0">
                <a:solidFill>
                  <a:srgbClr val="20201E"/>
                </a:solidFill>
                <a:latin typeface="Georgia"/>
                <a:ea typeface="Arial"/>
                <a:cs typeface="Arial"/>
              </a:rPr>
              <a:t>Экономика</a:t>
            </a:r>
          </a:p>
        </p:txBody>
      </p:sp>
      <p:sp>
        <p:nvSpPr>
          <p:cNvPr id="14" name="TextBox 13"/>
          <p:cNvSpPr txBox="1"/>
          <p:nvPr/>
        </p:nvSpPr>
        <p:spPr>
          <a:xfrm>
            <a:off x="4632350" y="4956048"/>
            <a:ext cx="6689750" cy="557784"/>
          </a:xfrm>
          <a:prstGeom prst="rect">
            <a:avLst/>
          </a:prstGeom>
          <a:noFill/>
        </p:spPr>
        <p:txBody>
          <a:bodyPr wrap="square">
            <a:spAutoFit/>
          </a:bodyPr>
          <a:lstStyle/>
          <a:p>
            <a:pPr algn="l"/>
            <a:r>
              <a:rPr sz="2100" b="0">
                <a:solidFill>
                  <a:srgbClr val="20201E"/>
                </a:solidFill>
                <a:latin typeface="Arial"/>
                <a:ea typeface="Arial"/>
                <a:cs typeface="Arial"/>
              </a:rPr>
              <a:t>Где изменятся качество, спрос и полные затраты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Делегируем операции внутри решения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Принцип Anand / Wu · PDF 31–37 · учебная адаптация запуска продукта</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15</a:t>
            </a:r>
          </a:p>
        </p:txBody>
      </p:sp>
      <p:sp>
        <p:nvSpPr>
          <p:cNvPr id="5" name="TextBox 4"/>
          <p:cNvSpPr txBox="1"/>
          <p:nvPr/>
        </p:nvSpPr>
        <p:spPr>
          <a:xfrm>
            <a:off x="640080" y="1965960"/>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4231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587752"/>
            <a:ext cx="2409444" cy="1261872"/>
          </a:xfrm>
          <a:prstGeom prst="rect">
            <a:avLst/>
          </a:prstGeom>
          <a:noFill/>
        </p:spPr>
        <p:txBody>
          <a:bodyPr wrap="square">
            <a:spAutoFit/>
          </a:bodyPr>
          <a:lstStyle/>
          <a:p>
            <a:pPr algn="l"/>
            <a:r>
              <a:rPr sz="2300" b="0">
                <a:solidFill>
                  <a:srgbClr val="20201E"/>
                </a:solidFill>
                <a:latin typeface="Georgia"/>
                <a:ea typeface="Arial"/>
                <a:cs typeface="Arial"/>
              </a:rPr>
              <a:t>Собрать
сведения</a:t>
            </a:r>
          </a:p>
        </p:txBody>
      </p:sp>
      <p:sp>
        <p:nvSpPr>
          <p:cNvPr id="8" name="Right Arrow 7"/>
          <p:cNvSpPr/>
          <p:nvPr/>
        </p:nvSpPr>
        <p:spPr>
          <a:xfrm>
            <a:off x="3131820" y="235000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3433572" y="1965960"/>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3433572" y="24231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433572" y="2587752"/>
            <a:ext cx="2409444" cy="1261872"/>
          </a:xfrm>
          <a:prstGeom prst="rect">
            <a:avLst/>
          </a:prstGeom>
          <a:noFill/>
        </p:spPr>
        <p:txBody>
          <a:bodyPr wrap="square">
            <a:spAutoFit/>
          </a:bodyPr>
          <a:lstStyle/>
          <a:p>
            <a:pPr algn="l"/>
            <a:r>
              <a:rPr sz="2300" b="0">
                <a:solidFill>
                  <a:srgbClr val="20201E"/>
                </a:solidFill>
                <a:latin typeface="Georgia"/>
                <a:ea typeface="Arial"/>
                <a:cs typeface="Arial"/>
              </a:rPr>
              <a:t>Сравнить
варианты</a:t>
            </a:r>
          </a:p>
        </p:txBody>
      </p:sp>
      <p:sp>
        <p:nvSpPr>
          <p:cNvPr id="12" name="Right Arrow 11"/>
          <p:cNvSpPr/>
          <p:nvPr/>
        </p:nvSpPr>
        <p:spPr>
          <a:xfrm>
            <a:off x="5925312" y="235000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6227064" y="1965960"/>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6227064" y="24231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27064" y="2587752"/>
            <a:ext cx="2409444" cy="1261872"/>
          </a:xfrm>
          <a:prstGeom prst="rect">
            <a:avLst/>
          </a:prstGeom>
          <a:noFill/>
        </p:spPr>
        <p:txBody>
          <a:bodyPr wrap="square">
            <a:spAutoFit/>
          </a:bodyPr>
          <a:lstStyle/>
          <a:p>
            <a:pPr algn="l"/>
            <a:r>
              <a:rPr sz="2300" b="0">
                <a:solidFill>
                  <a:srgbClr val="20201E"/>
                </a:solidFill>
                <a:latin typeface="Georgia"/>
                <a:ea typeface="Arial"/>
                <a:cs typeface="Arial"/>
              </a:rPr>
              <a:t>Проверить
предпосылки</a:t>
            </a:r>
          </a:p>
        </p:txBody>
      </p:sp>
      <p:sp>
        <p:nvSpPr>
          <p:cNvPr id="16" name="Right Arrow 15"/>
          <p:cNvSpPr/>
          <p:nvPr/>
        </p:nvSpPr>
        <p:spPr>
          <a:xfrm>
            <a:off x="8718804" y="235000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9020556" y="1965960"/>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9020556" y="24231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020556" y="2587752"/>
            <a:ext cx="2409444" cy="1261872"/>
          </a:xfrm>
          <a:prstGeom prst="rect">
            <a:avLst/>
          </a:prstGeom>
          <a:noFill/>
        </p:spPr>
        <p:txBody>
          <a:bodyPr wrap="square">
            <a:spAutoFit/>
          </a:bodyPr>
          <a:lstStyle/>
          <a:p>
            <a:pPr algn="l"/>
            <a:r>
              <a:rPr sz="2300" b="0">
                <a:solidFill>
                  <a:srgbClr val="20201E"/>
                </a:solidFill>
                <a:latin typeface="Georgia"/>
                <a:ea typeface="Arial"/>
                <a:cs typeface="Arial"/>
              </a:rPr>
              <a:t>Утвердить
обязательства</a:t>
            </a:r>
          </a:p>
        </p:txBody>
      </p:sp>
      <p:sp>
        <p:nvSpPr>
          <p:cNvPr id="20" name="TextBox 19"/>
          <p:cNvSpPr txBox="1"/>
          <p:nvPr/>
        </p:nvSpPr>
        <p:spPr>
          <a:xfrm>
            <a:off x="868680" y="4389120"/>
            <a:ext cx="10332720" cy="1051560"/>
          </a:xfrm>
          <a:prstGeom prst="rect">
            <a:avLst/>
          </a:prstGeom>
          <a:noFill/>
        </p:spPr>
        <p:txBody>
          <a:bodyPr wrap="square">
            <a:spAutoFit/>
          </a:bodyPr>
          <a:lstStyle/>
          <a:p>
            <a:pPr algn="l"/>
            <a:r>
              <a:rPr sz="3000" b="0">
                <a:solidFill>
                  <a:srgbClr val="20201E"/>
                </a:solidFill>
                <a:latin typeface="Georgia"/>
                <a:ea typeface="Arial"/>
                <a:cs typeface="Arial"/>
              </a:rPr>
              <a:t>Для каждого шага — свой режим ИИ,
проверка и ответственный.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Что поручать: три формы поддержки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Anand / Wu · PDF 34–37 · примеры адаптированы для курса</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16</a:t>
            </a:r>
          </a:p>
        </p:txBody>
      </p:sp>
      <p:cxnSp>
        <p:nvCxnSpPr>
          <p:cNvPr id="5" name="Connector 4"/>
          <p:cNvCxnSpPr/>
          <p:nvPr/>
        </p:nvCxnSpPr>
        <p:spPr>
          <a:xfrm>
            <a:off x="640080" y="179222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920240"/>
            <a:ext cx="3776472" cy="868680"/>
          </a:xfrm>
          <a:prstGeom prst="rect">
            <a:avLst/>
          </a:prstGeom>
          <a:noFill/>
        </p:spPr>
        <p:txBody>
          <a:bodyPr wrap="square">
            <a:spAutoFit/>
          </a:bodyPr>
          <a:lstStyle/>
          <a:p>
            <a:pPr algn="l"/>
            <a:r>
              <a:rPr sz="2400" b="0">
                <a:solidFill>
                  <a:srgbClr val="20201E"/>
                </a:solidFill>
                <a:latin typeface="Georgia"/>
                <a:ea typeface="Arial"/>
                <a:cs typeface="Arial"/>
              </a:rPr>
              <a:t>Выполнение</a:t>
            </a:r>
          </a:p>
        </p:txBody>
      </p:sp>
      <p:sp>
        <p:nvSpPr>
          <p:cNvPr id="7" name="TextBox 6"/>
          <p:cNvSpPr txBox="1"/>
          <p:nvPr/>
        </p:nvSpPr>
        <p:spPr>
          <a:xfrm>
            <a:off x="4632350" y="1920240"/>
            <a:ext cx="6689750" cy="868680"/>
          </a:xfrm>
          <a:prstGeom prst="rect">
            <a:avLst/>
          </a:prstGeom>
          <a:noFill/>
        </p:spPr>
        <p:txBody>
          <a:bodyPr wrap="square">
            <a:spAutoFit/>
          </a:bodyPr>
          <a:lstStyle/>
          <a:p>
            <a:pPr algn="l"/>
            <a:r>
              <a:rPr sz="2200" b="0">
                <a:solidFill>
                  <a:srgbClr val="20201E"/>
                </a:solidFill>
                <a:latin typeface="Arial"/>
                <a:ea typeface="Arial"/>
                <a:cs typeface="Arial"/>
              </a:rPr>
              <a:t>Классификация обезличенных заметок по правилам</a:t>
            </a:r>
          </a:p>
        </p:txBody>
      </p:sp>
      <p:cxnSp>
        <p:nvCxnSpPr>
          <p:cNvPr id="8" name="Connector 7"/>
          <p:cNvCxnSpPr/>
          <p:nvPr/>
        </p:nvCxnSpPr>
        <p:spPr>
          <a:xfrm>
            <a:off x="640080" y="2798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926080"/>
            <a:ext cx="3776472" cy="868680"/>
          </a:xfrm>
          <a:prstGeom prst="rect">
            <a:avLst/>
          </a:prstGeom>
          <a:noFill/>
        </p:spPr>
        <p:txBody>
          <a:bodyPr wrap="square">
            <a:spAutoFit/>
          </a:bodyPr>
          <a:lstStyle/>
          <a:p>
            <a:pPr algn="l"/>
            <a:r>
              <a:rPr sz="2400" b="0">
                <a:solidFill>
                  <a:srgbClr val="20201E"/>
                </a:solidFill>
                <a:latin typeface="Georgia"/>
                <a:ea typeface="Arial"/>
                <a:cs typeface="Arial"/>
              </a:rPr>
              <a:t>Варианты</a:t>
            </a:r>
          </a:p>
        </p:txBody>
      </p:sp>
      <p:sp>
        <p:nvSpPr>
          <p:cNvPr id="10" name="TextBox 9"/>
          <p:cNvSpPr txBox="1"/>
          <p:nvPr/>
        </p:nvSpPr>
        <p:spPr>
          <a:xfrm>
            <a:off x="4632350" y="2926080"/>
            <a:ext cx="6689750" cy="868680"/>
          </a:xfrm>
          <a:prstGeom prst="rect">
            <a:avLst/>
          </a:prstGeom>
          <a:noFill/>
        </p:spPr>
        <p:txBody>
          <a:bodyPr wrap="square">
            <a:spAutoFit/>
          </a:bodyPr>
          <a:lstStyle/>
          <a:p>
            <a:pPr algn="l"/>
            <a:r>
              <a:rPr sz="2200" b="0">
                <a:solidFill>
                  <a:srgbClr val="20201E"/>
                </a:solidFill>
                <a:latin typeface="Arial"/>
                <a:ea typeface="Arial"/>
                <a:cs typeface="Arial"/>
              </a:rPr>
              <a:t>Вопросы к брифу, альтернативы предложения</a:t>
            </a:r>
          </a:p>
        </p:txBody>
      </p:sp>
      <p:cxnSp>
        <p:nvCxnSpPr>
          <p:cNvPr id="11" name="Connector 10"/>
          <p:cNvCxnSpPr/>
          <p:nvPr/>
        </p:nvCxnSpPr>
        <p:spPr>
          <a:xfrm>
            <a:off x="640080" y="380390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931920"/>
            <a:ext cx="3776472" cy="868680"/>
          </a:xfrm>
          <a:prstGeom prst="rect">
            <a:avLst/>
          </a:prstGeom>
          <a:noFill/>
        </p:spPr>
        <p:txBody>
          <a:bodyPr wrap="square">
            <a:spAutoFit/>
          </a:bodyPr>
          <a:lstStyle/>
          <a:p>
            <a:pPr algn="l"/>
            <a:r>
              <a:rPr sz="2400" b="0">
                <a:solidFill>
                  <a:srgbClr val="20201E"/>
                </a:solidFill>
                <a:latin typeface="Georgia"/>
                <a:ea typeface="Arial"/>
                <a:cs typeface="Arial"/>
              </a:rPr>
              <a:t>Подготовка</a:t>
            </a:r>
          </a:p>
        </p:txBody>
      </p:sp>
      <p:sp>
        <p:nvSpPr>
          <p:cNvPr id="13" name="TextBox 12"/>
          <p:cNvSpPr txBox="1"/>
          <p:nvPr/>
        </p:nvSpPr>
        <p:spPr>
          <a:xfrm>
            <a:off x="4632350" y="3931920"/>
            <a:ext cx="6689750" cy="868680"/>
          </a:xfrm>
          <a:prstGeom prst="rect">
            <a:avLst/>
          </a:prstGeom>
          <a:noFill/>
        </p:spPr>
        <p:txBody>
          <a:bodyPr wrap="square">
            <a:spAutoFit/>
          </a:bodyPr>
          <a:lstStyle/>
          <a:p>
            <a:pPr algn="l"/>
            <a:r>
              <a:rPr sz="2200" b="0">
                <a:solidFill>
                  <a:srgbClr val="20201E"/>
                </a:solidFill>
                <a:latin typeface="Arial"/>
                <a:ea typeface="Arial"/>
                <a:cs typeface="Arial"/>
              </a:rPr>
              <a:t>Расхождения и черновик для проверки экспертом</a:t>
            </a:r>
          </a:p>
        </p:txBody>
      </p:sp>
      <p:sp>
        <p:nvSpPr>
          <p:cNvPr id="14" name="TextBox 13"/>
          <p:cNvSpPr txBox="1"/>
          <p:nvPr/>
        </p:nvSpPr>
        <p:spPr>
          <a:xfrm>
            <a:off x="822960" y="5349240"/>
            <a:ext cx="10515600" cy="685800"/>
          </a:xfrm>
          <a:prstGeom prst="rect">
            <a:avLst/>
          </a:prstGeom>
          <a:noFill/>
        </p:spPr>
        <p:txBody>
          <a:bodyPr wrap="square">
            <a:spAutoFit/>
          </a:bodyPr>
          <a:lstStyle/>
          <a:p>
            <a:pPr algn="l"/>
            <a:r>
              <a:rPr sz="2700" b="0">
                <a:solidFill>
                  <a:srgbClr val="C5422D"/>
                </a:solidFill>
                <a:latin typeface="Georgia"/>
                <a:ea typeface="Arial"/>
                <a:cs typeface="Arial"/>
              </a:rPr>
              <a:t>Цели, обязательства и последствия сохраняют владельца.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Делегирование должно помогать всей цепочке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D4CEC3"/>
                </a:solidFill>
                <a:latin typeface="Arial"/>
                <a:ea typeface="Arial"/>
                <a:cs typeface="Arial"/>
              </a:rPr>
              <a:t>Niederhoffer и соавторы · Workslop · PDF 45–53</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17</a:t>
            </a:r>
          </a:p>
        </p:txBody>
      </p:sp>
      <p:sp>
        <p:nvSpPr>
          <p:cNvPr id="5" name="TextBox 4"/>
          <p:cNvSpPr txBox="1"/>
          <p:nvPr/>
        </p:nvSpPr>
        <p:spPr>
          <a:xfrm>
            <a:off x="822960" y="1920240"/>
            <a:ext cx="10332720" cy="1508760"/>
          </a:xfrm>
          <a:prstGeom prst="rect">
            <a:avLst/>
          </a:prstGeom>
          <a:noFill/>
        </p:spPr>
        <p:txBody>
          <a:bodyPr wrap="square">
            <a:spAutoFit/>
          </a:bodyPr>
          <a:lstStyle/>
          <a:p>
            <a:pPr algn="l"/>
            <a:r>
              <a:rPr sz="4000" b="0">
                <a:solidFill>
                  <a:srgbClr val="FFFFFF"/>
                </a:solidFill>
                <a:latin typeface="Georgia"/>
                <a:ea typeface="Arial"/>
                <a:cs typeface="Arial"/>
              </a:rPr>
              <a:t>Кто выиграет время —
и кому добавится проверка?</a:t>
            </a:r>
          </a:p>
        </p:txBody>
      </p:sp>
      <p:sp>
        <p:nvSpPr>
          <p:cNvPr id="6" name="TextBox 5"/>
          <p:cNvSpPr txBox="1"/>
          <p:nvPr/>
        </p:nvSpPr>
        <p:spPr>
          <a:xfrm>
            <a:off x="914400" y="4251960"/>
            <a:ext cx="10058400" cy="1234440"/>
          </a:xfrm>
          <a:prstGeom prst="rect">
            <a:avLst/>
          </a:prstGeom>
          <a:noFill/>
        </p:spPr>
        <p:txBody>
          <a:bodyPr wrap="square">
            <a:spAutoFit/>
          </a:bodyPr>
          <a:lstStyle/>
          <a:p>
            <a:pPr algn="l"/>
            <a:r>
              <a:rPr sz="2800" b="0">
                <a:solidFill>
                  <a:srgbClr val="E8E3D8"/>
                </a:solidFill>
                <a:latin typeface="Arial"/>
                <a:ea typeface="Arial"/>
                <a:cs typeface="Arial"/>
              </a:rPr>
              <a:t>Результат должен продвигать задачу,
а не возвращать её коллеге на переделку.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ИИ входит в отдельные шаги работы</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18</a:t>
            </a:r>
          </a:p>
        </p:txBody>
      </p:sp>
      <p:sp>
        <p:nvSpPr>
          <p:cNvPr id="5" name="TextBox 4"/>
          <p:cNvSpPr txBox="1"/>
          <p:nvPr/>
        </p:nvSpPr>
        <p:spPr>
          <a:xfrm>
            <a:off x="640080" y="2286000"/>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74320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907792"/>
            <a:ext cx="2409444" cy="1261872"/>
          </a:xfrm>
          <a:prstGeom prst="rect">
            <a:avLst/>
          </a:prstGeom>
          <a:noFill/>
        </p:spPr>
        <p:txBody>
          <a:bodyPr wrap="square">
            <a:spAutoFit/>
          </a:bodyPr>
          <a:lstStyle/>
          <a:p>
            <a:pPr algn="l"/>
            <a:r>
              <a:rPr sz="2200" b="0">
                <a:solidFill>
                  <a:srgbClr val="20201E"/>
                </a:solidFill>
                <a:latin typeface="Georgia"/>
                <a:ea typeface="Arial"/>
                <a:cs typeface="Arial"/>
              </a:rPr>
              <a:t>Получить
сигнал</a:t>
            </a:r>
          </a:p>
        </p:txBody>
      </p:sp>
      <p:sp>
        <p:nvSpPr>
          <p:cNvPr id="8" name="Right Arrow 7"/>
          <p:cNvSpPr/>
          <p:nvPr/>
        </p:nvSpPr>
        <p:spPr>
          <a:xfrm>
            <a:off x="3131820" y="267004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3433572" y="2286000"/>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3433572" y="274320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433572" y="2907792"/>
            <a:ext cx="2409444" cy="1261872"/>
          </a:xfrm>
          <a:prstGeom prst="rect">
            <a:avLst/>
          </a:prstGeom>
          <a:noFill/>
        </p:spPr>
        <p:txBody>
          <a:bodyPr wrap="square">
            <a:spAutoFit/>
          </a:bodyPr>
          <a:lstStyle/>
          <a:p>
            <a:pPr algn="l"/>
            <a:r>
              <a:rPr sz="2200" b="0">
                <a:solidFill>
                  <a:srgbClr val="20201E"/>
                </a:solidFill>
                <a:latin typeface="Georgia"/>
                <a:ea typeface="Arial"/>
                <a:cs typeface="Arial"/>
              </a:rPr>
              <a:t>Разобрать
данные</a:t>
            </a:r>
          </a:p>
        </p:txBody>
      </p:sp>
      <p:sp>
        <p:nvSpPr>
          <p:cNvPr id="12" name="Right Arrow 11"/>
          <p:cNvSpPr/>
          <p:nvPr/>
        </p:nvSpPr>
        <p:spPr>
          <a:xfrm>
            <a:off x="5925312" y="267004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6227064" y="2286000"/>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6227064" y="274320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27064" y="2907792"/>
            <a:ext cx="2409444" cy="1261872"/>
          </a:xfrm>
          <a:prstGeom prst="rect">
            <a:avLst/>
          </a:prstGeom>
          <a:noFill/>
        </p:spPr>
        <p:txBody>
          <a:bodyPr wrap="square">
            <a:spAutoFit/>
          </a:bodyPr>
          <a:lstStyle/>
          <a:p>
            <a:pPr algn="l"/>
            <a:r>
              <a:rPr sz="2200" b="0">
                <a:solidFill>
                  <a:srgbClr val="20201E"/>
                </a:solidFill>
                <a:latin typeface="Georgia"/>
                <a:ea typeface="Arial"/>
                <a:cs typeface="Arial"/>
              </a:rPr>
              <a:t>Подготовить
результат</a:t>
            </a:r>
          </a:p>
        </p:txBody>
      </p:sp>
      <p:sp>
        <p:nvSpPr>
          <p:cNvPr id="16" name="Right Arrow 15"/>
          <p:cNvSpPr/>
          <p:nvPr/>
        </p:nvSpPr>
        <p:spPr>
          <a:xfrm>
            <a:off x="8718804" y="267004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9020556" y="2286000"/>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9020556" y="274320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020556" y="2907792"/>
            <a:ext cx="2409444" cy="1261872"/>
          </a:xfrm>
          <a:prstGeom prst="rect">
            <a:avLst/>
          </a:prstGeom>
          <a:noFill/>
        </p:spPr>
        <p:txBody>
          <a:bodyPr wrap="square">
            <a:spAutoFit/>
          </a:bodyPr>
          <a:lstStyle/>
          <a:p>
            <a:pPr algn="l"/>
            <a:r>
              <a:rPr sz="2200" b="0">
                <a:solidFill>
                  <a:srgbClr val="20201E"/>
                </a:solidFill>
                <a:latin typeface="Georgia"/>
                <a:ea typeface="Arial"/>
                <a:cs typeface="Arial"/>
              </a:rPr>
              <a:t>Выполнить
действие</a:t>
            </a:r>
          </a:p>
        </p:txBody>
      </p:sp>
      <p:sp>
        <p:nvSpPr>
          <p:cNvPr id="20" name="TextBox 19"/>
          <p:cNvSpPr txBox="1"/>
          <p:nvPr/>
        </p:nvSpPr>
        <p:spPr>
          <a:xfrm>
            <a:off x="822960" y="4023360"/>
            <a:ext cx="10698480" cy="1234440"/>
          </a:xfrm>
          <a:prstGeom prst="rect">
            <a:avLst/>
          </a:prstGeom>
          <a:noFill/>
        </p:spPr>
        <p:txBody>
          <a:bodyPr wrap="square">
            <a:spAutoFit/>
          </a:bodyPr>
          <a:lstStyle/>
          <a:p>
            <a:pPr algn="l"/>
            <a:r>
              <a:rPr sz="2600" b="0">
                <a:solidFill>
                  <a:srgbClr val="20201E"/>
                </a:solidFill>
                <a:latin typeface="Arial"/>
                <a:ea typeface="Arial"/>
                <a:cs typeface="Arial"/>
              </a:rPr>
              <a:t>Письма · звонки · документы · таблицы · изображения
Один процесс может использовать несколько методов ИИ.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Хайп и полезность движутся по-разному</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Gartner · Hype Cycle 2025 · gartner.com/en/documents/6719134</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19</a:t>
            </a:r>
          </a:p>
        </p:txBody>
      </p:sp>
      <p:cxnSp>
        <p:nvCxnSpPr>
          <p:cNvPr id="5" name="Connector 4"/>
          <p:cNvCxnSpPr/>
          <p:nvPr/>
        </p:nvCxnSpPr>
        <p:spPr>
          <a:xfrm>
            <a:off x="960120" y="5394960"/>
            <a:ext cx="10332720" cy="0"/>
          </a:xfrm>
          <a:prstGeom prst="line">
            <a:avLst/>
          </a:prstGeom>
          <a:ln w="17780">
            <a:solidFill>
              <a:srgbClr val="20201E"/>
            </a:solidFill>
          </a:ln>
          <a:effectLst/>
        </p:spPr>
        <p:style>
          <a:lnRef idx="2">
            <a:schemeClr val="accent1"/>
          </a:lnRef>
          <a:fillRef idx="0">
            <a:schemeClr val="accent1"/>
          </a:fillRef>
          <a:effectRef idx="0">
            <a:schemeClr val="accent1"/>
          </a:effectRef>
          <a:fontRef idx="minor">
            <a:schemeClr val="tx1"/>
          </a:fontRef>
        </p:style>
      </p:cxnSp>
      <p:cxnSp>
        <p:nvCxnSpPr>
          <p:cNvPr id="6" name="Connector 5"/>
          <p:cNvCxnSpPr/>
          <p:nvPr/>
        </p:nvCxnSpPr>
        <p:spPr>
          <a:xfrm flipV="1">
            <a:off x="960120" y="1737360"/>
            <a:ext cx="0" cy="3657600"/>
          </a:xfrm>
          <a:prstGeom prst="line">
            <a:avLst/>
          </a:prstGeom>
          <a:ln w="17780">
            <a:solidFill>
              <a:srgbClr val="20201E"/>
            </a:solidFill>
          </a:ln>
          <a:effectLst/>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flipV="1">
            <a:off x="1097280" y="5105460"/>
            <a:ext cx="43936" cy="1518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flipV="1">
            <a:off x="1141216" y="5094305"/>
            <a:ext cx="57013" cy="1115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flipV="1">
            <a:off x="1198229" y="5083881"/>
            <a:ext cx="67620" cy="1042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flipV="1">
            <a:off x="1265849" y="5070896"/>
            <a:ext cx="75758" cy="1298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V="1">
            <a:off x="1341607" y="5052059"/>
            <a:ext cx="81428" cy="1883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V="1">
            <a:off x="1423035" y="5024079"/>
            <a:ext cx="84627" cy="2798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507662" y="4983662"/>
            <a:ext cx="85359" cy="4041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1593021" y="4927518"/>
            <a:ext cx="83622" cy="5614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V="1">
            <a:off x="1676643" y="4852355"/>
            <a:ext cx="79416" cy="75163"/>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1756059" y="4754880"/>
            <a:ext cx="72741" cy="9747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828800" y="4625903"/>
            <a:ext cx="68122" cy="12897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896922" y="4463735"/>
            <a:ext cx="67209" cy="16216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1964131" y="4276328"/>
            <a:ext cx="66294" cy="18740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30425" y="4071640"/>
            <a:ext cx="65379" cy="20468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2095804" y="3857625"/>
            <a:ext cx="64466" cy="21401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160270" y="3642238"/>
            <a:ext cx="63550" cy="21538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2223820" y="3433434"/>
            <a:ext cx="62637" cy="20880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2286457" y="3239170"/>
            <a:ext cx="61722" cy="19426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2348179" y="3067400"/>
            <a:ext cx="60807" cy="17177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2408986" y="2926080"/>
            <a:ext cx="59894" cy="1413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468880" y="2806933"/>
            <a:ext cx="58155" cy="11914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V="1">
            <a:off x="2527035" y="2697114"/>
            <a:ext cx="55962" cy="10981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2582997" y="2597718"/>
            <a:ext cx="54315" cy="99396"/>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V="1">
            <a:off x="2637312" y="2509845"/>
            <a:ext cx="53218" cy="87873"/>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2690530" y="2434590"/>
            <a:ext cx="52670" cy="7525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V="1">
            <a:off x="2743200" y="2373050"/>
            <a:ext cx="52669" cy="6154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V="1">
            <a:off x="2795869" y="2326325"/>
            <a:ext cx="53218" cy="4672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849087" y="2295509"/>
            <a:ext cx="54315" cy="30816"/>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903402" y="2281702"/>
            <a:ext cx="55962" cy="1380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2959364" y="2281702"/>
            <a:ext cx="58156" cy="429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3017520" y="2286000"/>
            <a:ext cx="58658" cy="25603"/>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3076178" y="2311603"/>
            <a:ext cx="57653" cy="4754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3133831" y="2359151"/>
            <a:ext cx="57470" cy="6675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3191301" y="2425903"/>
            <a:ext cx="58110" cy="8321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3249411" y="2509113"/>
            <a:ext cx="59574" cy="9692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3308985" y="2606040"/>
            <a:ext cx="61859" cy="10789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a:off x="3370844" y="2713939"/>
            <a:ext cx="64968" cy="11612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a:off x="3435812" y="2830068"/>
            <a:ext cx="68900" cy="12161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3504712" y="2951683"/>
            <a:ext cx="73655" cy="12435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3578367" y="3076041"/>
            <a:ext cx="79233" cy="12435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3657600" y="3200400"/>
            <a:ext cx="85770" cy="13590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a:off x="3743370" y="3336302"/>
            <a:ext cx="91989" cy="156706"/>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3835359" y="3493008"/>
            <a:ext cx="97109" cy="17133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a:off x="3932468" y="3664343"/>
            <a:ext cx="101133" cy="17979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4033601" y="3844137"/>
            <a:ext cx="104058" cy="18208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a:off x="4137659" y="4026217"/>
            <a:ext cx="105888" cy="17819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a:off x="4243547" y="4204411"/>
            <a:ext cx="106619" cy="16813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a:off x="4350166" y="4372546"/>
            <a:ext cx="106253" cy="15190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a:off x="4456419" y="4524451"/>
            <a:ext cx="104791" cy="12950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4561210" y="4653953"/>
            <a:ext cx="102230" cy="10092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4663440" y="4754880"/>
            <a:ext cx="98938" cy="7523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a:off x="4762378" y="4830112"/>
            <a:ext cx="96377" cy="5753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a:off x="4858755" y="4887650"/>
            <a:ext cx="94915" cy="4135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4953670" y="4929004"/>
            <a:ext cx="94549" cy="2667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5048219" y="4955682"/>
            <a:ext cx="95280" cy="1351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5143499" y="4969192"/>
            <a:ext cx="97110" cy="185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flipV="1">
            <a:off x="5240609" y="4962745"/>
            <a:ext cx="100035" cy="829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flipV="1">
            <a:off x="5340644" y="4945806"/>
            <a:ext cx="104059" cy="1693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flipV="1">
            <a:off x="5444703" y="4921735"/>
            <a:ext cx="109179" cy="24071"/>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5553882" y="4892040"/>
            <a:ext cx="115398" cy="2969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flipV="1">
            <a:off x="5669280" y="4849909"/>
            <a:ext cx="121935" cy="42131"/>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flipV="1">
            <a:off x="5791215" y="4789992"/>
            <a:ext cx="127513" cy="5991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flipV="1">
            <a:off x="5918728" y="4715995"/>
            <a:ext cx="132268" cy="7399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6050996" y="4631618"/>
            <a:ext cx="136200" cy="8437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flipV="1">
            <a:off x="6187196" y="4540567"/>
            <a:ext cx="139309" cy="91051"/>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flipV="1">
            <a:off x="6326505" y="4446544"/>
            <a:ext cx="141594" cy="94023"/>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flipV="1">
            <a:off x="6468099" y="4353252"/>
            <a:ext cx="143058" cy="9329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flipV="1">
            <a:off x="6611157" y="4264395"/>
            <a:ext cx="143698" cy="8885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flipV="1">
            <a:off x="6754855" y="4183677"/>
            <a:ext cx="143515" cy="8071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V="1">
            <a:off x="6898370" y="4114800"/>
            <a:ext cx="142510" cy="68877"/>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V="1">
            <a:off x="7040880" y="4054678"/>
            <a:ext cx="138485" cy="6012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V="1">
            <a:off x="7179365" y="3997756"/>
            <a:ext cx="133640" cy="5692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313005" y="3944035"/>
            <a:ext cx="131262" cy="53721"/>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7444267" y="3893515"/>
            <a:ext cx="131354" cy="505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flipV="1">
            <a:off x="7575621" y="3846195"/>
            <a:ext cx="133914" cy="473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flipV="1">
            <a:off x="7709535" y="3802075"/>
            <a:ext cx="138943" cy="441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flipV="1">
            <a:off x="7848478" y="3761155"/>
            <a:ext cx="146441" cy="409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V="1">
            <a:off x="7994919" y="3723436"/>
            <a:ext cx="156408" cy="3771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8151327" y="3688918"/>
            <a:ext cx="168844" cy="3451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6" name="Connector 85"/>
          <p:cNvCxnSpPr/>
          <p:nvPr/>
        </p:nvCxnSpPr>
        <p:spPr>
          <a:xfrm flipV="1">
            <a:off x="8320171" y="3657600"/>
            <a:ext cx="183749" cy="31318"/>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7" name="Connector 86"/>
          <p:cNvCxnSpPr/>
          <p:nvPr/>
        </p:nvCxnSpPr>
        <p:spPr>
          <a:xfrm flipV="1">
            <a:off x="8503920" y="3630305"/>
            <a:ext cx="211409" cy="2729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8" name="Connector 87"/>
          <p:cNvCxnSpPr/>
          <p:nvPr/>
        </p:nvCxnSpPr>
        <p:spPr>
          <a:xfrm flipV="1">
            <a:off x="8715329" y="3607490"/>
            <a:ext cx="243596" cy="22815"/>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89" name="Connector 88"/>
          <p:cNvCxnSpPr/>
          <p:nvPr/>
        </p:nvCxnSpPr>
        <p:spPr>
          <a:xfrm flipV="1">
            <a:off x="8958925" y="3588608"/>
            <a:ext cx="265907" cy="1888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flipV="1">
            <a:off x="9224832" y="3573109"/>
            <a:ext cx="278344" cy="1549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flipV="1">
            <a:off x="9503176" y="3560445"/>
            <a:ext cx="280904" cy="12664"/>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flipV="1">
            <a:off x="9784080" y="3550066"/>
            <a:ext cx="273588" cy="10379"/>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3" name="Connector 92"/>
          <p:cNvCxnSpPr/>
          <p:nvPr/>
        </p:nvCxnSpPr>
        <p:spPr>
          <a:xfrm flipV="1">
            <a:off x="10057668" y="3541425"/>
            <a:ext cx="256398" cy="8641"/>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4" name="Connector 93"/>
          <p:cNvCxnSpPr/>
          <p:nvPr/>
        </p:nvCxnSpPr>
        <p:spPr>
          <a:xfrm flipV="1">
            <a:off x="10314066" y="3533973"/>
            <a:ext cx="229331" cy="7452"/>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flipV="1">
            <a:off x="10543397" y="3527160"/>
            <a:ext cx="192390" cy="6813"/>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flipV="1">
            <a:off x="10735787" y="3520440"/>
            <a:ext cx="145573" cy="6720"/>
          </a:xfrm>
          <a:prstGeom prst="line">
            <a:avLst/>
          </a:prstGeom>
          <a:ln w="50800">
            <a:solidFill>
              <a:srgbClr val="C5422D"/>
            </a:solidFill>
          </a:ln>
          <a:effectLst/>
        </p:spPr>
        <p:style>
          <a:lnRef idx="2">
            <a:schemeClr val="accent1"/>
          </a:lnRef>
          <a:fillRef idx="0">
            <a:schemeClr val="accent1"/>
          </a:fillRef>
          <a:effectRef idx="0">
            <a:schemeClr val="accent1"/>
          </a:effectRef>
          <a:fontRef idx="minor">
            <a:schemeClr val="tx1"/>
          </a:fontRef>
        </p:style>
      </p:cxnSp>
      <p:sp>
        <p:nvSpPr>
          <p:cNvPr id="97" name="TextBox 96"/>
          <p:cNvSpPr txBox="1"/>
          <p:nvPr/>
        </p:nvSpPr>
        <p:spPr>
          <a:xfrm>
            <a:off x="1188720" y="5504688"/>
            <a:ext cx="1554480" cy="594360"/>
          </a:xfrm>
          <a:prstGeom prst="rect">
            <a:avLst/>
          </a:prstGeom>
          <a:noFill/>
        </p:spPr>
        <p:txBody>
          <a:bodyPr wrap="square">
            <a:spAutoFit/>
          </a:bodyPr>
          <a:lstStyle/>
          <a:p>
            <a:pPr algn="l"/>
            <a:r>
              <a:rPr sz="1700" b="0">
                <a:solidFill>
                  <a:srgbClr val="20201E"/>
                </a:solidFill>
                <a:latin typeface="Arial"/>
                <a:ea typeface="Arial"/>
                <a:cs typeface="Arial"/>
              </a:rPr>
              <a:t>Импульс</a:t>
            </a:r>
          </a:p>
        </p:txBody>
      </p:sp>
      <p:sp>
        <p:nvSpPr>
          <p:cNvPr id="98" name="TextBox 97"/>
          <p:cNvSpPr txBox="1"/>
          <p:nvPr/>
        </p:nvSpPr>
        <p:spPr>
          <a:xfrm>
            <a:off x="1965960" y="1645920"/>
            <a:ext cx="2743200" cy="594360"/>
          </a:xfrm>
          <a:prstGeom prst="rect">
            <a:avLst/>
          </a:prstGeom>
          <a:noFill/>
        </p:spPr>
        <p:txBody>
          <a:bodyPr wrap="square">
            <a:spAutoFit/>
          </a:bodyPr>
          <a:lstStyle/>
          <a:p>
            <a:pPr algn="l"/>
            <a:r>
              <a:rPr sz="1700" b="0">
                <a:solidFill>
                  <a:srgbClr val="20201E"/>
                </a:solidFill>
                <a:latin typeface="Arial"/>
                <a:ea typeface="Arial"/>
                <a:cs typeface="Arial"/>
              </a:rPr>
              <a:t>Завышенные ожидания</a:t>
            </a:r>
          </a:p>
        </p:txBody>
      </p:sp>
      <p:sp>
        <p:nvSpPr>
          <p:cNvPr id="99" name="TextBox 98"/>
          <p:cNvSpPr txBox="1"/>
          <p:nvPr/>
        </p:nvSpPr>
        <p:spPr>
          <a:xfrm>
            <a:off x="4206240" y="5074920"/>
            <a:ext cx="2651760" cy="594360"/>
          </a:xfrm>
          <a:prstGeom prst="rect">
            <a:avLst/>
          </a:prstGeom>
          <a:noFill/>
        </p:spPr>
        <p:txBody>
          <a:bodyPr wrap="square">
            <a:spAutoFit/>
          </a:bodyPr>
          <a:lstStyle/>
          <a:p>
            <a:pPr algn="l"/>
            <a:r>
              <a:rPr sz="1700" b="0">
                <a:solidFill>
                  <a:srgbClr val="20201E"/>
                </a:solidFill>
                <a:latin typeface="Arial"/>
                <a:ea typeface="Arial"/>
                <a:cs typeface="Arial"/>
              </a:rPr>
              <a:t>Разочарование</a:t>
            </a:r>
          </a:p>
        </p:txBody>
      </p:sp>
      <p:sp>
        <p:nvSpPr>
          <p:cNvPr id="100" name="TextBox 99"/>
          <p:cNvSpPr txBox="1"/>
          <p:nvPr/>
        </p:nvSpPr>
        <p:spPr>
          <a:xfrm>
            <a:off x="6400800" y="4389120"/>
            <a:ext cx="2057400" cy="594360"/>
          </a:xfrm>
          <a:prstGeom prst="rect">
            <a:avLst/>
          </a:prstGeom>
          <a:noFill/>
        </p:spPr>
        <p:txBody>
          <a:bodyPr wrap="square">
            <a:spAutoFit/>
          </a:bodyPr>
          <a:lstStyle/>
          <a:p>
            <a:pPr algn="l"/>
            <a:r>
              <a:rPr sz="1700" b="0">
                <a:solidFill>
                  <a:srgbClr val="20201E"/>
                </a:solidFill>
                <a:latin typeface="Arial"/>
                <a:ea typeface="Arial"/>
                <a:cs typeface="Arial"/>
              </a:rPr>
              <a:t>Осмысленная практика</a:t>
            </a:r>
          </a:p>
        </p:txBody>
      </p:sp>
      <p:sp>
        <p:nvSpPr>
          <p:cNvPr id="101" name="TextBox 100"/>
          <p:cNvSpPr txBox="1"/>
          <p:nvPr/>
        </p:nvSpPr>
        <p:spPr>
          <a:xfrm>
            <a:off x="8823960" y="3794760"/>
            <a:ext cx="2377440" cy="594360"/>
          </a:xfrm>
          <a:prstGeom prst="rect">
            <a:avLst/>
          </a:prstGeom>
          <a:noFill/>
        </p:spPr>
        <p:txBody>
          <a:bodyPr wrap="square">
            <a:spAutoFit/>
          </a:bodyPr>
          <a:lstStyle/>
          <a:p>
            <a:pPr algn="l"/>
            <a:r>
              <a:rPr sz="1700" b="0">
                <a:solidFill>
                  <a:srgbClr val="20201E"/>
                </a:solidFill>
                <a:latin typeface="Arial"/>
                <a:ea typeface="Arial"/>
                <a:cs typeface="Arial"/>
              </a:rPr>
              <a:t>Продуктивность</a:t>
            </a:r>
          </a:p>
        </p:txBody>
      </p:sp>
      <p:sp>
        <p:nvSpPr>
          <p:cNvPr id="102" name="TextBox 101"/>
          <p:cNvSpPr txBox="1"/>
          <p:nvPr/>
        </p:nvSpPr>
        <p:spPr>
          <a:xfrm>
            <a:off x="8321040" y="1920240"/>
            <a:ext cx="2971800" cy="822960"/>
          </a:xfrm>
          <a:prstGeom prst="rect">
            <a:avLst/>
          </a:prstGeom>
          <a:noFill/>
        </p:spPr>
        <p:txBody>
          <a:bodyPr wrap="square">
            <a:spAutoFit/>
          </a:bodyPr>
          <a:lstStyle/>
          <a:p>
            <a:pPr algn="l"/>
            <a:r>
              <a:rPr sz="1900" b="0">
                <a:solidFill>
                  <a:srgbClr val="66635D"/>
                </a:solidFill>
                <a:latin typeface="Arial"/>
                <a:ea typeface="Arial"/>
                <a:cs typeface="Arial"/>
              </a:rPr>
              <a:t>Схема ожиданий.
Не прогноз окупаемости.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Прогноз, генерация и действие — разные задачи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20</a:t>
            </a:r>
          </a:p>
        </p:txBody>
      </p:sp>
      <p:cxnSp>
        <p:nvCxnSpPr>
          <p:cNvPr id="5" name="Connector 4"/>
          <p:cNvCxnSpPr/>
          <p:nvPr/>
        </p:nvCxnSpPr>
        <p:spPr>
          <a:xfrm>
            <a:off x="640080" y="17007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828800"/>
            <a:ext cx="3776472" cy="822960"/>
          </a:xfrm>
          <a:prstGeom prst="rect">
            <a:avLst/>
          </a:prstGeom>
          <a:noFill/>
        </p:spPr>
        <p:txBody>
          <a:bodyPr wrap="square">
            <a:spAutoFit/>
          </a:bodyPr>
          <a:lstStyle/>
          <a:p>
            <a:pPr algn="l"/>
            <a:r>
              <a:rPr sz="2600" b="0">
                <a:solidFill>
                  <a:srgbClr val="20201E"/>
                </a:solidFill>
                <a:latin typeface="Georgia"/>
                <a:ea typeface="Arial"/>
                <a:cs typeface="Arial"/>
              </a:rPr>
              <a:t>Предсказать</a:t>
            </a:r>
          </a:p>
        </p:txBody>
      </p:sp>
      <p:sp>
        <p:nvSpPr>
          <p:cNvPr id="7" name="TextBox 6"/>
          <p:cNvSpPr txBox="1"/>
          <p:nvPr/>
        </p:nvSpPr>
        <p:spPr>
          <a:xfrm>
            <a:off x="4632350" y="1828800"/>
            <a:ext cx="6689750" cy="822960"/>
          </a:xfrm>
          <a:prstGeom prst="rect">
            <a:avLst/>
          </a:prstGeom>
          <a:noFill/>
        </p:spPr>
        <p:txBody>
          <a:bodyPr wrap="square">
            <a:spAutoFit/>
          </a:bodyPr>
          <a:lstStyle/>
          <a:p>
            <a:pPr algn="l"/>
            <a:r>
              <a:rPr sz="2400" b="0">
                <a:solidFill>
                  <a:srgbClr val="20201E"/>
                </a:solidFill>
                <a:latin typeface="Arial"/>
                <a:ea typeface="Arial"/>
                <a:cs typeface="Arial"/>
              </a:rPr>
              <a:t>Спрос, риск задержки, вероятность отказа</a:t>
            </a:r>
          </a:p>
        </p:txBody>
      </p:sp>
      <p:cxnSp>
        <p:nvCxnSpPr>
          <p:cNvPr id="8" name="Connector 7"/>
          <p:cNvCxnSpPr/>
          <p:nvPr/>
        </p:nvCxnSpPr>
        <p:spPr>
          <a:xfrm>
            <a:off x="640080" y="266090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788920"/>
            <a:ext cx="3776472" cy="822960"/>
          </a:xfrm>
          <a:prstGeom prst="rect">
            <a:avLst/>
          </a:prstGeom>
          <a:noFill/>
        </p:spPr>
        <p:txBody>
          <a:bodyPr wrap="square">
            <a:spAutoFit/>
          </a:bodyPr>
          <a:lstStyle/>
          <a:p>
            <a:pPr algn="l"/>
            <a:r>
              <a:rPr sz="2600" b="0">
                <a:solidFill>
                  <a:srgbClr val="20201E"/>
                </a:solidFill>
                <a:latin typeface="Georgia"/>
                <a:ea typeface="Arial"/>
                <a:cs typeface="Arial"/>
              </a:rPr>
              <a:t>Создать</a:t>
            </a:r>
          </a:p>
        </p:txBody>
      </p:sp>
      <p:sp>
        <p:nvSpPr>
          <p:cNvPr id="10" name="TextBox 9"/>
          <p:cNvSpPr txBox="1"/>
          <p:nvPr/>
        </p:nvSpPr>
        <p:spPr>
          <a:xfrm>
            <a:off x="4632350" y="2788920"/>
            <a:ext cx="6689750" cy="822960"/>
          </a:xfrm>
          <a:prstGeom prst="rect">
            <a:avLst/>
          </a:prstGeom>
          <a:noFill/>
        </p:spPr>
        <p:txBody>
          <a:bodyPr wrap="square">
            <a:spAutoFit/>
          </a:bodyPr>
          <a:lstStyle/>
          <a:p>
            <a:pPr algn="l"/>
            <a:r>
              <a:rPr sz="2400" b="0">
                <a:solidFill>
                  <a:srgbClr val="20201E"/>
                </a:solidFill>
                <a:latin typeface="Arial"/>
                <a:ea typeface="Arial"/>
                <a:cs typeface="Arial"/>
              </a:rPr>
              <a:t>Письмо, изображение, код, варианты</a:t>
            </a:r>
          </a:p>
        </p:txBody>
      </p:sp>
      <p:cxnSp>
        <p:nvCxnSpPr>
          <p:cNvPr id="11" name="Connector 10"/>
          <p:cNvCxnSpPr/>
          <p:nvPr/>
        </p:nvCxnSpPr>
        <p:spPr>
          <a:xfrm>
            <a:off x="640080" y="362102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749039"/>
            <a:ext cx="3776472" cy="822960"/>
          </a:xfrm>
          <a:prstGeom prst="rect">
            <a:avLst/>
          </a:prstGeom>
          <a:noFill/>
        </p:spPr>
        <p:txBody>
          <a:bodyPr wrap="square">
            <a:spAutoFit/>
          </a:bodyPr>
          <a:lstStyle/>
          <a:p>
            <a:pPr algn="l"/>
            <a:r>
              <a:rPr sz="2600" b="0">
                <a:solidFill>
                  <a:srgbClr val="20201E"/>
                </a:solidFill>
                <a:latin typeface="Georgia"/>
                <a:ea typeface="Arial"/>
                <a:cs typeface="Arial"/>
              </a:rPr>
              <a:t>Распознать</a:t>
            </a:r>
          </a:p>
        </p:txBody>
      </p:sp>
      <p:sp>
        <p:nvSpPr>
          <p:cNvPr id="13" name="TextBox 12"/>
          <p:cNvSpPr txBox="1"/>
          <p:nvPr/>
        </p:nvSpPr>
        <p:spPr>
          <a:xfrm>
            <a:off x="4632350" y="3749039"/>
            <a:ext cx="6689750" cy="822960"/>
          </a:xfrm>
          <a:prstGeom prst="rect">
            <a:avLst/>
          </a:prstGeom>
          <a:noFill/>
        </p:spPr>
        <p:txBody>
          <a:bodyPr wrap="square">
            <a:spAutoFit/>
          </a:bodyPr>
          <a:lstStyle/>
          <a:p>
            <a:pPr algn="l"/>
            <a:r>
              <a:rPr sz="2400" b="0">
                <a:solidFill>
                  <a:srgbClr val="20201E"/>
                </a:solidFill>
                <a:latin typeface="Arial"/>
                <a:ea typeface="Arial"/>
                <a:cs typeface="Arial"/>
              </a:rPr>
              <a:t>Речь, поля документа, объекты</a:t>
            </a:r>
          </a:p>
        </p:txBody>
      </p:sp>
      <p:cxnSp>
        <p:nvCxnSpPr>
          <p:cNvPr id="14" name="Connector 13"/>
          <p:cNvCxnSpPr/>
          <p:nvPr/>
        </p:nvCxnSpPr>
        <p:spPr>
          <a:xfrm>
            <a:off x="640080" y="458114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709160"/>
            <a:ext cx="3776472" cy="822960"/>
          </a:xfrm>
          <a:prstGeom prst="rect">
            <a:avLst/>
          </a:prstGeom>
          <a:noFill/>
        </p:spPr>
        <p:txBody>
          <a:bodyPr wrap="square">
            <a:spAutoFit/>
          </a:bodyPr>
          <a:lstStyle/>
          <a:p>
            <a:pPr algn="l"/>
            <a:r>
              <a:rPr sz="2600" b="0">
                <a:solidFill>
                  <a:srgbClr val="20201E"/>
                </a:solidFill>
                <a:latin typeface="Georgia"/>
                <a:ea typeface="Arial"/>
                <a:cs typeface="Arial"/>
              </a:rPr>
              <a:t>Действовать</a:t>
            </a:r>
          </a:p>
        </p:txBody>
      </p:sp>
      <p:sp>
        <p:nvSpPr>
          <p:cNvPr id="16" name="TextBox 15"/>
          <p:cNvSpPr txBox="1"/>
          <p:nvPr/>
        </p:nvSpPr>
        <p:spPr>
          <a:xfrm>
            <a:off x="4632350" y="4709160"/>
            <a:ext cx="6689750" cy="822960"/>
          </a:xfrm>
          <a:prstGeom prst="rect">
            <a:avLst/>
          </a:prstGeom>
          <a:noFill/>
        </p:spPr>
        <p:txBody>
          <a:bodyPr wrap="square">
            <a:spAutoFit/>
          </a:bodyPr>
          <a:lstStyle/>
          <a:p>
            <a:pPr algn="l"/>
            <a:r>
              <a:rPr sz="2400" b="0">
                <a:solidFill>
                  <a:srgbClr val="20201E"/>
                </a:solidFill>
                <a:latin typeface="Arial"/>
                <a:ea typeface="Arial"/>
                <a:cs typeface="Arial"/>
              </a:rPr>
              <a:t>Найти данные, вызвать инструмент, подготовить изменение</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Модель — часть решения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21</a:t>
            </a:r>
          </a:p>
        </p:txBody>
      </p:sp>
      <p:sp>
        <p:nvSpPr>
          <p:cNvPr id="5" name="Rectangle 4"/>
          <p:cNvSpPr/>
          <p:nvPr/>
        </p:nvSpPr>
        <p:spPr>
          <a:xfrm>
            <a:off x="731520" y="1737360"/>
            <a:ext cx="10698480" cy="1115568"/>
          </a:xfrm>
          <a:prstGeom prst="rect">
            <a:avLst/>
          </a:prstGeom>
          <a:solidFill>
            <a:srgbClr val="FFFFFF"/>
          </a:solidFill>
          <a:ln>
            <a:noFill/>
          </a:ln>
        </p:spPr>
        <p:txBody>
          <a:bodyPr rtlCol="0" anchor="ctr"/>
          <a:lstStyle/>
          <a:p>
            <a:pPr algn="ctr"/>
          </a:p>
        </p:txBody>
      </p:sp>
      <p:sp>
        <p:nvSpPr>
          <p:cNvPr id="6" name="TextBox 5"/>
          <p:cNvSpPr txBox="1"/>
          <p:nvPr/>
        </p:nvSpPr>
        <p:spPr>
          <a:xfrm>
            <a:off x="960120" y="1920240"/>
            <a:ext cx="2743200" cy="502920"/>
          </a:xfrm>
          <a:prstGeom prst="rect">
            <a:avLst/>
          </a:prstGeom>
          <a:noFill/>
        </p:spPr>
        <p:txBody>
          <a:bodyPr wrap="square">
            <a:spAutoFit/>
          </a:bodyPr>
          <a:lstStyle/>
          <a:p>
            <a:pPr algn="l"/>
            <a:r>
              <a:rPr sz="2800" b="1">
                <a:solidFill>
                  <a:srgbClr val="20201E"/>
                </a:solidFill>
                <a:latin typeface="Arial"/>
                <a:ea typeface="Arial"/>
                <a:cs typeface="Arial"/>
              </a:rPr>
              <a:t>Модель</a:t>
            </a:r>
          </a:p>
        </p:txBody>
      </p:sp>
      <p:sp>
        <p:nvSpPr>
          <p:cNvPr id="7" name="TextBox 6"/>
          <p:cNvSpPr txBox="1"/>
          <p:nvPr/>
        </p:nvSpPr>
        <p:spPr>
          <a:xfrm>
            <a:off x="4023360" y="1856231"/>
            <a:ext cx="6949440" cy="868680"/>
          </a:xfrm>
          <a:prstGeom prst="rect">
            <a:avLst/>
          </a:prstGeom>
          <a:noFill/>
        </p:spPr>
        <p:txBody>
          <a:bodyPr wrap="square">
            <a:spAutoFit/>
          </a:bodyPr>
          <a:lstStyle/>
          <a:p>
            <a:pPr algn="l"/>
            <a:r>
              <a:rPr sz="2500" b="0">
                <a:solidFill>
                  <a:srgbClr val="20201E"/>
                </a:solidFill>
                <a:latin typeface="Arial"/>
                <a:ea typeface="Arial"/>
                <a:cs typeface="Arial"/>
              </a:rPr>
              <a:t>Обрабатывает вход
и строит ответ</a:t>
            </a:r>
          </a:p>
        </p:txBody>
      </p:sp>
      <p:sp>
        <p:nvSpPr>
          <p:cNvPr id="8" name="Rectangle 7"/>
          <p:cNvSpPr/>
          <p:nvPr/>
        </p:nvSpPr>
        <p:spPr>
          <a:xfrm>
            <a:off x="731520" y="3044952"/>
            <a:ext cx="10698480" cy="1115568"/>
          </a:xfrm>
          <a:prstGeom prst="rect">
            <a:avLst/>
          </a:prstGeom>
          <a:solidFill>
            <a:srgbClr val="E8E3D8"/>
          </a:solidFill>
          <a:ln>
            <a:noFill/>
          </a:ln>
        </p:spPr>
        <p:txBody>
          <a:bodyPr rtlCol="0" anchor="ctr"/>
          <a:lstStyle/>
          <a:p>
            <a:pPr algn="ctr"/>
          </a:p>
        </p:txBody>
      </p:sp>
      <p:sp>
        <p:nvSpPr>
          <p:cNvPr id="9" name="TextBox 8"/>
          <p:cNvSpPr txBox="1"/>
          <p:nvPr/>
        </p:nvSpPr>
        <p:spPr>
          <a:xfrm>
            <a:off x="960120" y="3227832"/>
            <a:ext cx="2743200" cy="502920"/>
          </a:xfrm>
          <a:prstGeom prst="rect">
            <a:avLst/>
          </a:prstGeom>
          <a:noFill/>
        </p:spPr>
        <p:txBody>
          <a:bodyPr wrap="square">
            <a:spAutoFit/>
          </a:bodyPr>
          <a:lstStyle/>
          <a:p>
            <a:pPr algn="l"/>
            <a:r>
              <a:rPr sz="2800" b="1">
                <a:solidFill>
                  <a:srgbClr val="20201E"/>
                </a:solidFill>
                <a:latin typeface="Arial"/>
                <a:ea typeface="Arial"/>
                <a:cs typeface="Arial"/>
              </a:rPr>
              <a:t>Приложение</a:t>
            </a:r>
          </a:p>
        </p:txBody>
      </p:sp>
      <p:sp>
        <p:nvSpPr>
          <p:cNvPr id="10" name="TextBox 9"/>
          <p:cNvSpPr txBox="1"/>
          <p:nvPr/>
        </p:nvSpPr>
        <p:spPr>
          <a:xfrm>
            <a:off x="4023360" y="3163824"/>
            <a:ext cx="6949440" cy="868680"/>
          </a:xfrm>
          <a:prstGeom prst="rect">
            <a:avLst/>
          </a:prstGeom>
          <a:noFill/>
        </p:spPr>
        <p:txBody>
          <a:bodyPr wrap="square">
            <a:spAutoFit/>
          </a:bodyPr>
          <a:lstStyle/>
          <a:p>
            <a:pPr algn="l"/>
            <a:r>
              <a:rPr sz="2500" b="0">
                <a:solidFill>
                  <a:srgbClr val="20201E"/>
                </a:solidFill>
                <a:latin typeface="Arial"/>
                <a:ea typeface="Arial"/>
                <a:cs typeface="Arial"/>
              </a:rPr>
              <a:t>Интерфейс, поиск,
файлы, инструменты</a:t>
            </a:r>
          </a:p>
        </p:txBody>
      </p:sp>
      <p:sp>
        <p:nvSpPr>
          <p:cNvPr id="11" name="Rectangle 10"/>
          <p:cNvSpPr/>
          <p:nvPr/>
        </p:nvSpPr>
        <p:spPr>
          <a:xfrm>
            <a:off x="731520" y="4352544"/>
            <a:ext cx="10698480" cy="1115568"/>
          </a:xfrm>
          <a:prstGeom prst="rect">
            <a:avLst/>
          </a:prstGeom>
          <a:solidFill>
            <a:srgbClr val="C5422D"/>
          </a:solidFill>
          <a:ln>
            <a:noFill/>
          </a:ln>
        </p:spPr>
        <p:txBody>
          <a:bodyPr rtlCol="0" anchor="ctr"/>
          <a:lstStyle/>
          <a:p>
            <a:pPr algn="ctr"/>
          </a:p>
        </p:txBody>
      </p:sp>
      <p:sp>
        <p:nvSpPr>
          <p:cNvPr id="12" name="TextBox 11"/>
          <p:cNvSpPr txBox="1"/>
          <p:nvPr/>
        </p:nvSpPr>
        <p:spPr>
          <a:xfrm>
            <a:off x="960120" y="4535424"/>
            <a:ext cx="2743200" cy="502920"/>
          </a:xfrm>
          <a:prstGeom prst="rect">
            <a:avLst/>
          </a:prstGeom>
          <a:noFill/>
        </p:spPr>
        <p:txBody>
          <a:bodyPr wrap="square">
            <a:spAutoFit/>
          </a:bodyPr>
          <a:lstStyle/>
          <a:p>
            <a:pPr algn="l"/>
            <a:r>
              <a:rPr sz="2800" b="1">
                <a:solidFill>
                  <a:srgbClr val="FFFFFF"/>
                </a:solidFill>
                <a:latin typeface="Arial"/>
                <a:ea typeface="Arial"/>
                <a:cs typeface="Arial"/>
              </a:rPr>
              <a:t>Процесс</a:t>
            </a:r>
          </a:p>
        </p:txBody>
      </p:sp>
      <p:sp>
        <p:nvSpPr>
          <p:cNvPr id="13" name="TextBox 12"/>
          <p:cNvSpPr txBox="1"/>
          <p:nvPr/>
        </p:nvSpPr>
        <p:spPr>
          <a:xfrm>
            <a:off x="4023360" y="4471416"/>
            <a:ext cx="6949440" cy="868680"/>
          </a:xfrm>
          <a:prstGeom prst="rect">
            <a:avLst/>
          </a:prstGeom>
          <a:noFill/>
        </p:spPr>
        <p:txBody>
          <a:bodyPr wrap="square">
            <a:spAutoFit/>
          </a:bodyPr>
          <a:lstStyle/>
          <a:p>
            <a:pPr algn="l"/>
            <a:r>
              <a:rPr sz="2500" b="0">
                <a:solidFill>
                  <a:srgbClr val="FFFFFF"/>
                </a:solidFill>
                <a:latin typeface="Arial"/>
                <a:ea typeface="Arial"/>
                <a:cs typeface="Arial"/>
              </a:rPr>
              <a:t>Кто запускает, проверяет
и отвечает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В ландшафте полезнее искать семейства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Официальные страницы поставщиков · ссылки в справочном разделе и заметках</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22</a:t>
            </a:r>
          </a:p>
        </p:txBody>
      </p:sp>
      <p:cxnSp>
        <p:nvCxnSpPr>
          <p:cNvPr id="5" name="Connector 4"/>
          <p:cNvCxnSpPr/>
          <p:nvPr/>
        </p:nvCxnSpPr>
        <p:spPr>
          <a:xfrm>
            <a:off x="640080" y="183794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965960"/>
            <a:ext cx="3776472" cy="941832"/>
          </a:xfrm>
          <a:prstGeom prst="rect">
            <a:avLst/>
          </a:prstGeom>
          <a:noFill/>
        </p:spPr>
        <p:txBody>
          <a:bodyPr wrap="square">
            <a:spAutoFit/>
          </a:bodyPr>
          <a:lstStyle/>
          <a:p>
            <a:pPr algn="l"/>
            <a:r>
              <a:rPr sz="2600" b="0">
                <a:solidFill>
                  <a:srgbClr val="20201E"/>
                </a:solidFill>
                <a:latin typeface="Georgia"/>
                <a:ea typeface="Arial"/>
                <a:cs typeface="Arial"/>
              </a:rPr>
              <a:t>Универсальные</a:t>
            </a:r>
          </a:p>
        </p:txBody>
      </p:sp>
      <p:sp>
        <p:nvSpPr>
          <p:cNvPr id="7" name="TextBox 6"/>
          <p:cNvSpPr txBox="1"/>
          <p:nvPr/>
        </p:nvSpPr>
        <p:spPr>
          <a:xfrm>
            <a:off x="4632350" y="1965960"/>
            <a:ext cx="6689750" cy="941832"/>
          </a:xfrm>
          <a:prstGeom prst="rect">
            <a:avLst/>
          </a:prstGeom>
          <a:noFill/>
        </p:spPr>
        <p:txBody>
          <a:bodyPr wrap="square">
            <a:spAutoFit/>
          </a:bodyPr>
          <a:lstStyle/>
          <a:p>
            <a:pPr algn="l"/>
            <a:r>
              <a:rPr sz="2400" b="0">
                <a:solidFill>
                  <a:srgbClr val="20201E"/>
                </a:solidFill>
                <a:latin typeface="Arial"/>
                <a:ea typeface="Arial"/>
                <a:cs typeface="Arial"/>
              </a:rPr>
              <a:t>GPT / Claude / Gemini</a:t>
            </a:r>
          </a:p>
        </p:txBody>
      </p:sp>
      <p:cxnSp>
        <p:nvCxnSpPr>
          <p:cNvPr id="8" name="Connector 7"/>
          <p:cNvCxnSpPr/>
          <p:nvPr/>
        </p:nvCxnSpPr>
        <p:spPr>
          <a:xfrm>
            <a:off x="640080" y="29169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3044952"/>
            <a:ext cx="3776472" cy="941832"/>
          </a:xfrm>
          <a:prstGeom prst="rect">
            <a:avLst/>
          </a:prstGeom>
          <a:noFill/>
        </p:spPr>
        <p:txBody>
          <a:bodyPr wrap="square">
            <a:spAutoFit/>
          </a:bodyPr>
          <a:lstStyle/>
          <a:p>
            <a:pPr algn="l"/>
            <a:r>
              <a:rPr sz="2600" b="0">
                <a:solidFill>
                  <a:srgbClr val="20201E"/>
                </a:solidFill>
                <a:latin typeface="Georgia"/>
                <a:ea typeface="Arial"/>
                <a:cs typeface="Arial"/>
              </a:rPr>
              <a:t>Русскоязычные сервисы</a:t>
            </a:r>
          </a:p>
        </p:txBody>
      </p:sp>
      <p:sp>
        <p:nvSpPr>
          <p:cNvPr id="10" name="TextBox 9"/>
          <p:cNvSpPr txBox="1"/>
          <p:nvPr/>
        </p:nvSpPr>
        <p:spPr>
          <a:xfrm>
            <a:off x="4632350" y="3044952"/>
            <a:ext cx="6689750" cy="941832"/>
          </a:xfrm>
          <a:prstGeom prst="rect">
            <a:avLst/>
          </a:prstGeom>
          <a:noFill/>
        </p:spPr>
        <p:txBody>
          <a:bodyPr wrap="square">
            <a:spAutoFit/>
          </a:bodyPr>
          <a:lstStyle/>
          <a:p>
            <a:pPr algn="l"/>
            <a:r>
              <a:rPr sz="2400" b="0">
                <a:solidFill>
                  <a:srgbClr val="20201E"/>
                </a:solidFill>
                <a:latin typeface="Arial"/>
                <a:ea typeface="Arial"/>
                <a:cs typeface="Arial"/>
              </a:rPr>
              <a:t>Алиса AI / ГигаЧат</a:t>
            </a:r>
          </a:p>
        </p:txBody>
      </p:sp>
      <p:cxnSp>
        <p:nvCxnSpPr>
          <p:cNvPr id="11" name="Connector 10"/>
          <p:cNvCxnSpPr/>
          <p:nvPr/>
        </p:nvCxnSpPr>
        <p:spPr>
          <a:xfrm>
            <a:off x="640080" y="399592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4123944"/>
            <a:ext cx="3776472" cy="941832"/>
          </a:xfrm>
          <a:prstGeom prst="rect">
            <a:avLst/>
          </a:prstGeom>
          <a:noFill/>
        </p:spPr>
        <p:txBody>
          <a:bodyPr wrap="square">
            <a:spAutoFit/>
          </a:bodyPr>
          <a:lstStyle/>
          <a:p>
            <a:pPr algn="l"/>
            <a:r>
              <a:rPr sz="2600" b="0">
                <a:solidFill>
                  <a:srgbClr val="20201E"/>
                </a:solidFill>
                <a:latin typeface="Georgia"/>
                <a:ea typeface="Arial"/>
                <a:cs typeface="Arial"/>
              </a:rPr>
              <a:t>Распространяемые веса</a:t>
            </a:r>
          </a:p>
        </p:txBody>
      </p:sp>
      <p:sp>
        <p:nvSpPr>
          <p:cNvPr id="13" name="TextBox 12"/>
          <p:cNvSpPr txBox="1"/>
          <p:nvPr/>
        </p:nvSpPr>
        <p:spPr>
          <a:xfrm>
            <a:off x="4632350" y="4123944"/>
            <a:ext cx="6689750" cy="941832"/>
          </a:xfrm>
          <a:prstGeom prst="rect">
            <a:avLst/>
          </a:prstGeom>
          <a:noFill/>
        </p:spPr>
        <p:txBody>
          <a:bodyPr wrap="square">
            <a:spAutoFit/>
          </a:bodyPr>
          <a:lstStyle/>
          <a:p>
            <a:pPr algn="l"/>
            <a:r>
              <a:rPr sz="2400" b="0">
                <a:solidFill>
                  <a:srgbClr val="20201E"/>
                </a:solidFill>
                <a:latin typeface="Arial"/>
                <a:ea typeface="Arial"/>
                <a:cs typeface="Arial"/>
              </a:rPr>
              <a:t>Qwen / DeepSeek / Mistral</a:t>
            </a:r>
          </a:p>
        </p:txBody>
      </p:sp>
      <p:sp>
        <p:nvSpPr>
          <p:cNvPr id="14" name="Rectangle 13"/>
          <p:cNvSpPr/>
          <p:nvPr/>
        </p:nvSpPr>
        <p:spPr>
          <a:xfrm>
            <a:off x="731520" y="5349240"/>
            <a:ext cx="10698480" cy="594360"/>
          </a:xfrm>
          <a:prstGeom prst="rect">
            <a:avLst/>
          </a:prstGeom>
          <a:solidFill>
            <a:srgbClr val="E8E3D8"/>
          </a:solidFill>
          <a:ln>
            <a:noFill/>
          </a:ln>
        </p:spPr>
        <p:txBody>
          <a:bodyPr rtlCol="0" anchor="ctr"/>
          <a:lstStyle/>
          <a:p>
            <a:pPr algn="ctr"/>
          </a:p>
        </p:txBody>
      </p:sp>
      <p:sp>
        <p:nvSpPr>
          <p:cNvPr id="15" name="TextBox 14"/>
          <p:cNvSpPr txBox="1"/>
          <p:nvPr/>
        </p:nvSpPr>
        <p:spPr>
          <a:xfrm>
            <a:off x="914400" y="5468112"/>
            <a:ext cx="10241280" cy="411480"/>
          </a:xfrm>
          <a:prstGeom prst="rect">
            <a:avLst/>
          </a:prstGeom>
          <a:noFill/>
        </p:spPr>
        <p:txBody>
          <a:bodyPr wrap="square">
            <a:spAutoFit/>
          </a:bodyPr>
          <a:lstStyle/>
          <a:p>
            <a:pPr algn="l"/>
            <a:r>
              <a:rPr sz="2200" b="1">
                <a:solidFill>
                  <a:srgbClr val="20201E"/>
                </a:solidFill>
                <a:latin typeface="Arial"/>
                <a:ea typeface="Arial"/>
                <a:cs typeface="Arial"/>
              </a:rPr>
              <a:t>Сравниваем на своей задаче: качество, данные, время, стоимость.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От чата к агенту: растёт объём полномочий</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Anthropic · Building effective agents · anthropic.com/engineering/building-effective-agents</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23</a:t>
            </a:r>
          </a:p>
        </p:txBody>
      </p:sp>
      <p:sp>
        <p:nvSpPr>
          <p:cNvPr id="5" name="TextBox 4"/>
          <p:cNvSpPr txBox="1"/>
          <p:nvPr/>
        </p:nvSpPr>
        <p:spPr>
          <a:xfrm>
            <a:off x="640080" y="2194560"/>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6517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816352"/>
            <a:ext cx="2409444" cy="1261872"/>
          </a:xfrm>
          <a:prstGeom prst="rect">
            <a:avLst/>
          </a:prstGeom>
          <a:noFill/>
        </p:spPr>
        <p:txBody>
          <a:bodyPr wrap="square">
            <a:spAutoFit/>
          </a:bodyPr>
          <a:lstStyle/>
          <a:p>
            <a:pPr algn="l"/>
            <a:r>
              <a:rPr sz="2200" b="0">
                <a:solidFill>
                  <a:srgbClr val="20201E"/>
                </a:solidFill>
                <a:latin typeface="Georgia"/>
                <a:ea typeface="Arial"/>
                <a:cs typeface="Arial"/>
              </a:rPr>
              <a:t>Чат
Ответить</a:t>
            </a:r>
          </a:p>
        </p:txBody>
      </p:sp>
      <p:sp>
        <p:nvSpPr>
          <p:cNvPr id="8" name="Right Arrow 7"/>
          <p:cNvSpPr/>
          <p:nvPr/>
        </p:nvSpPr>
        <p:spPr>
          <a:xfrm>
            <a:off x="3131820" y="257860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3433572" y="2194560"/>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3433572" y="26517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433572" y="2816352"/>
            <a:ext cx="2409444" cy="1261872"/>
          </a:xfrm>
          <a:prstGeom prst="rect">
            <a:avLst/>
          </a:prstGeom>
          <a:noFill/>
        </p:spPr>
        <p:txBody>
          <a:bodyPr wrap="square">
            <a:spAutoFit/>
          </a:bodyPr>
          <a:lstStyle/>
          <a:p>
            <a:pPr algn="l"/>
            <a:r>
              <a:rPr sz="2200" b="0">
                <a:solidFill>
                  <a:srgbClr val="20201E"/>
                </a:solidFill>
                <a:latin typeface="Georgia"/>
                <a:ea typeface="Arial"/>
                <a:cs typeface="Arial"/>
              </a:rPr>
              <a:t>Ассистент
Помочь с задачей</a:t>
            </a:r>
          </a:p>
        </p:txBody>
      </p:sp>
      <p:sp>
        <p:nvSpPr>
          <p:cNvPr id="12" name="Right Arrow 11"/>
          <p:cNvSpPr/>
          <p:nvPr/>
        </p:nvSpPr>
        <p:spPr>
          <a:xfrm>
            <a:off x="5925312" y="257860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6227064" y="2194560"/>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6227064" y="26517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27064" y="2816352"/>
            <a:ext cx="2409444" cy="1261872"/>
          </a:xfrm>
          <a:prstGeom prst="rect">
            <a:avLst/>
          </a:prstGeom>
          <a:noFill/>
        </p:spPr>
        <p:txBody>
          <a:bodyPr wrap="square">
            <a:spAutoFit/>
          </a:bodyPr>
          <a:lstStyle/>
          <a:p>
            <a:pPr algn="l"/>
            <a:r>
              <a:rPr sz="2200" b="0">
                <a:solidFill>
                  <a:srgbClr val="20201E"/>
                </a:solidFill>
                <a:latin typeface="Georgia"/>
                <a:ea typeface="Arial"/>
                <a:cs typeface="Arial"/>
              </a:rPr>
              <a:t>Сценарий
Пройти шаги</a:t>
            </a:r>
          </a:p>
        </p:txBody>
      </p:sp>
      <p:sp>
        <p:nvSpPr>
          <p:cNvPr id="16" name="Right Arrow 15"/>
          <p:cNvSpPr/>
          <p:nvPr/>
        </p:nvSpPr>
        <p:spPr>
          <a:xfrm>
            <a:off x="8718804" y="257860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9020556" y="2194560"/>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9020556" y="265176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020556" y="2816352"/>
            <a:ext cx="2409444" cy="1261872"/>
          </a:xfrm>
          <a:prstGeom prst="rect">
            <a:avLst/>
          </a:prstGeom>
          <a:noFill/>
        </p:spPr>
        <p:txBody>
          <a:bodyPr wrap="square">
            <a:spAutoFit/>
          </a:bodyPr>
          <a:lstStyle/>
          <a:p>
            <a:pPr algn="l"/>
            <a:r>
              <a:rPr sz="2200" b="0">
                <a:solidFill>
                  <a:srgbClr val="20201E"/>
                </a:solidFill>
                <a:latin typeface="Georgia"/>
                <a:ea typeface="Arial"/>
                <a:cs typeface="Arial"/>
              </a:rPr>
              <a:t>Агент
Выбрать шаги</a:t>
            </a:r>
          </a:p>
        </p:txBody>
      </p:sp>
      <p:sp>
        <p:nvSpPr>
          <p:cNvPr id="20" name="TextBox 19"/>
          <p:cNvSpPr txBox="1"/>
          <p:nvPr/>
        </p:nvSpPr>
        <p:spPr>
          <a:xfrm>
            <a:off x="914400" y="4297680"/>
            <a:ext cx="10332720" cy="914400"/>
          </a:xfrm>
          <a:prstGeom prst="rect">
            <a:avLst/>
          </a:prstGeom>
          <a:noFill/>
        </p:spPr>
        <p:txBody>
          <a:bodyPr wrap="square">
            <a:spAutoFit/>
          </a:bodyPr>
          <a:lstStyle/>
          <a:p>
            <a:pPr algn="l"/>
            <a:r>
              <a:rPr sz="2600" b="0">
                <a:solidFill>
                  <a:srgbClr val="20201E"/>
                </a:solidFill>
                <a:latin typeface="Arial"/>
                <a:ea typeface="Arial"/>
                <a:cs typeface="Arial"/>
              </a:rPr>
              <a:t>Контекст + инструменты + разрешения
Свобода действий требует отдельного решения менеджера.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Скрайбер снимает часть документирования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Kaiser Permanente DOR / NEJM Catalyst · 2024 · doi:10.1056/cat.23.0404</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24</a:t>
            </a:r>
          </a:p>
        </p:txBody>
      </p:sp>
      <p:sp>
        <p:nvSpPr>
          <p:cNvPr id="5" name="TextBox 4"/>
          <p:cNvSpPr txBox="1"/>
          <p:nvPr/>
        </p:nvSpPr>
        <p:spPr>
          <a:xfrm>
            <a:off x="640080" y="2194560"/>
            <a:ext cx="3340608"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6517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816352"/>
            <a:ext cx="3340608" cy="1261872"/>
          </a:xfrm>
          <a:prstGeom prst="rect">
            <a:avLst/>
          </a:prstGeom>
          <a:noFill/>
        </p:spPr>
        <p:txBody>
          <a:bodyPr wrap="square">
            <a:spAutoFit/>
          </a:bodyPr>
          <a:lstStyle/>
          <a:p>
            <a:pPr algn="l"/>
            <a:r>
              <a:rPr sz="2600" b="0">
                <a:solidFill>
                  <a:srgbClr val="20201E"/>
                </a:solidFill>
                <a:latin typeface="Georgia"/>
                <a:ea typeface="Arial"/>
                <a:cs typeface="Arial"/>
              </a:rPr>
              <a:t>Разговор</a:t>
            </a:r>
          </a:p>
        </p:txBody>
      </p:sp>
      <p:sp>
        <p:nvSpPr>
          <p:cNvPr id="8" name="Right Arrow 7"/>
          <p:cNvSpPr/>
          <p:nvPr/>
        </p:nvSpPr>
        <p:spPr>
          <a:xfrm>
            <a:off x="4062984" y="257860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4364736" y="2194560"/>
            <a:ext cx="3340608"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4364736" y="26517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364736" y="2816352"/>
            <a:ext cx="3340608" cy="1261872"/>
          </a:xfrm>
          <a:prstGeom prst="rect">
            <a:avLst/>
          </a:prstGeom>
          <a:noFill/>
        </p:spPr>
        <p:txBody>
          <a:bodyPr wrap="square">
            <a:spAutoFit/>
          </a:bodyPr>
          <a:lstStyle/>
          <a:p>
            <a:pPr algn="l"/>
            <a:r>
              <a:rPr sz="2600" b="0">
                <a:solidFill>
                  <a:srgbClr val="20201E"/>
                </a:solidFill>
                <a:latin typeface="Georgia"/>
                <a:ea typeface="Arial"/>
                <a:cs typeface="Arial"/>
              </a:rPr>
              <a:t>Черновик
записи</a:t>
            </a:r>
          </a:p>
        </p:txBody>
      </p:sp>
      <p:sp>
        <p:nvSpPr>
          <p:cNvPr id="12" name="Right Arrow 11"/>
          <p:cNvSpPr/>
          <p:nvPr/>
        </p:nvSpPr>
        <p:spPr>
          <a:xfrm>
            <a:off x="7787640" y="257860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8089392" y="2194560"/>
            <a:ext cx="3340608"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8089392" y="26517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089392" y="2816352"/>
            <a:ext cx="3340608" cy="1261872"/>
          </a:xfrm>
          <a:prstGeom prst="rect">
            <a:avLst/>
          </a:prstGeom>
          <a:noFill/>
        </p:spPr>
        <p:txBody>
          <a:bodyPr wrap="square">
            <a:spAutoFit/>
          </a:bodyPr>
          <a:lstStyle/>
          <a:p>
            <a:pPr algn="l"/>
            <a:r>
              <a:rPr sz="2600" b="0">
                <a:solidFill>
                  <a:srgbClr val="20201E"/>
                </a:solidFill>
                <a:latin typeface="Georgia"/>
                <a:ea typeface="Arial"/>
                <a:cs typeface="Arial"/>
              </a:rPr>
              <a:t>Проверка
специалиста</a:t>
            </a:r>
          </a:p>
        </p:txBody>
      </p:sp>
      <p:sp>
        <p:nvSpPr>
          <p:cNvPr id="16" name="TextBox 15"/>
          <p:cNvSpPr txBox="1"/>
          <p:nvPr/>
        </p:nvSpPr>
        <p:spPr>
          <a:xfrm>
            <a:off x="868680" y="4206240"/>
            <a:ext cx="10241280" cy="1005840"/>
          </a:xfrm>
          <a:prstGeom prst="rect">
            <a:avLst/>
          </a:prstGeom>
          <a:noFill/>
        </p:spPr>
        <p:txBody>
          <a:bodyPr wrap="square">
            <a:spAutoFit/>
          </a:bodyPr>
          <a:lstStyle/>
          <a:p>
            <a:pPr algn="l"/>
            <a:r>
              <a:rPr sz="2900" b="1">
                <a:solidFill>
                  <a:srgbClr val="20201E"/>
                </a:solidFill>
                <a:latin typeface="Arial"/>
                <a:ea typeface="Arial"/>
                <a:cs typeface="Arial"/>
              </a:rPr>
              <a:t>Контакт с человеком остаётся в процессе.
ИИ помогает оформить то, что действительно было сказано.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После брифа нужен проверенный следующий шаг</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Учебная схема для курса · деловой перенос паттерна AI-scribe</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25</a:t>
            </a:r>
          </a:p>
        </p:txBody>
      </p:sp>
      <p:cxnSp>
        <p:nvCxnSpPr>
          <p:cNvPr id="5" name="Connector 4"/>
          <p:cNvCxnSpPr/>
          <p:nvPr/>
        </p:nvCxnSpPr>
        <p:spPr>
          <a:xfrm>
            <a:off x="640080" y="18836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2011680"/>
            <a:ext cx="3776472" cy="960120"/>
          </a:xfrm>
          <a:prstGeom prst="rect">
            <a:avLst/>
          </a:prstGeom>
          <a:noFill/>
        </p:spPr>
        <p:txBody>
          <a:bodyPr wrap="square">
            <a:spAutoFit/>
          </a:bodyPr>
          <a:lstStyle/>
          <a:p>
            <a:pPr algn="l"/>
            <a:r>
              <a:rPr sz="2700" b="0">
                <a:solidFill>
                  <a:srgbClr val="20201E"/>
                </a:solidFill>
                <a:latin typeface="Georgia"/>
                <a:ea typeface="Arial"/>
                <a:cs typeface="Arial"/>
              </a:rPr>
              <a:t>ИИ извлекает</a:t>
            </a:r>
          </a:p>
        </p:txBody>
      </p:sp>
      <p:sp>
        <p:nvSpPr>
          <p:cNvPr id="7" name="TextBox 6"/>
          <p:cNvSpPr txBox="1"/>
          <p:nvPr/>
        </p:nvSpPr>
        <p:spPr>
          <a:xfrm>
            <a:off x="4632350" y="2011680"/>
            <a:ext cx="6689750" cy="960120"/>
          </a:xfrm>
          <a:prstGeom prst="rect">
            <a:avLst/>
          </a:prstGeom>
          <a:noFill/>
        </p:spPr>
        <p:txBody>
          <a:bodyPr wrap="square">
            <a:spAutoFit/>
          </a:bodyPr>
          <a:lstStyle/>
          <a:p>
            <a:pPr algn="l"/>
            <a:r>
              <a:rPr sz="2500" b="0">
                <a:solidFill>
                  <a:srgbClr val="20201E"/>
                </a:solidFill>
                <a:latin typeface="Arial"/>
                <a:ea typeface="Arial"/>
                <a:cs typeface="Arial"/>
              </a:rPr>
              <a:t>Договорённости · вопросы · сроки · пробелы</a:t>
            </a:r>
          </a:p>
        </p:txBody>
      </p:sp>
      <p:cxnSp>
        <p:nvCxnSpPr>
          <p:cNvPr id="8" name="Connector 7"/>
          <p:cNvCxnSpPr/>
          <p:nvPr/>
        </p:nvCxnSpPr>
        <p:spPr>
          <a:xfrm>
            <a:off x="640080" y="298094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3108960"/>
            <a:ext cx="3776472" cy="960120"/>
          </a:xfrm>
          <a:prstGeom prst="rect">
            <a:avLst/>
          </a:prstGeom>
          <a:noFill/>
        </p:spPr>
        <p:txBody>
          <a:bodyPr wrap="square">
            <a:spAutoFit/>
          </a:bodyPr>
          <a:lstStyle/>
          <a:p>
            <a:pPr algn="l"/>
            <a:r>
              <a:rPr sz="2700" b="0">
                <a:solidFill>
                  <a:srgbClr val="20201E"/>
                </a:solidFill>
                <a:latin typeface="Georgia"/>
                <a:ea typeface="Arial"/>
                <a:cs typeface="Arial"/>
              </a:rPr>
              <a:t>Менеджер сверяет</a:t>
            </a:r>
          </a:p>
        </p:txBody>
      </p:sp>
      <p:sp>
        <p:nvSpPr>
          <p:cNvPr id="10" name="TextBox 9"/>
          <p:cNvSpPr txBox="1"/>
          <p:nvPr/>
        </p:nvSpPr>
        <p:spPr>
          <a:xfrm>
            <a:off x="4632350" y="3108960"/>
            <a:ext cx="6689750" cy="960120"/>
          </a:xfrm>
          <a:prstGeom prst="rect">
            <a:avLst/>
          </a:prstGeom>
          <a:noFill/>
        </p:spPr>
        <p:txBody>
          <a:bodyPr wrap="square">
            <a:spAutoFit/>
          </a:bodyPr>
          <a:lstStyle/>
          <a:p>
            <a:pPr algn="l"/>
            <a:r>
              <a:rPr sz="2500" b="0">
                <a:solidFill>
                  <a:srgbClr val="20201E"/>
                </a:solidFill>
                <a:latin typeface="Arial"/>
                <a:ea typeface="Arial"/>
                <a:cs typeface="Arial"/>
              </a:rPr>
              <a:t>Кто что обещал и при каких условиях</a:t>
            </a:r>
          </a:p>
        </p:txBody>
      </p:sp>
      <p:cxnSp>
        <p:nvCxnSpPr>
          <p:cNvPr id="11" name="Connector 10"/>
          <p:cNvCxnSpPr/>
          <p:nvPr/>
        </p:nvCxnSpPr>
        <p:spPr>
          <a:xfrm>
            <a:off x="640080" y="407822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4206240"/>
            <a:ext cx="3776472" cy="960120"/>
          </a:xfrm>
          <a:prstGeom prst="rect">
            <a:avLst/>
          </a:prstGeom>
          <a:noFill/>
        </p:spPr>
        <p:txBody>
          <a:bodyPr wrap="square">
            <a:spAutoFit/>
          </a:bodyPr>
          <a:lstStyle/>
          <a:p>
            <a:pPr algn="l"/>
            <a:r>
              <a:rPr sz="2700" b="0">
                <a:solidFill>
                  <a:srgbClr val="20201E"/>
                </a:solidFill>
                <a:latin typeface="Georgia"/>
                <a:ea typeface="Arial"/>
                <a:cs typeface="Arial"/>
              </a:rPr>
              <a:t>Отправка</a:t>
            </a:r>
          </a:p>
        </p:txBody>
      </p:sp>
      <p:sp>
        <p:nvSpPr>
          <p:cNvPr id="13" name="TextBox 12"/>
          <p:cNvSpPr txBox="1"/>
          <p:nvPr/>
        </p:nvSpPr>
        <p:spPr>
          <a:xfrm>
            <a:off x="4632350" y="4206240"/>
            <a:ext cx="6689750" cy="960120"/>
          </a:xfrm>
          <a:prstGeom prst="rect">
            <a:avLst/>
          </a:prstGeom>
          <a:noFill/>
        </p:spPr>
        <p:txBody>
          <a:bodyPr wrap="square">
            <a:spAutoFit/>
          </a:bodyPr>
          <a:lstStyle/>
          <a:p>
            <a:pPr algn="l"/>
            <a:r>
              <a:rPr sz="2500" b="0">
                <a:solidFill>
                  <a:srgbClr val="20201E"/>
                </a:solidFill>
                <a:latin typeface="Arial"/>
                <a:ea typeface="Arial"/>
                <a:cs typeface="Arial"/>
              </a:rPr>
              <a:t>Только после проверки и подтверждения</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Поддержка: ИИ помогает сотруднику отвечать</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D4CEC3"/>
                </a:solidFill>
                <a:latin typeface="Arial"/>
                <a:ea typeface="Arial"/>
                <a:cs typeface="Arial"/>
              </a:rPr>
              <a:t>Brynjolfsson, Li, Raymond · NBER 2023 · nber.org/digest/20236/measuring-productivity-impact-generative-ai</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26</a:t>
            </a:r>
          </a:p>
        </p:txBody>
      </p:sp>
      <p:sp>
        <p:nvSpPr>
          <p:cNvPr id="5" name="TextBox 4"/>
          <p:cNvSpPr txBox="1"/>
          <p:nvPr/>
        </p:nvSpPr>
        <p:spPr>
          <a:xfrm>
            <a:off x="594360" y="2194560"/>
            <a:ext cx="5212080" cy="1463040"/>
          </a:xfrm>
          <a:prstGeom prst="rect">
            <a:avLst/>
          </a:prstGeom>
          <a:noFill/>
        </p:spPr>
        <p:txBody>
          <a:bodyPr wrap="square">
            <a:spAutoFit/>
          </a:bodyPr>
          <a:lstStyle/>
          <a:p>
            <a:pPr algn="l"/>
            <a:r>
              <a:rPr sz="9200" b="1">
                <a:solidFill>
                  <a:srgbClr val="FFFFFF"/>
                </a:solidFill>
                <a:latin typeface="Arial"/>
                <a:ea typeface="Arial"/>
                <a:cs typeface="Arial"/>
              </a:rPr>
              <a:t>≈14%</a:t>
            </a:r>
          </a:p>
        </p:txBody>
      </p:sp>
      <p:sp>
        <p:nvSpPr>
          <p:cNvPr id="6" name="TextBox 5"/>
          <p:cNvSpPr txBox="1"/>
          <p:nvPr/>
        </p:nvSpPr>
        <p:spPr>
          <a:xfrm>
            <a:off x="731520" y="3931920"/>
            <a:ext cx="5029200" cy="914400"/>
          </a:xfrm>
          <a:prstGeom prst="rect">
            <a:avLst/>
          </a:prstGeom>
          <a:noFill/>
        </p:spPr>
        <p:txBody>
          <a:bodyPr wrap="square">
            <a:spAutoFit/>
          </a:bodyPr>
          <a:lstStyle/>
          <a:p>
            <a:pPr algn="l"/>
            <a:r>
              <a:rPr sz="2600" b="0">
                <a:solidFill>
                  <a:srgbClr val="FFFFFF"/>
                </a:solidFill>
                <a:latin typeface="Arial"/>
                <a:ea typeface="Arial"/>
                <a:cs typeface="Arial"/>
              </a:rPr>
              <a:t>больше решённых
обращений в час</a:t>
            </a:r>
          </a:p>
        </p:txBody>
      </p:sp>
      <p:cxnSp>
        <p:nvCxnSpPr>
          <p:cNvPr id="7" name="Connector 6"/>
          <p:cNvCxnSpPr/>
          <p:nvPr/>
        </p:nvCxnSpPr>
        <p:spPr>
          <a:xfrm>
            <a:off x="6217920" y="2286000"/>
            <a:ext cx="0" cy="2788920"/>
          </a:xfrm>
          <a:prstGeom prst="line">
            <a:avLst/>
          </a:prstGeom>
          <a:ln w="25400">
            <a:solidFill>
              <a:srgbClr val="C5422D"/>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675120" y="2423160"/>
            <a:ext cx="4709160" cy="2286000"/>
          </a:xfrm>
          <a:prstGeom prst="rect">
            <a:avLst/>
          </a:prstGeom>
          <a:noFill/>
        </p:spPr>
        <p:txBody>
          <a:bodyPr wrap="square">
            <a:spAutoFit/>
          </a:bodyPr>
          <a:lstStyle/>
          <a:p>
            <a:pPr algn="l"/>
            <a:r>
              <a:rPr sz="2300" b="0">
                <a:solidFill>
                  <a:srgbClr val="FFFFFF"/>
                </a:solidFill>
                <a:latin typeface="Arial"/>
                <a:ea typeface="Arial"/>
                <a:cs typeface="Arial"/>
              </a:rPr>
              <a:t>Одна компания.
Разный эффект у сотрудников.
Не доказательство
сокращения отдела.</a:t>
            </a:r>
          </a:p>
        </p:txBody>
      </p:sp>
      <p:cxnSp>
        <p:nvCxnSpPr>
          <p:cNvPr id="9" name="Connector 8"/>
          <p:cNvCxnSpPr/>
          <p:nvPr/>
        </p:nvCxnSpPr>
        <p:spPr>
          <a:xfrm>
            <a:off x="731520" y="5760720"/>
            <a:ext cx="10698480" cy="0"/>
          </a:xfrm>
          <a:prstGeom prst="line">
            <a:avLst/>
          </a:prstGeom>
          <a:ln w="12700">
            <a:solidFill>
              <a:srgbClr val="66635D"/>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Unilever пересобирает производство изображений</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Unilever · март 2025 · официальный кейс цифровых двойников продуктов</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27</a:t>
            </a:r>
          </a:p>
        </p:txBody>
      </p:sp>
      <p:pic>
        <p:nvPicPr>
          <p:cNvPr id="5" name="Picture 4" descr="9f685219188bc1a0889453d27f17ca08.png"/>
          <p:cNvPicPr>
            <a:picLocks noChangeAspect="1"/>
          </p:cNvPicPr>
          <p:nvPr/>
        </p:nvPicPr>
        <p:blipFill>
          <a:blip r:embed="rId3"/>
          <a:stretch>
            <a:fillRect/>
          </a:stretch>
        </p:blipFill>
        <p:spPr>
          <a:xfrm>
            <a:off x="640080" y="1691640"/>
            <a:ext cx="6583680" cy="3703320"/>
          </a:xfrm>
          <a:prstGeom prst="rect">
            <a:avLst/>
          </a:prstGeom>
        </p:spPr>
      </p:pic>
      <p:sp>
        <p:nvSpPr>
          <p:cNvPr id="6" name="TextBox 5"/>
          <p:cNvSpPr txBox="1"/>
          <p:nvPr/>
        </p:nvSpPr>
        <p:spPr>
          <a:xfrm>
            <a:off x="7635240" y="1828800"/>
            <a:ext cx="3657600" cy="822960"/>
          </a:xfrm>
          <a:prstGeom prst="rect">
            <a:avLst/>
          </a:prstGeom>
          <a:noFill/>
        </p:spPr>
        <p:txBody>
          <a:bodyPr wrap="square">
            <a:spAutoFit/>
          </a:bodyPr>
          <a:lstStyle/>
          <a:p>
            <a:pPr algn="l"/>
            <a:r>
              <a:rPr sz="3600" b="0">
                <a:solidFill>
                  <a:srgbClr val="C5422D"/>
                </a:solidFill>
                <a:latin typeface="Georgia"/>
                <a:ea typeface="Arial"/>
                <a:cs typeface="Arial"/>
              </a:rPr>
              <a:t>×2 быстрее</a:t>
            </a:r>
          </a:p>
        </p:txBody>
      </p:sp>
      <p:sp>
        <p:nvSpPr>
          <p:cNvPr id="7" name="TextBox 6"/>
          <p:cNvSpPr txBox="1"/>
          <p:nvPr/>
        </p:nvSpPr>
        <p:spPr>
          <a:xfrm>
            <a:off x="7635240" y="2880360"/>
            <a:ext cx="3657600" cy="822960"/>
          </a:xfrm>
          <a:prstGeom prst="rect">
            <a:avLst/>
          </a:prstGeom>
          <a:noFill/>
        </p:spPr>
        <p:txBody>
          <a:bodyPr wrap="square">
            <a:spAutoFit/>
          </a:bodyPr>
          <a:lstStyle/>
          <a:p>
            <a:pPr algn="l"/>
            <a:r>
              <a:rPr sz="3400" b="0">
                <a:solidFill>
                  <a:srgbClr val="C5422D"/>
                </a:solidFill>
                <a:latin typeface="Georgia"/>
                <a:ea typeface="Arial"/>
                <a:cs typeface="Arial"/>
              </a:rPr>
              <a:t>−50% затрат</a:t>
            </a:r>
          </a:p>
        </p:txBody>
      </p:sp>
      <p:sp>
        <p:nvSpPr>
          <p:cNvPr id="8" name="TextBox 7"/>
          <p:cNvSpPr txBox="1"/>
          <p:nvPr/>
        </p:nvSpPr>
        <p:spPr>
          <a:xfrm>
            <a:off x="7635240" y="3977639"/>
            <a:ext cx="3794760" cy="1188720"/>
          </a:xfrm>
          <a:prstGeom prst="rect">
            <a:avLst/>
          </a:prstGeom>
          <a:noFill/>
        </p:spPr>
        <p:txBody>
          <a:bodyPr wrap="square">
            <a:spAutoFit/>
          </a:bodyPr>
          <a:lstStyle/>
          <a:p>
            <a:pPr algn="l"/>
            <a:r>
              <a:rPr sz="2000" b="0">
                <a:solidFill>
                  <a:srgbClr val="66635D"/>
                </a:solidFill>
                <a:latin typeface="Arial"/>
                <a:ea typeface="Arial"/>
                <a:cs typeface="Arial"/>
              </a:rPr>
              <a:t>Производство изображений.
По данным компании, 2025.</a:t>
            </a:r>
          </a:p>
        </p:txBody>
      </p:sp>
      <p:sp>
        <p:nvSpPr>
          <p:cNvPr id="9" name="TextBox 8"/>
          <p:cNvSpPr txBox="1"/>
          <p:nvPr/>
        </p:nvSpPr>
        <p:spPr>
          <a:xfrm>
            <a:off x="731520" y="5532120"/>
            <a:ext cx="10881360" cy="502920"/>
          </a:xfrm>
          <a:prstGeom prst="rect">
            <a:avLst/>
          </a:prstGeom>
          <a:noFill/>
        </p:spPr>
        <p:txBody>
          <a:bodyPr wrap="square">
            <a:spAutoFit/>
          </a:bodyPr>
          <a:lstStyle/>
          <a:p>
            <a:pPr algn="l"/>
            <a:r>
              <a:rPr sz="2300" b="0">
                <a:solidFill>
                  <a:srgbClr val="20201E"/>
                </a:solidFill>
                <a:latin typeface="Arial"/>
                <a:ea typeface="Arial"/>
                <a:cs typeface="Arial"/>
              </a:rPr>
              <a:t>Цифровой двойник → варианты → проверка бренда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Маркетинг меняется по операциям</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Учебная схема маркетингового процесса · не кейс сокращения штата</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28</a:t>
            </a:r>
          </a:p>
        </p:txBody>
      </p:sp>
      <p:sp>
        <p:nvSpPr>
          <p:cNvPr id="5" name="TextBox 4"/>
          <p:cNvSpPr txBox="1"/>
          <p:nvPr/>
        </p:nvSpPr>
        <p:spPr>
          <a:xfrm>
            <a:off x="640080" y="2194560"/>
            <a:ext cx="1850745"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651760"/>
            <a:ext cx="1850745"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816352"/>
            <a:ext cx="1850745" cy="1261872"/>
          </a:xfrm>
          <a:prstGeom prst="rect">
            <a:avLst/>
          </a:prstGeom>
          <a:noFill/>
        </p:spPr>
        <p:txBody>
          <a:bodyPr wrap="square">
            <a:spAutoFit/>
          </a:bodyPr>
          <a:lstStyle/>
          <a:p>
            <a:pPr algn="l"/>
            <a:r>
              <a:rPr sz="2000" b="0">
                <a:solidFill>
                  <a:srgbClr val="20201E"/>
                </a:solidFill>
                <a:latin typeface="Georgia"/>
                <a:ea typeface="Arial"/>
                <a:cs typeface="Arial"/>
              </a:rPr>
              <a:t>Рынок</a:t>
            </a:r>
          </a:p>
        </p:txBody>
      </p:sp>
      <p:sp>
        <p:nvSpPr>
          <p:cNvPr id="8" name="Right Arrow 7"/>
          <p:cNvSpPr/>
          <p:nvPr/>
        </p:nvSpPr>
        <p:spPr>
          <a:xfrm>
            <a:off x="2573121" y="257860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2874873" y="2194560"/>
            <a:ext cx="1850745"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2874873" y="2651760"/>
            <a:ext cx="1850746"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2874873" y="2816352"/>
            <a:ext cx="1850745" cy="1261872"/>
          </a:xfrm>
          <a:prstGeom prst="rect">
            <a:avLst/>
          </a:prstGeom>
          <a:noFill/>
        </p:spPr>
        <p:txBody>
          <a:bodyPr wrap="square">
            <a:spAutoFit/>
          </a:bodyPr>
          <a:lstStyle/>
          <a:p>
            <a:pPr algn="l"/>
            <a:r>
              <a:rPr sz="2000" b="0">
                <a:solidFill>
                  <a:srgbClr val="20201E"/>
                </a:solidFill>
                <a:latin typeface="Georgia"/>
                <a:ea typeface="Arial"/>
                <a:cs typeface="Arial"/>
              </a:rPr>
              <a:t>Бриф</a:t>
            </a:r>
          </a:p>
        </p:txBody>
      </p:sp>
      <p:sp>
        <p:nvSpPr>
          <p:cNvPr id="12" name="Right Arrow 11"/>
          <p:cNvSpPr/>
          <p:nvPr/>
        </p:nvSpPr>
        <p:spPr>
          <a:xfrm>
            <a:off x="4807915" y="257860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5109667" y="2194560"/>
            <a:ext cx="1850745"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5109667" y="2651760"/>
            <a:ext cx="1850745"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5109667" y="2816352"/>
            <a:ext cx="1850745" cy="1261872"/>
          </a:xfrm>
          <a:prstGeom prst="rect">
            <a:avLst/>
          </a:prstGeom>
          <a:noFill/>
        </p:spPr>
        <p:txBody>
          <a:bodyPr wrap="square">
            <a:spAutoFit/>
          </a:bodyPr>
          <a:lstStyle/>
          <a:p>
            <a:pPr algn="l"/>
            <a:r>
              <a:rPr sz="2000" b="0">
                <a:solidFill>
                  <a:srgbClr val="20201E"/>
                </a:solidFill>
                <a:latin typeface="Georgia"/>
                <a:ea typeface="Arial"/>
                <a:cs typeface="Arial"/>
              </a:rPr>
              <a:t>Варианты</a:t>
            </a:r>
          </a:p>
        </p:txBody>
      </p:sp>
      <p:sp>
        <p:nvSpPr>
          <p:cNvPr id="16" name="Right Arrow 15"/>
          <p:cNvSpPr/>
          <p:nvPr/>
        </p:nvSpPr>
        <p:spPr>
          <a:xfrm>
            <a:off x="7042708" y="257860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7344460" y="2194560"/>
            <a:ext cx="1850745"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7344460" y="2651760"/>
            <a:ext cx="1850746"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344460" y="2816352"/>
            <a:ext cx="1850745" cy="1261872"/>
          </a:xfrm>
          <a:prstGeom prst="rect">
            <a:avLst/>
          </a:prstGeom>
          <a:noFill/>
        </p:spPr>
        <p:txBody>
          <a:bodyPr wrap="square">
            <a:spAutoFit/>
          </a:bodyPr>
          <a:lstStyle/>
          <a:p>
            <a:pPr algn="l"/>
            <a:r>
              <a:rPr sz="2000" b="0">
                <a:solidFill>
                  <a:srgbClr val="20201E"/>
                </a:solidFill>
                <a:latin typeface="Georgia"/>
                <a:ea typeface="Arial"/>
                <a:cs typeface="Arial"/>
              </a:rPr>
              <a:t>Сборка</a:t>
            </a:r>
          </a:p>
        </p:txBody>
      </p:sp>
      <p:sp>
        <p:nvSpPr>
          <p:cNvPr id="20" name="Right Arrow 19"/>
          <p:cNvSpPr/>
          <p:nvPr/>
        </p:nvSpPr>
        <p:spPr>
          <a:xfrm>
            <a:off x="9277502" y="2578608"/>
            <a:ext cx="219456" cy="146304"/>
          </a:xfrm>
          <a:prstGeom prst="rightArrow">
            <a:avLst/>
          </a:prstGeom>
          <a:solidFill>
            <a:srgbClr val="C5422D"/>
          </a:solidFill>
          <a:ln>
            <a:noFill/>
          </a:ln>
        </p:spPr>
        <p:txBody>
          <a:bodyPr rtlCol="0" anchor="ctr"/>
          <a:lstStyle/>
          <a:p>
            <a:pPr algn="ctr"/>
          </a:p>
        </p:txBody>
      </p:sp>
      <p:sp>
        <p:nvSpPr>
          <p:cNvPr id="21" name="TextBox 20"/>
          <p:cNvSpPr txBox="1"/>
          <p:nvPr/>
        </p:nvSpPr>
        <p:spPr>
          <a:xfrm>
            <a:off x="9579254" y="2194560"/>
            <a:ext cx="1850745" cy="320040"/>
          </a:xfrm>
          <a:prstGeom prst="rect">
            <a:avLst/>
          </a:prstGeom>
          <a:noFill/>
        </p:spPr>
        <p:txBody>
          <a:bodyPr wrap="square">
            <a:spAutoFit/>
          </a:bodyPr>
          <a:lstStyle/>
          <a:p>
            <a:pPr algn="l"/>
            <a:r>
              <a:rPr sz="1500" b="0">
                <a:solidFill>
                  <a:srgbClr val="C5422D"/>
                </a:solidFill>
                <a:latin typeface="Arial"/>
                <a:ea typeface="Arial"/>
                <a:cs typeface="Arial"/>
              </a:rPr>
              <a:t>5</a:t>
            </a:r>
          </a:p>
        </p:txBody>
      </p:sp>
      <p:cxnSp>
        <p:nvCxnSpPr>
          <p:cNvPr id="22" name="Connector 21"/>
          <p:cNvCxnSpPr/>
          <p:nvPr/>
        </p:nvCxnSpPr>
        <p:spPr>
          <a:xfrm>
            <a:off x="9579254" y="2651760"/>
            <a:ext cx="1850746"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9579254" y="2816352"/>
            <a:ext cx="1850745" cy="1261872"/>
          </a:xfrm>
          <a:prstGeom prst="rect">
            <a:avLst/>
          </a:prstGeom>
          <a:noFill/>
        </p:spPr>
        <p:txBody>
          <a:bodyPr wrap="square">
            <a:spAutoFit/>
          </a:bodyPr>
          <a:lstStyle/>
          <a:p>
            <a:pPr algn="l"/>
            <a:r>
              <a:rPr sz="2000" b="0">
                <a:solidFill>
                  <a:srgbClr val="20201E"/>
                </a:solidFill>
                <a:latin typeface="Georgia"/>
                <a:ea typeface="Arial"/>
                <a:cs typeface="Arial"/>
              </a:rPr>
              <a:t>Запуск</a:t>
            </a:r>
          </a:p>
        </p:txBody>
      </p:sp>
      <p:sp>
        <p:nvSpPr>
          <p:cNvPr id="24" name="TextBox 23"/>
          <p:cNvSpPr txBox="1"/>
          <p:nvPr/>
        </p:nvSpPr>
        <p:spPr>
          <a:xfrm>
            <a:off x="822960" y="4069080"/>
            <a:ext cx="10607040" cy="1371600"/>
          </a:xfrm>
          <a:prstGeom prst="rect">
            <a:avLst/>
          </a:prstGeom>
          <a:noFill/>
        </p:spPr>
        <p:txBody>
          <a:bodyPr wrap="square">
            <a:spAutoFit/>
          </a:bodyPr>
          <a:lstStyle/>
          <a:p>
            <a:pPr algn="l"/>
            <a:r>
              <a:rPr sz="2800" b="1">
                <a:solidFill>
                  <a:srgbClr val="20201E"/>
                </a:solidFill>
                <a:latin typeface="Arial"/>
                <a:ea typeface="Arial"/>
                <a:cs typeface="Arial"/>
              </a:rPr>
              <a:t>ИИ: черновики, адаптации, сборка материалов
Люди: клиент, смысл, права, выбор и бюджет</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Stantec: больше проверенных вариантов для клиента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Autodesk / Stantec · Forma Site Design · autodesk.com/customer-stories/stantec-forma-site-design-story</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29</a:t>
            </a:r>
          </a:p>
        </p:txBody>
      </p:sp>
      <p:pic>
        <p:nvPicPr>
          <p:cNvPr id="5" name="Picture 4" descr="33ac70357ca514ff4b7d5421a8494d57.png"/>
          <p:cNvPicPr>
            <a:picLocks noChangeAspect="1"/>
          </p:cNvPicPr>
          <p:nvPr/>
        </p:nvPicPr>
        <p:blipFill>
          <a:blip r:embed="rId3"/>
          <a:stretch>
            <a:fillRect/>
          </a:stretch>
        </p:blipFill>
        <p:spPr>
          <a:xfrm>
            <a:off x="5303520" y="1691640"/>
            <a:ext cx="6217920" cy="4206240"/>
          </a:xfrm>
          <a:prstGeom prst="rect">
            <a:avLst/>
          </a:prstGeom>
        </p:spPr>
      </p:pic>
      <p:sp>
        <p:nvSpPr>
          <p:cNvPr id="6" name="TextBox 5"/>
          <p:cNvSpPr txBox="1"/>
          <p:nvPr/>
        </p:nvSpPr>
        <p:spPr>
          <a:xfrm>
            <a:off x="731520" y="1783080"/>
            <a:ext cx="4160520" cy="1280160"/>
          </a:xfrm>
          <a:prstGeom prst="rect">
            <a:avLst/>
          </a:prstGeom>
          <a:noFill/>
        </p:spPr>
        <p:txBody>
          <a:bodyPr wrap="square">
            <a:spAutoFit/>
          </a:bodyPr>
          <a:lstStyle/>
          <a:p>
            <a:pPr algn="l"/>
            <a:r>
              <a:rPr sz="2900" b="0">
                <a:solidFill>
                  <a:srgbClr val="C5422D"/>
                </a:solidFill>
                <a:latin typeface="Georgia"/>
                <a:ea typeface="Arial"/>
                <a:cs typeface="Arial"/>
              </a:rPr>
              <a:t>Раньше увидеть
последствия решения</a:t>
            </a:r>
          </a:p>
        </p:txBody>
      </p:sp>
      <p:sp>
        <p:nvSpPr>
          <p:cNvPr id="7" name="TextBox 6"/>
          <p:cNvSpPr txBox="1"/>
          <p:nvPr/>
        </p:nvSpPr>
        <p:spPr>
          <a:xfrm>
            <a:off x="777240" y="3246120"/>
            <a:ext cx="4023360" cy="1645920"/>
          </a:xfrm>
          <a:prstGeom prst="rect">
            <a:avLst/>
          </a:prstGeom>
          <a:noFill/>
        </p:spPr>
        <p:txBody>
          <a:bodyPr wrap="square">
            <a:spAutoFit/>
          </a:bodyPr>
          <a:lstStyle/>
          <a:p>
            <a:pPr algn="l"/>
            <a:r>
              <a:rPr sz="2400" b="0">
                <a:solidFill>
                  <a:srgbClr val="20201E"/>
                </a:solidFill>
                <a:latin typeface="Arial"/>
                <a:ea typeface="Arial"/>
                <a:cs typeface="Arial"/>
              </a:rPr>
              <a:t>Варианты концепции
Анализ и сравнение
Разговор с клиентом</a:t>
            </a:r>
          </a:p>
        </p:txBody>
      </p:sp>
      <p:cxnSp>
        <p:nvCxnSpPr>
          <p:cNvPr id="8" name="Connector 7"/>
          <p:cNvCxnSpPr/>
          <p:nvPr/>
        </p:nvCxnSpPr>
        <p:spPr>
          <a:xfrm>
            <a:off x="777240" y="5120640"/>
            <a:ext cx="388620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77240" y="5349240"/>
            <a:ext cx="4023360" cy="685800"/>
          </a:xfrm>
          <a:prstGeom prst="rect">
            <a:avLst/>
          </a:prstGeom>
          <a:noFill/>
        </p:spPr>
        <p:txBody>
          <a:bodyPr wrap="square">
            <a:spAutoFit/>
          </a:bodyPr>
          <a:lstStyle/>
          <a:p>
            <a:pPr algn="l"/>
            <a:r>
              <a:rPr sz="2000" b="0">
                <a:solidFill>
                  <a:srgbClr val="20201E"/>
                </a:solidFill>
                <a:latin typeface="Arial"/>
                <a:ea typeface="Arial"/>
                <a:cs typeface="Arial"/>
              </a:rPr>
              <a:t>Forma + Revit + визуализация</a:t>
            </a:r>
          </a:p>
        </p:txBody>
      </p:sp>
      <p:sp>
        <p:nvSpPr>
          <p:cNvPr id="10" name="TextBox 9"/>
          <p:cNvSpPr txBox="1"/>
          <p:nvPr/>
        </p:nvSpPr>
        <p:spPr>
          <a:xfrm>
            <a:off x="5394960" y="6016752"/>
            <a:ext cx="6035040" cy="274320"/>
          </a:xfrm>
          <a:prstGeom prst="rect">
            <a:avLst/>
          </a:prstGeom>
          <a:noFill/>
        </p:spPr>
        <p:txBody>
          <a:bodyPr wrap="square">
            <a:spAutoFit/>
          </a:bodyPr>
          <a:lstStyle/>
          <a:p>
            <a:pPr algn="l"/>
            <a:r>
              <a:rPr sz="1100" b="0">
                <a:solidFill>
                  <a:srgbClr val="66635D"/>
                </a:solidFill>
                <a:latin typeface="Arial"/>
                <a:ea typeface="Arial"/>
                <a:cs typeface="Arial"/>
              </a:rPr>
              <a:t>Визуализация проекта · Stantec / Autodesk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Если люди — ценность, куда направить выигрыш?</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Пример Дарьи · гипотезы для архитектурного бюро</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30</a:t>
            </a:r>
          </a:p>
        </p:txBody>
      </p:sp>
      <p:cxnSp>
        <p:nvCxnSpPr>
          <p:cNvPr id="5" name="Connector 4"/>
          <p:cNvCxnSpPr/>
          <p:nvPr/>
        </p:nvCxnSpPr>
        <p:spPr>
          <a:xfrm>
            <a:off x="640080" y="17007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828800"/>
            <a:ext cx="3776472" cy="832104"/>
          </a:xfrm>
          <a:prstGeom prst="rect">
            <a:avLst/>
          </a:prstGeom>
          <a:noFill/>
        </p:spPr>
        <p:txBody>
          <a:bodyPr wrap="square">
            <a:spAutoFit/>
          </a:bodyPr>
          <a:lstStyle/>
          <a:p>
            <a:pPr algn="l"/>
            <a:r>
              <a:rPr sz="2500" b="0">
                <a:solidFill>
                  <a:srgbClr val="20201E"/>
                </a:solidFill>
                <a:latin typeface="Georgia"/>
                <a:ea typeface="Arial"/>
                <a:cs typeface="Arial"/>
              </a:rPr>
              <a:t>Качество</a:t>
            </a:r>
          </a:p>
        </p:txBody>
      </p:sp>
      <p:sp>
        <p:nvSpPr>
          <p:cNvPr id="7" name="TextBox 6"/>
          <p:cNvSpPr txBox="1"/>
          <p:nvPr/>
        </p:nvSpPr>
        <p:spPr>
          <a:xfrm>
            <a:off x="4632350" y="1828800"/>
            <a:ext cx="6689750" cy="832104"/>
          </a:xfrm>
          <a:prstGeom prst="rect">
            <a:avLst/>
          </a:prstGeom>
          <a:noFill/>
        </p:spPr>
        <p:txBody>
          <a:bodyPr wrap="square">
            <a:spAutoFit/>
          </a:bodyPr>
          <a:lstStyle/>
          <a:p>
            <a:pPr algn="l"/>
            <a:r>
              <a:rPr sz="2300" b="0">
                <a:solidFill>
                  <a:srgbClr val="20201E"/>
                </a:solidFill>
                <a:latin typeface="Arial"/>
                <a:ea typeface="Arial"/>
                <a:cs typeface="Arial"/>
              </a:rPr>
              <a:t>Больше проверок и внимания к сложным узлам</a:t>
            </a:r>
          </a:p>
        </p:txBody>
      </p:sp>
      <p:cxnSp>
        <p:nvCxnSpPr>
          <p:cNvPr id="8" name="Connector 7"/>
          <p:cNvCxnSpPr/>
          <p:nvPr/>
        </p:nvCxnSpPr>
        <p:spPr>
          <a:xfrm>
            <a:off x="640080" y="267004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798064"/>
            <a:ext cx="3776472" cy="832104"/>
          </a:xfrm>
          <a:prstGeom prst="rect">
            <a:avLst/>
          </a:prstGeom>
          <a:noFill/>
        </p:spPr>
        <p:txBody>
          <a:bodyPr wrap="square">
            <a:spAutoFit/>
          </a:bodyPr>
          <a:lstStyle/>
          <a:p>
            <a:pPr algn="l"/>
            <a:r>
              <a:rPr sz="2500" b="0">
                <a:solidFill>
                  <a:srgbClr val="20201E"/>
                </a:solidFill>
                <a:latin typeface="Georgia"/>
                <a:ea typeface="Arial"/>
                <a:cs typeface="Arial"/>
              </a:rPr>
              <a:t>Клиент</a:t>
            </a:r>
          </a:p>
        </p:txBody>
      </p:sp>
      <p:sp>
        <p:nvSpPr>
          <p:cNvPr id="10" name="TextBox 9"/>
          <p:cNvSpPr txBox="1"/>
          <p:nvPr/>
        </p:nvSpPr>
        <p:spPr>
          <a:xfrm>
            <a:off x="4632350" y="2798064"/>
            <a:ext cx="6689750" cy="832104"/>
          </a:xfrm>
          <a:prstGeom prst="rect">
            <a:avLst/>
          </a:prstGeom>
          <a:noFill/>
        </p:spPr>
        <p:txBody>
          <a:bodyPr wrap="square">
            <a:spAutoFit/>
          </a:bodyPr>
          <a:lstStyle/>
          <a:p>
            <a:pPr algn="l"/>
            <a:r>
              <a:rPr sz="2300" b="0">
                <a:solidFill>
                  <a:srgbClr val="20201E"/>
                </a:solidFill>
                <a:latin typeface="Arial"/>
                <a:ea typeface="Arial"/>
                <a:cs typeface="Arial"/>
              </a:rPr>
              <a:t>Больше времени на бриф и объяснение вариантов</a:t>
            </a:r>
          </a:p>
        </p:txBody>
      </p:sp>
      <p:cxnSp>
        <p:nvCxnSpPr>
          <p:cNvPr id="11" name="Connector 10"/>
          <p:cNvCxnSpPr/>
          <p:nvPr/>
        </p:nvCxnSpPr>
        <p:spPr>
          <a:xfrm>
            <a:off x="640080" y="363931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767328"/>
            <a:ext cx="3776472" cy="832104"/>
          </a:xfrm>
          <a:prstGeom prst="rect">
            <a:avLst/>
          </a:prstGeom>
          <a:noFill/>
        </p:spPr>
        <p:txBody>
          <a:bodyPr wrap="square">
            <a:spAutoFit/>
          </a:bodyPr>
          <a:lstStyle/>
          <a:p>
            <a:pPr algn="l"/>
            <a:r>
              <a:rPr sz="2500" b="0">
                <a:solidFill>
                  <a:srgbClr val="20201E"/>
                </a:solidFill>
                <a:latin typeface="Georgia"/>
                <a:ea typeface="Arial"/>
                <a:cs typeface="Arial"/>
              </a:rPr>
              <a:t>Новый продукт</a:t>
            </a:r>
          </a:p>
        </p:txBody>
      </p:sp>
      <p:sp>
        <p:nvSpPr>
          <p:cNvPr id="13" name="TextBox 12"/>
          <p:cNvSpPr txBox="1"/>
          <p:nvPr/>
        </p:nvSpPr>
        <p:spPr>
          <a:xfrm>
            <a:off x="4632350" y="3767328"/>
            <a:ext cx="6689750" cy="832104"/>
          </a:xfrm>
          <a:prstGeom prst="rect">
            <a:avLst/>
          </a:prstGeom>
          <a:noFill/>
        </p:spPr>
        <p:txBody>
          <a:bodyPr wrap="square">
            <a:spAutoFit/>
          </a:bodyPr>
          <a:lstStyle/>
          <a:p>
            <a:pPr algn="l"/>
            <a:r>
              <a:rPr sz="2300" b="0">
                <a:solidFill>
                  <a:srgbClr val="20201E"/>
                </a:solidFill>
                <a:latin typeface="Arial"/>
                <a:ea typeface="Arial"/>
                <a:cs typeface="Arial"/>
              </a:rPr>
              <a:t>Быстрая предпроектная услуга для меньших проектов</a:t>
            </a:r>
          </a:p>
        </p:txBody>
      </p:sp>
      <p:cxnSp>
        <p:nvCxnSpPr>
          <p:cNvPr id="14" name="Connector 13"/>
          <p:cNvCxnSpPr/>
          <p:nvPr/>
        </p:nvCxnSpPr>
        <p:spPr>
          <a:xfrm>
            <a:off x="640080" y="460857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736592"/>
            <a:ext cx="3776472" cy="832104"/>
          </a:xfrm>
          <a:prstGeom prst="rect">
            <a:avLst/>
          </a:prstGeom>
          <a:noFill/>
        </p:spPr>
        <p:txBody>
          <a:bodyPr wrap="square">
            <a:spAutoFit/>
          </a:bodyPr>
          <a:lstStyle/>
          <a:p>
            <a:pPr algn="l"/>
            <a:r>
              <a:rPr sz="2500" b="0">
                <a:solidFill>
                  <a:srgbClr val="20201E"/>
                </a:solidFill>
                <a:latin typeface="Georgia"/>
                <a:ea typeface="Arial"/>
                <a:cs typeface="Arial"/>
              </a:rPr>
              <a:t>Устойчивость</a:t>
            </a:r>
          </a:p>
        </p:txBody>
      </p:sp>
      <p:sp>
        <p:nvSpPr>
          <p:cNvPr id="16" name="TextBox 15"/>
          <p:cNvSpPr txBox="1"/>
          <p:nvPr/>
        </p:nvSpPr>
        <p:spPr>
          <a:xfrm>
            <a:off x="4632350" y="4736592"/>
            <a:ext cx="6689750" cy="832104"/>
          </a:xfrm>
          <a:prstGeom prst="rect">
            <a:avLst/>
          </a:prstGeom>
          <a:noFill/>
        </p:spPr>
        <p:txBody>
          <a:bodyPr wrap="square">
            <a:spAutoFit/>
          </a:bodyPr>
          <a:lstStyle/>
          <a:p>
            <a:pPr algn="l"/>
            <a:r>
              <a:rPr sz="2300" b="0">
                <a:solidFill>
                  <a:srgbClr val="20201E"/>
                </a:solidFill>
                <a:latin typeface="Arial"/>
                <a:ea typeface="Arial"/>
                <a:cs typeface="Arial"/>
              </a:rPr>
              <a:t>Меньше авралов и зависимость от переработок</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8E3D8"/>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Обсудите решение бюро — 5 минут</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31</a:t>
            </a:r>
          </a:p>
        </p:txBody>
      </p:sp>
      <p:sp>
        <p:nvSpPr>
          <p:cNvPr id="5" name="TextBox 4"/>
          <p:cNvSpPr txBox="1"/>
          <p:nvPr/>
        </p:nvSpPr>
        <p:spPr>
          <a:xfrm>
            <a:off x="777240" y="1920240"/>
            <a:ext cx="10607040" cy="1188720"/>
          </a:xfrm>
          <a:prstGeom prst="rect">
            <a:avLst/>
          </a:prstGeom>
          <a:noFill/>
        </p:spPr>
        <p:txBody>
          <a:bodyPr wrap="square">
            <a:spAutoFit/>
          </a:bodyPr>
          <a:lstStyle/>
          <a:p>
            <a:pPr algn="l"/>
            <a:r>
              <a:rPr sz="3500" b="1">
                <a:solidFill>
                  <a:srgbClr val="20201E"/>
                </a:solidFill>
                <a:latin typeface="Arial"/>
                <a:ea typeface="Arial"/>
                <a:cs typeface="Arial"/>
              </a:rPr>
              <a:t>Выберите, куда направить
высвободившееся время команды.</a:t>
            </a:r>
          </a:p>
        </p:txBody>
      </p:sp>
      <p:cxnSp>
        <p:nvCxnSpPr>
          <p:cNvPr id="6" name="Connector 5"/>
          <p:cNvCxnSpPr/>
          <p:nvPr/>
        </p:nvCxnSpPr>
        <p:spPr>
          <a:xfrm>
            <a:off x="640080" y="35295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3657600"/>
            <a:ext cx="3776472" cy="594360"/>
          </a:xfrm>
          <a:prstGeom prst="rect">
            <a:avLst/>
          </a:prstGeom>
          <a:noFill/>
        </p:spPr>
        <p:txBody>
          <a:bodyPr wrap="square">
            <a:spAutoFit/>
          </a:bodyPr>
          <a:lstStyle/>
          <a:p>
            <a:pPr algn="l"/>
            <a:r>
              <a:rPr sz="2300" b="0">
                <a:solidFill>
                  <a:srgbClr val="20201E"/>
                </a:solidFill>
                <a:latin typeface="Georgia"/>
                <a:ea typeface="Arial"/>
                <a:cs typeface="Arial"/>
              </a:rPr>
              <a:t>Что проверим?</a:t>
            </a:r>
          </a:p>
        </p:txBody>
      </p:sp>
      <p:sp>
        <p:nvSpPr>
          <p:cNvPr id="8" name="TextBox 7"/>
          <p:cNvSpPr txBox="1"/>
          <p:nvPr/>
        </p:nvSpPr>
        <p:spPr>
          <a:xfrm>
            <a:off x="4632350" y="3657600"/>
            <a:ext cx="6689750" cy="594360"/>
          </a:xfrm>
          <a:prstGeom prst="rect">
            <a:avLst/>
          </a:prstGeom>
          <a:noFill/>
        </p:spPr>
        <p:txBody>
          <a:bodyPr wrap="square">
            <a:spAutoFit/>
          </a:bodyPr>
          <a:lstStyle/>
          <a:p>
            <a:pPr algn="l"/>
            <a:r>
              <a:rPr sz="2100" b="0">
                <a:solidFill>
                  <a:srgbClr val="20201E"/>
                </a:solidFill>
                <a:latin typeface="Arial"/>
                <a:ea typeface="Arial"/>
                <a:cs typeface="Arial"/>
              </a:rPr>
              <a:t>Один клиентский сегмент или одна услуга</a:t>
            </a:r>
          </a:p>
        </p:txBody>
      </p:sp>
      <p:cxnSp>
        <p:nvCxnSpPr>
          <p:cNvPr id="9" name="Connector 8"/>
          <p:cNvCxnSpPr/>
          <p:nvPr/>
        </p:nvCxnSpPr>
        <p:spPr>
          <a:xfrm>
            <a:off x="640080" y="426110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640080" y="4389120"/>
            <a:ext cx="3776472" cy="594360"/>
          </a:xfrm>
          <a:prstGeom prst="rect">
            <a:avLst/>
          </a:prstGeom>
          <a:noFill/>
        </p:spPr>
        <p:txBody>
          <a:bodyPr wrap="square">
            <a:spAutoFit/>
          </a:bodyPr>
          <a:lstStyle/>
          <a:p>
            <a:pPr algn="l"/>
            <a:r>
              <a:rPr sz="2300" b="0">
                <a:solidFill>
                  <a:srgbClr val="20201E"/>
                </a:solidFill>
                <a:latin typeface="Georgia"/>
                <a:ea typeface="Arial"/>
                <a:cs typeface="Arial"/>
              </a:rPr>
              <a:t>По чему решим?</a:t>
            </a:r>
          </a:p>
        </p:txBody>
      </p:sp>
      <p:sp>
        <p:nvSpPr>
          <p:cNvPr id="11" name="TextBox 10"/>
          <p:cNvSpPr txBox="1"/>
          <p:nvPr/>
        </p:nvSpPr>
        <p:spPr>
          <a:xfrm>
            <a:off x="4632350" y="4389120"/>
            <a:ext cx="6689750" cy="594360"/>
          </a:xfrm>
          <a:prstGeom prst="rect">
            <a:avLst/>
          </a:prstGeom>
          <a:noFill/>
        </p:spPr>
        <p:txBody>
          <a:bodyPr wrap="square">
            <a:spAutoFit/>
          </a:bodyPr>
          <a:lstStyle/>
          <a:p>
            <a:pPr algn="l"/>
            <a:r>
              <a:rPr sz="2100" b="0">
                <a:solidFill>
                  <a:srgbClr val="20201E"/>
                </a:solidFill>
                <a:latin typeface="Arial"/>
                <a:ea typeface="Arial"/>
                <a:cs typeface="Arial"/>
              </a:rPr>
              <a:t>Спрос · качество · полное время · нагрузка</a:t>
            </a:r>
          </a:p>
        </p:txBody>
      </p:sp>
      <p:cxnSp>
        <p:nvCxnSpPr>
          <p:cNvPr id="12" name="Connector 11"/>
          <p:cNvCxnSpPr/>
          <p:nvPr/>
        </p:nvCxnSpPr>
        <p:spPr>
          <a:xfrm>
            <a:off x="640080" y="499262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40080" y="5120640"/>
            <a:ext cx="3776472" cy="594360"/>
          </a:xfrm>
          <a:prstGeom prst="rect">
            <a:avLst/>
          </a:prstGeom>
          <a:noFill/>
        </p:spPr>
        <p:txBody>
          <a:bodyPr wrap="square">
            <a:spAutoFit/>
          </a:bodyPr>
          <a:lstStyle/>
          <a:p>
            <a:pPr algn="l"/>
            <a:r>
              <a:rPr sz="2300" b="0">
                <a:solidFill>
                  <a:srgbClr val="20201E"/>
                </a:solidFill>
                <a:latin typeface="Georgia"/>
                <a:ea typeface="Arial"/>
                <a:cs typeface="Arial"/>
              </a:rPr>
              <a:t>Кого вовлечём?</a:t>
            </a:r>
          </a:p>
        </p:txBody>
      </p:sp>
      <p:sp>
        <p:nvSpPr>
          <p:cNvPr id="14" name="TextBox 13"/>
          <p:cNvSpPr txBox="1"/>
          <p:nvPr/>
        </p:nvSpPr>
        <p:spPr>
          <a:xfrm>
            <a:off x="4632350" y="5120640"/>
            <a:ext cx="6689750" cy="594360"/>
          </a:xfrm>
          <a:prstGeom prst="rect">
            <a:avLst/>
          </a:prstGeom>
          <a:noFill/>
        </p:spPr>
        <p:txBody>
          <a:bodyPr wrap="square">
            <a:spAutoFit/>
          </a:bodyPr>
          <a:lstStyle/>
          <a:p>
            <a:pPr algn="l"/>
            <a:r>
              <a:rPr sz="2100" b="0">
                <a:solidFill>
                  <a:srgbClr val="20201E"/>
                </a:solidFill>
                <a:latin typeface="Arial"/>
                <a:ea typeface="Arial"/>
                <a:cs typeface="Arial"/>
              </a:rPr>
              <a:t>Владелец процесса и команда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Посмотрим студенческое решение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Авторский показ Дарьи · проверяем результат на экране</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32</a:t>
            </a:r>
          </a:p>
        </p:txBody>
      </p:sp>
      <p:sp>
        <p:nvSpPr>
          <p:cNvPr id="5" name="TextBox 4"/>
          <p:cNvSpPr txBox="1"/>
          <p:nvPr/>
        </p:nvSpPr>
        <p:spPr>
          <a:xfrm>
            <a:off x="914400" y="2011680"/>
            <a:ext cx="10149840" cy="1005840"/>
          </a:xfrm>
          <a:prstGeom prst="rect">
            <a:avLst/>
          </a:prstGeom>
          <a:noFill/>
        </p:spPr>
        <p:txBody>
          <a:bodyPr wrap="square">
            <a:spAutoFit/>
          </a:bodyPr>
          <a:lstStyle/>
          <a:p>
            <a:pPr algn="l"/>
            <a:r>
              <a:rPr sz="3600" b="1">
                <a:solidFill>
                  <a:srgbClr val="C5422D"/>
                </a:solidFill>
                <a:latin typeface="Arial"/>
                <a:ea typeface="Arial"/>
                <a:cs typeface="Arial"/>
              </a:rPr>
              <a:t>Какую задачу он действительно решает?</a:t>
            </a:r>
          </a:p>
        </p:txBody>
      </p:sp>
      <p:sp>
        <p:nvSpPr>
          <p:cNvPr id="6" name="TextBox 5"/>
          <p:cNvSpPr txBox="1"/>
          <p:nvPr/>
        </p:nvSpPr>
        <p:spPr>
          <a:xfrm>
            <a:off x="914400" y="3657600"/>
            <a:ext cx="10058400" cy="822960"/>
          </a:xfrm>
          <a:prstGeom prst="rect">
            <a:avLst/>
          </a:prstGeom>
          <a:noFill/>
        </p:spPr>
        <p:txBody>
          <a:bodyPr wrap="square">
            <a:spAutoFit/>
          </a:bodyPr>
          <a:lstStyle/>
          <a:p>
            <a:pPr algn="l"/>
            <a:r>
              <a:rPr sz="3000" b="0">
                <a:solidFill>
                  <a:srgbClr val="20201E"/>
                </a:solidFill>
                <a:latin typeface="Arial"/>
                <a:ea typeface="Arial"/>
                <a:cs typeface="Arial"/>
              </a:rPr>
              <a:t>Что уже работает — и где ещё нужен человек?</a:t>
            </a:r>
          </a:p>
        </p:txBody>
      </p:sp>
      <p:sp>
        <p:nvSpPr>
          <p:cNvPr id="7" name="TextBox 6"/>
          <p:cNvSpPr txBox="1"/>
          <p:nvPr/>
        </p:nvSpPr>
        <p:spPr>
          <a:xfrm>
            <a:off x="914400" y="4983480"/>
            <a:ext cx="10058400" cy="731520"/>
          </a:xfrm>
          <a:prstGeom prst="rect">
            <a:avLst/>
          </a:prstGeom>
          <a:noFill/>
        </p:spPr>
        <p:txBody>
          <a:bodyPr wrap="square">
            <a:spAutoFit/>
          </a:bodyPr>
          <a:lstStyle/>
          <a:p>
            <a:pPr algn="l"/>
            <a:r>
              <a:rPr sz="2800" b="0">
                <a:solidFill>
                  <a:srgbClr val="20201E"/>
                </a:solidFill>
                <a:latin typeface="Arial"/>
                <a:ea typeface="Arial"/>
                <a:cs typeface="Arial"/>
              </a:rPr>
              <a:t>Сможет ли другой человек повторить результат?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Человекоцентричность задаёт правила внедрения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D4CEC3"/>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33</a:t>
            </a:r>
          </a:p>
        </p:txBody>
      </p:sp>
      <p:sp>
        <p:nvSpPr>
          <p:cNvPr id="5" name="TextBox 4"/>
          <p:cNvSpPr txBox="1"/>
          <p:nvPr/>
        </p:nvSpPr>
        <p:spPr>
          <a:xfrm>
            <a:off x="777240" y="1828800"/>
            <a:ext cx="10515600" cy="1554480"/>
          </a:xfrm>
          <a:prstGeom prst="rect">
            <a:avLst/>
          </a:prstGeom>
          <a:noFill/>
        </p:spPr>
        <p:txBody>
          <a:bodyPr wrap="square">
            <a:spAutoFit/>
          </a:bodyPr>
          <a:lstStyle/>
          <a:p>
            <a:pPr algn="l"/>
            <a:r>
              <a:rPr sz="4100" b="1">
                <a:solidFill>
                  <a:srgbClr val="FFFFFF"/>
                </a:solidFill>
                <a:latin typeface="Arial"/>
                <a:ea typeface="Arial"/>
                <a:cs typeface="Arial"/>
              </a:rPr>
              <a:t>Для чего нам ИИ,
если мы хотим сохранить команду?</a:t>
            </a:r>
          </a:p>
        </p:txBody>
      </p:sp>
      <p:sp>
        <p:nvSpPr>
          <p:cNvPr id="6" name="TextBox 5"/>
          <p:cNvSpPr txBox="1"/>
          <p:nvPr/>
        </p:nvSpPr>
        <p:spPr>
          <a:xfrm>
            <a:off x="868680" y="4251960"/>
            <a:ext cx="10241280" cy="1280160"/>
          </a:xfrm>
          <a:prstGeom prst="rect">
            <a:avLst/>
          </a:prstGeom>
          <a:noFill/>
        </p:spPr>
        <p:txBody>
          <a:bodyPr wrap="square">
            <a:spAutoFit/>
          </a:bodyPr>
          <a:lstStyle/>
          <a:p>
            <a:pPr algn="l"/>
            <a:r>
              <a:rPr sz="3000" b="0">
                <a:solidFill>
                  <a:srgbClr val="E8E3D8"/>
                </a:solidFill>
                <a:latin typeface="Arial"/>
                <a:ea typeface="Arial"/>
                <a:cs typeface="Arial"/>
              </a:rPr>
              <a:t>Качество сервиса. Новые возможности.
Работа без постоянного аврала.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Anand и Wu: четыре режима делегирования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Anand &amp; Wu · HBR’s 10 Must Reads 2027 · PDF 28–44 · учебная адаптация</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34</a:t>
            </a:r>
          </a:p>
        </p:txBody>
      </p:sp>
      <p:sp>
        <p:nvSpPr>
          <p:cNvPr id="5" name="Rectangle 4"/>
          <p:cNvSpPr/>
          <p:nvPr/>
        </p:nvSpPr>
        <p:spPr>
          <a:xfrm>
            <a:off x="2240280" y="2331720"/>
            <a:ext cx="4343400" cy="1417320"/>
          </a:xfrm>
          <a:prstGeom prst="rect">
            <a:avLst/>
          </a:prstGeom>
          <a:solidFill>
            <a:srgbClr val="FFFFFF"/>
          </a:solidFill>
          <a:ln>
            <a:noFill/>
          </a:ln>
        </p:spPr>
        <p:txBody>
          <a:bodyPr rtlCol="0" anchor="ctr"/>
          <a:lstStyle/>
          <a:p>
            <a:pPr algn="ctr"/>
          </a:p>
        </p:txBody>
      </p:sp>
      <p:sp>
        <p:nvSpPr>
          <p:cNvPr id="6" name="TextBox 5"/>
          <p:cNvSpPr txBox="1"/>
          <p:nvPr/>
        </p:nvSpPr>
        <p:spPr>
          <a:xfrm>
            <a:off x="2404872" y="2514600"/>
            <a:ext cx="4014215" cy="594360"/>
          </a:xfrm>
          <a:prstGeom prst="rect">
            <a:avLst/>
          </a:prstGeom>
          <a:noFill/>
        </p:spPr>
        <p:txBody>
          <a:bodyPr wrap="square">
            <a:spAutoFit/>
          </a:bodyPr>
          <a:lstStyle/>
          <a:p>
            <a:pPr algn="l"/>
            <a:r>
              <a:rPr sz="2300" b="1">
                <a:solidFill>
                  <a:srgbClr val="20201E"/>
                </a:solidFill>
                <a:latin typeface="Arial"/>
                <a:ea typeface="Arial"/>
                <a:cs typeface="Arial"/>
              </a:rPr>
              <a:t>Пробная автоматизация</a:t>
            </a:r>
          </a:p>
        </p:txBody>
      </p:sp>
      <p:sp>
        <p:nvSpPr>
          <p:cNvPr id="7" name="TextBox 6"/>
          <p:cNvSpPr txBox="1"/>
          <p:nvPr/>
        </p:nvSpPr>
        <p:spPr>
          <a:xfrm>
            <a:off x="2404872" y="3200400"/>
            <a:ext cx="4014215" cy="365760"/>
          </a:xfrm>
          <a:prstGeom prst="rect">
            <a:avLst/>
          </a:prstGeom>
          <a:noFill/>
        </p:spPr>
        <p:txBody>
          <a:bodyPr wrap="square">
            <a:spAutoFit/>
          </a:bodyPr>
          <a:lstStyle/>
          <a:p>
            <a:pPr algn="l"/>
            <a:r>
              <a:rPr sz="1900" b="0">
                <a:solidFill>
                  <a:srgbClr val="20201E"/>
                </a:solidFill>
                <a:latin typeface="Arial"/>
                <a:ea typeface="Arial"/>
                <a:cs typeface="Arial"/>
              </a:rPr>
              <a:t>Черновик по правилам</a:t>
            </a:r>
          </a:p>
        </p:txBody>
      </p:sp>
      <p:sp>
        <p:nvSpPr>
          <p:cNvPr id="8" name="Rectangle 7"/>
          <p:cNvSpPr/>
          <p:nvPr/>
        </p:nvSpPr>
        <p:spPr>
          <a:xfrm>
            <a:off x="6720840" y="2331720"/>
            <a:ext cx="4343400" cy="1417320"/>
          </a:xfrm>
          <a:prstGeom prst="rect">
            <a:avLst/>
          </a:prstGeom>
          <a:solidFill>
            <a:srgbClr val="E8E3D8"/>
          </a:solidFill>
          <a:ln>
            <a:noFill/>
          </a:ln>
        </p:spPr>
        <p:txBody>
          <a:bodyPr rtlCol="0" anchor="ctr"/>
          <a:lstStyle/>
          <a:p>
            <a:pPr algn="ctr"/>
          </a:p>
        </p:txBody>
      </p:sp>
      <p:sp>
        <p:nvSpPr>
          <p:cNvPr id="9" name="TextBox 8"/>
          <p:cNvSpPr txBox="1"/>
          <p:nvPr/>
        </p:nvSpPr>
        <p:spPr>
          <a:xfrm>
            <a:off x="6885432" y="2514600"/>
            <a:ext cx="4014215" cy="594360"/>
          </a:xfrm>
          <a:prstGeom prst="rect">
            <a:avLst/>
          </a:prstGeom>
          <a:noFill/>
        </p:spPr>
        <p:txBody>
          <a:bodyPr wrap="square">
            <a:spAutoFit/>
          </a:bodyPr>
          <a:lstStyle/>
          <a:p>
            <a:pPr algn="l"/>
            <a:r>
              <a:rPr sz="2300" b="1">
                <a:solidFill>
                  <a:srgbClr val="20201E"/>
                </a:solidFill>
                <a:latin typeface="Arial"/>
                <a:ea typeface="Arial"/>
                <a:cs typeface="Arial"/>
              </a:rPr>
              <a:t>Варианты вместе с ИИ</a:t>
            </a:r>
          </a:p>
        </p:txBody>
      </p:sp>
      <p:sp>
        <p:nvSpPr>
          <p:cNvPr id="10" name="TextBox 9"/>
          <p:cNvSpPr txBox="1"/>
          <p:nvPr/>
        </p:nvSpPr>
        <p:spPr>
          <a:xfrm>
            <a:off x="6885432" y="3200400"/>
            <a:ext cx="4014215" cy="365760"/>
          </a:xfrm>
          <a:prstGeom prst="rect">
            <a:avLst/>
          </a:prstGeom>
          <a:noFill/>
        </p:spPr>
        <p:txBody>
          <a:bodyPr wrap="square">
            <a:spAutoFit/>
          </a:bodyPr>
          <a:lstStyle/>
          <a:p>
            <a:pPr algn="l"/>
            <a:r>
              <a:rPr sz="1900" b="0">
                <a:solidFill>
                  <a:srgbClr val="20201E"/>
                </a:solidFill>
                <a:latin typeface="Arial"/>
                <a:ea typeface="Arial"/>
                <a:cs typeface="Arial"/>
              </a:rPr>
              <a:t>Поиск идей и репетиция</a:t>
            </a:r>
          </a:p>
        </p:txBody>
      </p:sp>
      <p:sp>
        <p:nvSpPr>
          <p:cNvPr id="11" name="Rectangle 10"/>
          <p:cNvSpPr/>
          <p:nvPr/>
        </p:nvSpPr>
        <p:spPr>
          <a:xfrm>
            <a:off x="2240280" y="3886200"/>
            <a:ext cx="4343400" cy="1417320"/>
          </a:xfrm>
          <a:prstGeom prst="rect">
            <a:avLst/>
          </a:prstGeom>
          <a:solidFill>
            <a:srgbClr val="E8E6DF"/>
          </a:solidFill>
          <a:ln>
            <a:noFill/>
          </a:ln>
        </p:spPr>
        <p:txBody>
          <a:bodyPr rtlCol="0" anchor="ctr"/>
          <a:lstStyle/>
          <a:p>
            <a:pPr algn="ctr"/>
          </a:p>
        </p:txBody>
      </p:sp>
      <p:sp>
        <p:nvSpPr>
          <p:cNvPr id="12" name="TextBox 11"/>
          <p:cNvSpPr txBox="1"/>
          <p:nvPr/>
        </p:nvSpPr>
        <p:spPr>
          <a:xfrm>
            <a:off x="2404872" y="4069080"/>
            <a:ext cx="4014215" cy="594360"/>
          </a:xfrm>
          <a:prstGeom prst="rect">
            <a:avLst/>
          </a:prstGeom>
          <a:noFill/>
        </p:spPr>
        <p:txBody>
          <a:bodyPr wrap="square">
            <a:spAutoFit/>
          </a:bodyPr>
          <a:lstStyle/>
          <a:p>
            <a:pPr algn="l"/>
            <a:r>
              <a:rPr sz="2300" b="1">
                <a:solidFill>
                  <a:srgbClr val="20201E"/>
                </a:solidFill>
                <a:latin typeface="Arial"/>
                <a:ea typeface="Arial"/>
                <a:cs typeface="Arial"/>
              </a:rPr>
              <a:t>Помощь специалисту</a:t>
            </a:r>
          </a:p>
        </p:txBody>
      </p:sp>
      <p:sp>
        <p:nvSpPr>
          <p:cNvPr id="13" name="TextBox 12"/>
          <p:cNvSpPr txBox="1"/>
          <p:nvPr/>
        </p:nvSpPr>
        <p:spPr>
          <a:xfrm>
            <a:off x="2404872" y="4754880"/>
            <a:ext cx="4014215" cy="365760"/>
          </a:xfrm>
          <a:prstGeom prst="rect">
            <a:avLst/>
          </a:prstGeom>
          <a:noFill/>
        </p:spPr>
        <p:txBody>
          <a:bodyPr wrap="square">
            <a:spAutoFit/>
          </a:bodyPr>
          <a:lstStyle/>
          <a:p>
            <a:pPr algn="l"/>
            <a:r>
              <a:rPr sz="1900" b="0">
                <a:solidFill>
                  <a:srgbClr val="20201E"/>
                </a:solidFill>
                <a:latin typeface="Arial"/>
                <a:ea typeface="Arial"/>
                <a:cs typeface="Arial"/>
              </a:rPr>
              <a:t>Сверка условий и расчётов</a:t>
            </a:r>
          </a:p>
        </p:txBody>
      </p:sp>
      <p:sp>
        <p:nvSpPr>
          <p:cNvPr id="14" name="Rectangle 13"/>
          <p:cNvSpPr/>
          <p:nvPr/>
        </p:nvSpPr>
        <p:spPr>
          <a:xfrm>
            <a:off x="6720840" y="3886200"/>
            <a:ext cx="4343400" cy="1417320"/>
          </a:xfrm>
          <a:prstGeom prst="rect">
            <a:avLst/>
          </a:prstGeom>
          <a:solidFill>
            <a:srgbClr val="EBCAC0"/>
          </a:solidFill>
          <a:ln>
            <a:noFill/>
          </a:ln>
        </p:spPr>
        <p:txBody>
          <a:bodyPr rtlCol="0" anchor="ctr"/>
          <a:lstStyle/>
          <a:p>
            <a:pPr algn="ctr"/>
          </a:p>
        </p:txBody>
      </p:sp>
      <p:sp>
        <p:nvSpPr>
          <p:cNvPr id="15" name="TextBox 14"/>
          <p:cNvSpPr txBox="1"/>
          <p:nvPr/>
        </p:nvSpPr>
        <p:spPr>
          <a:xfrm>
            <a:off x="6885432" y="4069080"/>
            <a:ext cx="4014215" cy="594360"/>
          </a:xfrm>
          <a:prstGeom prst="rect">
            <a:avLst/>
          </a:prstGeom>
          <a:noFill/>
        </p:spPr>
        <p:txBody>
          <a:bodyPr wrap="square">
            <a:spAutoFit/>
          </a:bodyPr>
          <a:lstStyle/>
          <a:p>
            <a:pPr algn="l"/>
            <a:r>
              <a:rPr sz="2300" b="1">
                <a:solidFill>
                  <a:srgbClr val="20201E"/>
                </a:solidFill>
                <a:latin typeface="Arial"/>
                <a:ea typeface="Arial"/>
                <a:cs typeface="Arial"/>
              </a:rPr>
              <a:t>Решение человека</a:t>
            </a:r>
          </a:p>
        </p:txBody>
      </p:sp>
      <p:sp>
        <p:nvSpPr>
          <p:cNvPr id="16" name="TextBox 15"/>
          <p:cNvSpPr txBox="1"/>
          <p:nvPr/>
        </p:nvSpPr>
        <p:spPr>
          <a:xfrm>
            <a:off x="6885432" y="4754880"/>
            <a:ext cx="4014215" cy="365760"/>
          </a:xfrm>
          <a:prstGeom prst="rect">
            <a:avLst/>
          </a:prstGeom>
          <a:noFill/>
        </p:spPr>
        <p:txBody>
          <a:bodyPr wrap="square">
            <a:spAutoFit/>
          </a:bodyPr>
          <a:lstStyle/>
          <a:p>
            <a:pPr algn="l"/>
            <a:r>
              <a:rPr sz="1900" b="0">
                <a:solidFill>
                  <a:srgbClr val="20201E"/>
                </a:solidFill>
                <a:latin typeface="Arial"/>
                <a:ea typeface="Arial"/>
                <a:cs typeface="Arial"/>
              </a:rPr>
              <a:t>Обязательства и отношения</a:t>
            </a:r>
          </a:p>
        </p:txBody>
      </p:sp>
      <p:sp>
        <p:nvSpPr>
          <p:cNvPr id="17" name="TextBox 16"/>
          <p:cNvSpPr txBox="1"/>
          <p:nvPr/>
        </p:nvSpPr>
        <p:spPr>
          <a:xfrm>
            <a:off x="2240280" y="1783080"/>
            <a:ext cx="4343400" cy="457200"/>
          </a:xfrm>
          <a:prstGeom prst="rect">
            <a:avLst/>
          </a:prstGeom>
          <a:noFill/>
        </p:spPr>
        <p:txBody>
          <a:bodyPr wrap="square">
            <a:spAutoFit/>
          </a:bodyPr>
          <a:lstStyle/>
          <a:p>
            <a:pPr algn="l"/>
            <a:r>
              <a:rPr sz="2100" b="1">
                <a:solidFill>
                  <a:srgbClr val="C5422D"/>
                </a:solidFill>
                <a:latin typeface="Arial"/>
                <a:ea typeface="Arial"/>
                <a:cs typeface="Arial"/>
              </a:rPr>
              <a:t>Правила и источники</a:t>
            </a:r>
          </a:p>
        </p:txBody>
      </p:sp>
      <p:sp>
        <p:nvSpPr>
          <p:cNvPr id="18" name="TextBox 17"/>
          <p:cNvSpPr txBox="1"/>
          <p:nvPr/>
        </p:nvSpPr>
        <p:spPr>
          <a:xfrm>
            <a:off x="6720840" y="1783080"/>
            <a:ext cx="4343400" cy="457200"/>
          </a:xfrm>
          <a:prstGeom prst="rect">
            <a:avLst/>
          </a:prstGeom>
          <a:noFill/>
        </p:spPr>
        <p:txBody>
          <a:bodyPr wrap="square">
            <a:spAutoFit/>
          </a:bodyPr>
          <a:lstStyle/>
          <a:p>
            <a:pPr algn="l"/>
            <a:r>
              <a:rPr sz="2100" b="1">
                <a:solidFill>
                  <a:srgbClr val="C5422D"/>
                </a:solidFill>
                <a:latin typeface="Arial"/>
                <a:ea typeface="Arial"/>
                <a:cs typeface="Arial"/>
              </a:rPr>
              <a:t>Опыт и контекст</a:t>
            </a:r>
          </a:p>
        </p:txBody>
      </p:sp>
      <p:sp>
        <p:nvSpPr>
          <p:cNvPr id="19" name="TextBox 18"/>
          <p:cNvSpPr txBox="1"/>
          <p:nvPr/>
        </p:nvSpPr>
        <p:spPr>
          <a:xfrm>
            <a:off x="640080" y="2651760"/>
            <a:ext cx="1463040" cy="822960"/>
          </a:xfrm>
          <a:prstGeom prst="rect">
            <a:avLst/>
          </a:prstGeom>
          <a:noFill/>
        </p:spPr>
        <p:txBody>
          <a:bodyPr wrap="square">
            <a:spAutoFit/>
          </a:bodyPr>
          <a:lstStyle/>
          <a:p>
            <a:pPr algn="l"/>
            <a:r>
              <a:rPr sz="1800" b="0">
                <a:solidFill>
                  <a:srgbClr val="20201E"/>
                </a:solidFill>
                <a:latin typeface="Arial"/>
                <a:ea typeface="Arial"/>
                <a:cs typeface="Arial"/>
              </a:rPr>
              <a:t>Низкая цена
ошибки</a:t>
            </a:r>
          </a:p>
        </p:txBody>
      </p:sp>
      <p:sp>
        <p:nvSpPr>
          <p:cNvPr id="20" name="TextBox 19"/>
          <p:cNvSpPr txBox="1"/>
          <p:nvPr/>
        </p:nvSpPr>
        <p:spPr>
          <a:xfrm>
            <a:off x="640080" y="4160520"/>
            <a:ext cx="1463040" cy="822960"/>
          </a:xfrm>
          <a:prstGeom prst="rect">
            <a:avLst/>
          </a:prstGeom>
          <a:noFill/>
        </p:spPr>
        <p:txBody>
          <a:bodyPr wrap="square">
            <a:spAutoFit/>
          </a:bodyPr>
          <a:lstStyle/>
          <a:p>
            <a:pPr algn="l"/>
            <a:r>
              <a:rPr sz="1800" b="0">
                <a:solidFill>
                  <a:srgbClr val="20201E"/>
                </a:solidFill>
                <a:latin typeface="Arial"/>
                <a:ea typeface="Arial"/>
                <a:cs typeface="Arial"/>
              </a:rPr>
              <a:t>Высокая цена
ошибки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Менеджер может сам собрать первую версию</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Практика курса · разграничение прототипа и рабочего запуска</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35</a:t>
            </a:r>
          </a:p>
        </p:txBody>
      </p:sp>
      <p:sp>
        <p:nvSpPr>
          <p:cNvPr id="5" name="TextBox 4"/>
          <p:cNvSpPr txBox="1"/>
          <p:nvPr/>
        </p:nvSpPr>
        <p:spPr>
          <a:xfrm>
            <a:off x="640080" y="2286000"/>
            <a:ext cx="3340608"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74320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907792"/>
            <a:ext cx="3340608" cy="1261872"/>
          </a:xfrm>
          <a:prstGeom prst="rect">
            <a:avLst/>
          </a:prstGeom>
          <a:noFill/>
        </p:spPr>
        <p:txBody>
          <a:bodyPr wrap="square">
            <a:spAutoFit/>
          </a:bodyPr>
          <a:lstStyle/>
          <a:p>
            <a:pPr algn="l"/>
            <a:r>
              <a:rPr sz="2500" b="0">
                <a:solidFill>
                  <a:srgbClr val="20201E"/>
                </a:solidFill>
                <a:latin typeface="Georgia"/>
                <a:ea typeface="Arial"/>
                <a:cs typeface="Arial"/>
              </a:rPr>
              <a:t>Сам попробовать</a:t>
            </a:r>
          </a:p>
        </p:txBody>
      </p:sp>
      <p:sp>
        <p:nvSpPr>
          <p:cNvPr id="8" name="Right Arrow 7"/>
          <p:cNvSpPr/>
          <p:nvPr/>
        </p:nvSpPr>
        <p:spPr>
          <a:xfrm>
            <a:off x="4062984" y="267004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4364736" y="2286000"/>
            <a:ext cx="3340608"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4364736" y="274320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364736" y="2907792"/>
            <a:ext cx="3340608" cy="1261872"/>
          </a:xfrm>
          <a:prstGeom prst="rect">
            <a:avLst/>
          </a:prstGeom>
          <a:noFill/>
        </p:spPr>
        <p:txBody>
          <a:bodyPr wrap="square">
            <a:spAutoFit/>
          </a:bodyPr>
          <a:lstStyle/>
          <a:p>
            <a:pPr algn="l"/>
            <a:r>
              <a:rPr sz="2500" b="0">
                <a:solidFill>
                  <a:srgbClr val="20201E"/>
                </a:solidFill>
                <a:latin typeface="Georgia"/>
                <a:ea typeface="Arial"/>
                <a:cs typeface="Arial"/>
              </a:rPr>
              <a:t>Понять ограничения</a:t>
            </a:r>
          </a:p>
        </p:txBody>
      </p:sp>
      <p:sp>
        <p:nvSpPr>
          <p:cNvPr id="12" name="Right Arrow 11"/>
          <p:cNvSpPr/>
          <p:nvPr/>
        </p:nvSpPr>
        <p:spPr>
          <a:xfrm>
            <a:off x="7787640" y="267004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8089392" y="2286000"/>
            <a:ext cx="3340608"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8089392" y="274320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089392" y="2907792"/>
            <a:ext cx="3340608" cy="1261872"/>
          </a:xfrm>
          <a:prstGeom prst="rect">
            <a:avLst/>
          </a:prstGeom>
          <a:noFill/>
        </p:spPr>
        <p:txBody>
          <a:bodyPr wrap="square">
            <a:spAutoFit/>
          </a:bodyPr>
          <a:lstStyle/>
          <a:p>
            <a:pPr algn="l"/>
            <a:r>
              <a:rPr sz="2500" b="0">
                <a:solidFill>
                  <a:srgbClr val="20201E"/>
                </a:solidFill>
                <a:latin typeface="Georgia"/>
                <a:ea typeface="Arial"/>
                <a:cs typeface="Arial"/>
              </a:rPr>
              <a:t>Передать процесс</a:t>
            </a:r>
          </a:p>
        </p:txBody>
      </p:sp>
      <p:sp>
        <p:nvSpPr>
          <p:cNvPr id="16" name="TextBox 15"/>
          <p:cNvSpPr txBox="1"/>
          <p:nvPr/>
        </p:nvSpPr>
        <p:spPr>
          <a:xfrm>
            <a:off x="868680" y="4343400"/>
            <a:ext cx="10241280" cy="914400"/>
          </a:xfrm>
          <a:prstGeom prst="rect">
            <a:avLst/>
          </a:prstGeom>
          <a:noFill/>
        </p:spPr>
        <p:txBody>
          <a:bodyPr wrap="square">
            <a:spAutoFit/>
          </a:bodyPr>
          <a:lstStyle/>
          <a:p>
            <a:pPr algn="l"/>
            <a:r>
              <a:rPr sz="2900" b="1">
                <a:solidFill>
                  <a:srgbClr val="20201E"/>
                </a:solidFill>
                <a:latin typeface="Arial"/>
                <a:ea typeface="Arial"/>
                <a:cs typeface="Arial"/>
              </a:rPr>
              <a:t>Бриф · набросок кампании · прототип
Затем — роли, приёмка и поддержка.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Лидер соединяет экспертизу команды</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Jamil Zaki · Every Team Needs a Super-Facilitator · HBR PDF 68–78</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36</a:t>
            </a:r>
          </a:p>
        </p:txBody>
      </p:sp>
      <p:sp>
        <p:nvSpPr>
          <p:cNvPr id="5" name="TextBox 4"/>
          <p:cNvSpPr txBox="1"/>
          <p:nvPr/>
        </p:nvSpPr>
        <p:spPr>
          <a:xfrm>
            <a:off x="777240" y="2057400"/>
            <a:ext cx="3383280" cy="640080"/>
          </a:xfrm>
          <a:prstGeom prst="rect">
            <a:avLst/>
          </a:prstGeom>
          <a:noFill/>
        </p:spPr>
        <p:txBody>
          <a:bodyPr wrap="square">
            <a:spAutoFit/>
          </a:bodyPr>
          <a:lstStyle/>
          <a:p>
            <a:pPr algn="l"/>
            <a:r>
              <a:rPr sz="3100" b="1">
                <a:solidFill>
                  <a:srgbClr val="C5422D"/>
                </a:solidFill>
                <a:latin typeface="Arial"/>
                <a:ea typeface="Arial"/>
                <a:cs typeface="Arial"/>
              </a:rPr>
              <a:t>Понимать</a:t>
            </a:r>
          </a:p>
        </p:txBody>
      </p:sp>
      <p:cxnSp>
        <p:nvCxnSpPr>
          <p:cNvPr id="6" name="Connector 5"/>
          <p:cNvCxnSpPr/>
          <p:nvPr/>
        </p:nvCxnSpPr>
        <p:spPr>
          <a:xfrm>
            <a:off x="777240" y="2971800"/>
            <a:ext cx="3291840" cy="0"/>
          </a:xfrm>
          <a:prstGeom prst="line">
            <a:avLst/>
          </a:prstGeom>
          <a:ln w="50800">
            <a:solidFill>
              <a:srgbClr val="EBCAC0"/>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777240" y="3429000"/>
            <a:ext cx="3337560" cy="1463040"/>
          </a:xfrm>
          <a:prstGeom prst="rect">
            <a:avLst/>
          </a:prstGeom>
          <a:noFill/>
        </p:spPr>
        <p:txBody>
          <a:bodyPr wrap="square">
            <a:spAutoFit/>
          </a:bodyPr>
          <a:lstStyle/>
          <a:p>
            <a:pPr algn="l"/>
            <a:r>
              <a:rPr sz="2600" b="0">
                <a:solidFill>
                  <a:srgbClr val="20201E"/>
                </a:solidFill>
                <a:latin typeface="Arial"/>
                <a:ea typeface="Arial"/>
                <a:cs typeface="Arial"/>
              </a:rPr>
              <a:t>Кто в чём силён
и чего не хватает</a:t>
            </a:r>
          </a:p>
        </p:txBody>
      </p:sp>
      <p:sp>
        <p:nvSpPr>
          <p:cNvPr id="8" name="TextBox 7"/>
          <p:cNvSpPr txBox="1"/>
          <p:nvPr/>
        </p:nvSpPr>
        <p:spPr>
          <a:xfrm>
            <a:off x="4572000" y="2057400"/>
            <a:ext cx="3383280" cy="640080"/>
          </a:xfrm>
          <a:prstGeom prst="rect">
            <a:avLst/>
          </a:prstGeom>
          <a:noFill/>
        </p:spPr>
        <p:txBody>
          <a:bodyPr wrap="square">
            <a:spAutoFit/>
          </a:bodyPr>
          <a:lstStyle/>
          <a:p>
            <a:pPr algn="l"/>
            <a:r>
              <a:rPr sz="3100" b="1">
                <a:solidFill>
                  <a:srgbClr val="C5422D"/>
                </a:solidFill>
                <a:latin typeface="Arial"/>
                <a:ea typeface="Arial"/>
                <a:cs typeface="Arial"/>
              </a:rPr>
              <a:t>Обсуждать</a:t>
            </a:r>
          </a:p>
        </p:txBody>
      </p:sp>
      <p:cxnSp>
        <p:nvCxnSpPr>
          <p:cNvPr id="9" name="Connector 8"/>
          <p:cNvCxnSpPr/>
          <p:nvPr/>
        </p:nvCxnSpPr>
        <p:spPr>
          <a:xfrm>
            <a:off x="4572000" y="2971800"/>
            <a:ext cx="3291840" cy="0"/>
          </a:xfrm>
          <a:prstGeom prst="line">
            <a:avLst/>
          </a:prstGeom>
          <a:ln w="50800">
            <a:solidFill>
              <a:srgbClr val="EBCAC0"/>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4572000" y="3429000"/>
            <a:ext cx="3337560" cy="1463040"/>
          </a:xfrm>
          <a:prstGeom prst="rect">
            <a:avLst/>
          </a:prstGeom>
          <a:noFill/>
        </p:spPr>
        <p:txBody>
          <a:bodyPr wrap="square">
            <a:spAutoFit/>
          </a:bodyPr>
          <a:lstStyle/>
          <a:p>
            <a:pPr algn="l"/>
            <a:r>
              <a:rPr sz="2600" b="0">
                <a:solidFill>
                  <a:srgbClr val="20201E"/>
                </a:solidFill>
                <a:latin typeface="Arial"/>
                <a:ea typeface="Arial"/>
                <a:cs typeface="Arial"/>
              </a:rPr>
              <a:t>Вопросы и несогласие
без потери доверия</a:t>
            </a:r>
          </a:p>
        </p:txBody>
      </p:sp>
      <p:sp>
        <p:nvSpPr>
          <p:cNvPr id="11" name="TextBox 10"/>
          <p:cNvSpPr txBox="1"/>
          <p:nvPr/>
        </p:nvSpPr>
        <p:spPr>
          <a:xfrm>
            <a:off x="8366760" y="2057400"/>
            <a:ext cx="3383280" cy="640080"/>
          </a:xfrm>
          <a:prstGeom prst="rect">
            <a:avLst/>
          </a:prstGeom>
          <a:noFill/>
        </p:spPr>
        <p:txBody>
          <a:bodyPr wrap="square">
            <a:spAutoFit/>
          </a:bodyPr>
          <a:lstStyle/>
          <a:p>
            <a:pPr algn="l"/>
            <a:r>
              <a:rPr sz="3100" b="1">
                <a:solidFill>
                  <a:srgbClr val="C5422D"/>
                </a:solidFill>
                <a:latin typeface="Arial"/>
                <a:ea typeface="Arial"/>
                <a:cs typeface="Arial"/>
              </a:rPr>
              <a:t>Распределять</a:t>
            </a:r>
          </a:p>
        </p:txBody>
      </p:sp>
      <p:cxnSp>
        <p:nvCxnSpPr>
          <p:cNvPr id="12" name="Connector 11"/>
          <p:cNvCxnSpPr/>
          <p:nvPr/>
        </p:nvCxnSpPr>
        <p:spPr>
          <a:xfrm>
            <a:off x="8366760" y="2971800"/>
            <a:ext cx="3291840" cy="0"/>
          </a:xfrm>
          <a:prstGeom prst="line">
            <a:avLst/>
          </a:prstGeom>
          <a:ln w="50800">
            <a:solidFill>
              <a:srgbClr val="EBCAC0"/>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366760" y="3429000"/>
            <a:ext cx="3337560" cy="1463040"/>
          </a:xfrm>
          <a:prstGeom prst="rect">
            <a:avLst/>
          </a:prstGeom>
          <a:noFill/>
        </p:spPr>
        <p:txBody>
          <a:bodyPr wrap="square">
            <a:spAutoFit/>
          </a:bodyPr>
          <a:lstStyle/>
          <a:p>
            <a:pPr algn="l"/>
            <a:r>
              <a:rPr sz="2600" b="0">
                <a:solidFill>
                  <a:srgbClr val="20201E"/>
                </a:solidFill>
                <a:latin typeface="Arial"/>
                <a:ea typeface="Arial"/>
                <a:cs typeface="Arial"/>
              </a:rPr>
              <a:t>Внимание и вклад
между участниками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Почему после делегирования устаём сильнее?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UC Berkeley Haas · 18.02.2026 · Ye / Ranganathan; HBR workslop · PDF 45–53</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37</a:t>
            </a:r>
          </a:p>
        </p:txBody>
      </p:sp>
      <p:sp>
        <p:nvSpPr>
          <p:cNvPr id="5" name="TextBox 4"/>
          <p:cNvSpPr txBox="1"/>
          <p:nvPr/>
        </p:nvSpPr>
        <p:spPr>
          <a:xfrm>
            <a:off x="640080" y="1965960"/>
            <a:ext cx="3340608"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4231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587752"/>
            <a:ext cx="3340608" cy="1261872"/>
          </a:xfrm>
          <a:prstGeom prst="rect">
            <a:avLst/>
          </a:prstGeom>
          <a:noFill/>
        </p:spPr>
        <p:txBody>
          <a:bodyPr wrap="square">
            <a:spAutoFit/>
          </a:bodyPr>
          <a:lstStyle/>
          <a:p>
            <a:pPr algn="l"/>
            <a:r>
              <a:rPr sz="2500" b="0">
                <a:solidFill>
                  <a:srgbClr val="20201E"/>
                </a:solidFill>
                <a:latin typeface="Georgia"/>
                <a:ea typeface="Arial"/>
                <a:cs typeface="Arial"/>
              </a:rPr>
              <a:t>Берём больше
задач</a:t>
            </a:r>
          </a:p>
        </p:txBody>
      </p:sp>
      <p:sp>
        <p:nvSpPr>
          <p:cNvPr id="8" name="Right Arrow 7"/>
          <p:cNvSpPr/>
          <p:nvPr/>
        </p:nvSpPr>
        <p:spPr>
          <a:xfrm>
            <a:off x="4062984" y="235000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4364736" y="1965960"/>
            <a:ext cx="3340608"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4364736" y="24231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364736" y="2587752"/>
            <a:ext cx="3340608" cy="1261872"/>
          </a:xfrm>
          <a:prstGeom prst="rect">
            <a:avLst/>
          </a:prstGeom>
          <a:noFill/>
        </p:spPr>
        <p:txBody>
          <a:bodyPr wrap="square">
            <a:spAutoFit/>
          </a:bodyPr>
          <a:lstStyle/>
          <a:p>
            <a:pPr algn="l"/>
            <a:r>
              <a:rPr sz="2500" b="0">
                <a:solidFill>
                  <a:srgbClr val="20201E"/>
                </a:solidFill>
                <a:latin typeface="Georgia"/>
                <a:ea typeface="Arial"/>
                <a:cs typeface="Arial"/>
              </a:rPr>
              <a:t>Чаще
переключаемся</a:t>
            </a:r>
          </a:p>
        </p:txBody>
      </p:sp>
      <p:sp>
        <p:nvSpPr>
          <p:cNvPr id="12" name="Right Arrow 11"/>
          <p:cNvSpPr/>
          <p:nvPr/>
        </p:nvSpPr>
        <p:spPr>
          <a:xfrm>
            <a:off x="7787640" y="235000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8089392" y="1965960"/>
            <a:ext cx="3340608"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8089392" y="242316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089392" y="2587752"/>
            <a:ext cx="3340608" cy="1261872"/>
          </a:xfrm>
          <a:prstGeom prst="rect">
            <a:avLst/>
          </a:prstGeom>
          <a:noFill/>
        </p:spPr>
        <p:txBody>
          <a:bodyPr wrap="square">
            <a:spAutoFit/>
          </a:bodyPr>
          <a:lstStyle/>
          <a:p>
            <a:pPr algn="l"/>
            <a:r>
              <a:rPr sz="2500" b="0">
                <a:solidFill>
                  <a:srgbClr val="20201E"/>
                </a:solidFill>
                <a:latin typeface="Georgia"/>
                <a:ea typeface="Arial"/>
                <a:cs typeface="Arial"/>
              </a:rPr>
              <a:t>Проверяем
и переделываем</a:t>
            </a:r>
          </a:p>
        </p:txBody>
      </p:sp>
      <p:sp>
        <p:nvSpPr>
          <p:cNvPr id="16" name="TextBox 15"/>
          <p:cNvSpPr txBox="1"/>
          <p:nvPr/>
        </p:nvSpPr>
        <p:spPr>
          <a:xfrm>
            <a:off x="868680" y="4114800"/>
            <a:ext cx="10332720" cy="1371600"/>
          </a:xfrm>
          <a:prstGeom prst="rect">
            <a:avLst/>
          </a:prstGeom>
          <a:noFill/>
        </p:spPr>
        <p:txBody>
          <a:bodyPr wrap="square">
            <a:spAutoFit/>
          </a:bodyPr>
          <a:lstStyle/>
          <a:p>
            <a:pPr algn="l"/>
            <a:r>
              <a:rPr sz="3000" b="1">
                <a:solidFill>
                  <a:srgbClr val="20201E"/>
                </a:solidFill>
                <a:latin typeface="Arial"/>
                <a:ea typeface="Arial"/>
                <a:cs typeface="Arial"/>
              </a:rPr>
              <a:t>Считаем время всей цепочки.
Ограничиваем число одновременных экспериментов.</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Первая проба: бриф → задачи и вопросы</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Учебный пример · все условия вымышлены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38</a:t>
            </a:r>
          </a:p>
        </p:txBody>
      </p:sp>
      <p:sp>
        <p:nvSpPr>
          <p:cNvPr id="5" name="TextBox 4"/>
          <p:cNvSpPr txBox="1"/>
          <p:nvPr/>
        </p:nvSpPr>
        <p:spPr>
          <a:xfrm>
            <a:off x="822960" y="1828800"/>
            <a:ext cx="10424160" cy="2651760"/>
          </a:xfrm>
          <a:prstGeom prst="rect">
            <a:avLst/>
          </a:prstGeom>
          <a:noFill/>
        </p:spPr>
        <p:txBody>
          <a:bodyPr wrap="square">
            <a:spAutoFit/>
          </a:bodyPr>
          <a:lstStyle/>
          <a:p>
            <a:pPr algn="l"/>
            <a:r>
              <a:rPr sz="2900" b="0">
                <a:solidFill>
                  <a:srgbClr val="20201E"/>
                </a:solidFill>
                <a:latin typeface="Arial"/>
                <a:ea typeface="Arial"/>
                <a:cs typeface="Arial"/>
              </a:rPr>
              <a:t>«Клиент просит скидку 7%, но её не согласовали.
Расчёт к 23 октября — при ответе поставщика до 21-го.
Ответственного за производство не назначили.
Предложение пока не отправляем».</a:t>
            </a:r>
          </a:p>
        </p:txBody>
      </p:sp>
      <p:sp>
        <p:nvSpPr>
          <p:cNvPr id="6" name="Rectangle 5"/>
          <p:cNvSpPr/>
          <p:nvPr/>
        </p:nvSpPr>
        <p:spPr>
          <a:xfrm>
            <a:off x="822960" y="5074920"/>
            <a:ext cx="10424160" cy="731520"/>
          </a:xfrm>
          <a:prstGeom prst="rect">
            <a:avLst/>
          </a:prstGeom>
          <a:solidFill>
            <a:srgbClr val="EBCAC0"/>
          </a:solidFill>
          <a:ln>
            <a:noFill/>
          </a:ln>
        </p:spPr>
        <p:txBody>
          <a:bodyPr rtlCol="0" anchor="ctr"/>
          <a:lstStyle/>
          <a:p>
            <a:pPr algn="ctr"/>
          </a:p>
        </p:txBody>
      </p:sp>
      <p:sp>
        <p:nvSpPr>
          <p:cNvPr id="7" name="TextBox 6"/>
          <p:cNvSpPr txBox="1"/>
          <p:nvPr/>
        </p:nvSpPr>
        <p:spPr>
          <a:xfrm>
            <a:off x="1051560" y="5212080"/>
            <a:ext cx="9966960" cy="457200"/>
          </a:xfrm>
          <a:prstGeom prst="rect">
            <a:avLst/>
          </a:prstGeom>
          <a:noFill/>
        </p:spPr>
        <p:txBody>
          <a:bodyPr wrap="square">
            <a:spAutoFit/>
          </a:bodyPr>
          <a:lstStyle/>
          <a:p>
            <a:pPr algn="l"/>
            <a:r>
              <a:rPr sz="2300" b="1">
                <a:solidFill>
                  <a:srgbClr val="20201E"/>
                </a:solidFill>
                <a:latin typeface="Arial"/>
                <a:ea typeface="Arial"/>
                <a:cs typeface="Arial"/>
              </a:rPr>
              <a:t>Что потеряет смысл, если сделать просто «красивый протокол»?</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Хороший запрос задаёт проверяемую работу</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39</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658368"/>
          </a:xfrm>
          <a:prstGeom prst="rect">
            <a:avLst/>
          </a:prstGeom>
          <a:noFill/>
        </p:spPr>
        <p:txBody>
          <a:bodyPr wrap="square">
            <a:spAutoFit/>
          </a:bodyPr>
          <a:lstStyle/>
          <a:p>
            <a:pPr algn="l"/>
            <a:r>
              <a:rPr sz="2300" b="0">
                <a:solidFill>
                  <a:srgbClr val="20201E"/>
                </a:solidFill>
                <a:latin typeface="Georgia"/>
                <a:ea typeface="Arial"/>
                <a:cs typeface="Arial"/>
              </a:rPr>
              <a:t>Задача</a:t>
            </a:r>
          </a:p>
        </p:txBody>
      </p:sp>
      <p:sp>
        <p:nvSpPr>
          <p:cNvPr id="7" name="TextBox 6"/>
          <p:cNvSpPr txBox="1"/>
          <p:nvPr/>
        </p:nvSpPr>
        <p:spPr>
          <a:xfrm>
            <a:off x="4632350" y="1783080"/>
            <a:ext cx="6689750" cy="658368"/>
          </a:xfrm>
          <a:prstGeom prst="rect">
            <a:avLst/>
          </a:prstGeom>
          <a:noFill/>
        </p:spPr>
        <p:txBody>
          <a:bodyPr wrap="square">
            <a:spAutoFit/>
          </a:bodyPr>
          <a:lstStyle/>
          <a:p>
            <a:pPr algn="l"/>
            <a:r>
              <a:rPr sz="2100" b="0">
                <a:solidFill>
                  <a:srgbClr val="20201E"/>
                </a:solidFill>
                <a:latin typeface="Arial"/>
                <a:ea typeface="Arial"/>
                <a:cs typeface="Arial"/>
              </a:rPr>
              <a:t>Выдели решения, просьбы и открытые вопросы</a:t>
            </a:r>
          </a:p>
        </p:txBody>
      </p:sp>
      <p:cxnSp>
        <p:nvCxnSpPr>
          <p:cNvPr id="8" name="Connector 7"/>
          <p:cNvCxnSpPr/>
          <p:nvPr/>
        </p:nvCxnSpPr>
        <p:spPr>
          <a:xfrm>
            <a:off x="640080" y="2450591"/>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578608"/>
            <a:ext cx="3776472" cy="658368"/>
          </a:xfrm>
          <a:prstGeom prst="rect">
            <a:avLst/>
          </a:prstGeom>
          <a:noFill/>
        </p:spPr>
        <p:txBody>
          <a:bodyPr wrap="square">
            <a:spAutoFit/>
          </a:bodyPr>
          <a:lstStyle/>
          <a:p>
            <a:pPr algn="l"/>
            <a:r>
              <a:rPr sz="2300" b="0">
                <a:solidFill>
                  <a:srgbClr val="20201E"/>
                </a:solidFill>
                <a:latin typeface="Georgia"/>
                <a:ea typeface="Arial"/>
                <a:cs typeface="Arial"/>
              </a:rPr>
              <a:t>Источник</a:t>
            </a:r>
          </a:p>
        </p:txBody>
      </p:sp>
      <p:sp>
        <p:nvSpPr>
          <p:cNvPr id="10" name="TextBox 9"/>
          <p:cNvSpPr txBox="1"/>
          <p:nvPr/>
        </p:nvSpPr>
        <p:spPr>
          <a:xfrm>
            <a:off x="4632350" y="2578608"/>
            <a:ext cx="6689750" cy="658368"/>
          </a:xfrm>
          <a:prstGeom prst="rect">
            <a:avLst/>
          </a:prstGeom>
          <a:noFill/>
        </p:spPr>
        <p:txBody>
          <a:bodyPr wrap="square">
            <a:spAutoFit/>
          </a:bodyPr>
          <a:lstStyle/>
          <a:p>
            <a:pPr algn="l"/>
            <a:r>
              <a:rPr sz="2100" b="0">
                <a:solidFill>
                  <a:srgbClr val="20201E"/>
                </a:solidFill>
                <a:latin typeface="Arial"/>
                <a:ea typeface="Arial"/>
                <a:cs typeface="Arial"/>
              </a:rPr>
              <a:t>Используй только запись брифа</a:t>
            </a:r>
          </a:p>
        </p:txBody>
      </p:sp>
      <p:cxnSp>
        <p:nvCxnSpPr>
          <p:cNvPr id="11" name="Connector 10"/>
          <p:cNvCxnSpPr/>
          <p:nvPr/>
        </p:nvCxnSpPr>
        <p:spPr>
          <a:xfrm>
            <a:off x="640080" y="324612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374136"/>
            <a:ext cx="3776472" cy="658368"/>
          </a:xfrm>
          <a:prstGeom prst="rect">
            <a:avLst/>
          </a:prstGeom>
          <a:noFill/>
        </p:spPr>
        <p:txBody>
          <a:bodyPr wrap="square">
            <a:spAutoFit/>
          </a:bodyPr>
          <a:lstStyle/>
          <a:p>
            <a:pPr algn="l"/>
            <a:r>
              <a:rPr sz="2300" b="0">
                <a:solidFill>
                  <a:srgbClr val="20201E"/>
                </a:solidFill>
                <a:latin typeface="Georgia"/>
                <a:ea typeface="Arial"/>
                <a:cs typeface="Arial"/>
              </a:rPr>
              <a:t>Формат</a:t>
            </a:r>
          </a:p>
        </p:txBody>
      </p:sp>
      <p:sp>
        <p:nvSpPr>
          <p:cNvPr id="13" name="TextBox 12"/>
          <p:cNvSpPr txBox="1"/>
          <p:nvPr/>
        </p:nvSpPr>
        <p:spPr>
          <a:xfrm>
            <a:off x="4632350" y="3374136"/>
            <a:ext cx="6689750" cy="658368"/>
          </a:xfrm>
          <a:prstGeom prst="rect">
            <a:avLst/>
          </a:prstGeom>
          <a:noFill/>
        </p:spPr>
        <p:txBody>
          <a:bodyPr wrap="square">
            <a:spAutoFit/>
          </a:bodyPr>
          <a:lstStyle/>
          <a:p>
            <a:pPr algn="l"/>
            <a:r>
              <a:rPr sz="2100" b="0">
                <a:solidFill>
                  <a:srgbClr val="20201E"/>
                </a:solidFill>
                <a:latin typeface="Arial"/>
                <a:ea typeface="Arial"/>
                <a:cs typeface="Arial"/>
              </a:rPr>
              <a:t>Задача · ответственный · срок · фраза-основание</a:t>
            </a:r>
          </a:p>
        </p:txBody>
      </p:sp>
      <p:cxnSp>
        <p:nvCxnSpPr>
          <p:cNvPr id="14" name="Connector 13"/>
          <p:cNvCxnSpPr/>
          <p:nvPr/>
        </p:nvCxnSpPr>
        <p:spPr>
          <a:xfrm>
            <a:off x="640080" y="404164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169663"/>
            <a:ext cx="3776472" cy="658368"/>
          </a:xfrm>
          <a:prstGeom prst="rect">
            <a:avLst/>
          </a:prstGeom>
          <a:noFill/>
        </p:spPr>
        <p:txBody>
          <a:bodyPr wrap="square">
            <a:spAutoFit/>
          </a:bodyPr>
          <a:lstStyle/>
          <a:p>
            <a:pPr algn="l"/>
            <a:r>
              <a:rPr sz="2300" b="0">
                <a:solidFill>
                  <a:srgbClr val="20201E"/>
                </a:solidFill>
                <a:latin typeface="Georgia"/>
                <a:ea typeface="Arial"/>
                <a:cs typeface="Arial"/>
              </a:rPr>
              <a:t>Ограничение</a:t>
            </a:r>
          </a:p>
        </p:txBody>
      </p:sp>
      <p:sp>
        <p:nvSpPr>
          <p:cNvPr id="16" name="TextBox 15"/>
          <p:cNvSpPr txBox="1"/>
          <p:nvPr/>
        </p:nvSpPr>
        <p:spPr>
          <a:xfrm>
            <a:off x="4632350" y="4169663"/>
            <a:ext cx="6689750" cy="658368"/>
          </a:xfrm>
          <a:prstGeom prst="rect">
            <a:avLst/>
          </a:prstGeom>
          <a:noFill/>
        </p:spPr>
        <p:txBody>
          <a:bodyPr wrap="square">
            <a:spAutoFit/>
          </a:bodyPr>
          <a:lstStyle/>
          <a:p>
            <a:pPr algn="l"/>
            <a:r>
              <a:rPr sz="2100" b="0">
                <a:solidFill>
                  <a:srgbClr val="20201E"/>
                </a:solidFill>
                <a:latin typeface="Arial"/>
                <a:ea typeface="Arial"/>
                <a:cs typeface="Arial"/>
              </a:rPr>
              <a:t>Не дополняй пропуски; сохрани условия и запреты</a:t>
            </a:r>
          </a:p>
        </p:txBody>
      </p:sp>
      <p:cxnSp>
        <p:nvCxnSpPr>
          <p:cNvPr id="17" name="Connector 16"/>
          <p:cNvCxnSpPr/>
          <p:nvPr/>
        </p:nvCxnSpPr>
        <p:spPr>
          <a:xfrm>
            <a:off x="640080" y="483717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4965192"/>
            <a:ext cx="3776472" cy="658368"/>
          </a:xfrm>
          <a:prstGeom prst="rect">
            <a:avLst/>
          </a:prstGeom>
          <a:noFill/>
        </p:spPr>
        <p:txBody>
          <a:bodyPr wrap="square">
            <a:spAutoFit/>
          </a:bodyPr>
          <a:lstStyle/>
          <a:p>
            <a:pPr algn="l"/>
            <a:r>
              <a:rPr sz="2300" b="0">
                <a:solidFill>
                  <a:srgbClr val="20201E"/>
                </a:solidFill>
                <a:latin typeface="Georgia"/>
                <a:ea typeface="Arial"/>
                <a:cs typeface="Arial"/>
              </a:rPr>
              <a:t>Проверка</a:t>
            </a:r>
          </a:p>
        </p:txBody>
      </p:sp>
      <p:sp>
        <p:nvSpPr>
          <p:cNvPr id="19" name="TextBox 18"/>
          <p:cNvSpPr txBox="1"/>
          <p:nvPr/>
        </p:nvSpPr>
        <p:spPr>
          <a:xfrm>
            <a:off x="4632350" y="4965192"/>
            <a:ext cx="6689750" cy="658368"/>
          </a:xfrm>
          <a:prstGeom prst="rect">
            <a:avLst/>
          </a:prstGeom>
          <a:noFill/>
        </p:spPr>
        <p:txBody>
          <a:bodyPr wrap="square">
            <a:spAutoFit/>
          </a:bodyPr>
          <a:lstStyle/>
          <a:p>
            <a:pPr algn="l"/>
            <a:r>
              <a:rPr sz="2100" b="0">
                <a:solidFill>
                  <a:srgbClr val="20201E"/>
                </a:solidFill>
                <a:latin typeface="Arial"/>
                <a:ea typeface="Arial"/>
                <a:cs typeface="Arial"/>
              </a:rPr>
              <a:t>Перечисли, что менеджеру нужно уточнить</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Проверяем факты, условия и пропуски</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40</a:t>
            </a:r>
          </a:p>
        </p:txBody>
      </p:sp>
      <p:cxnSp>
        <p:nvCxnSpPr>
          <p:cNvPr id="5" name="Connector 4"/>
          <p:cNvCxnSpPr/>
          <p:nvPr/>
        </p:nvCxnSpPr>
        <p:spPr>
          <a:xfrm>
            <a:off x="640080" y="183794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965960"/>
            <a:ext cx="3776472" cy="804672"/>
          </a:xfrm>
          <a:prstGeom prst="rect">
            <a:avLst/>
          </a:prstGeom>
          <a:noFill/>
        </p:spPr>
        <p:txBody>
          <a:bodyPr wrap="square">
            <a:spAutoFit/>
          </a:bodyPr>
          <a:lstStyle/>
          <a:p>
            <a:pPr algn="l"/>
            <a:r>
              <a:rPr sz="2500" b="0">
                <a:solidFill>
                  <a:srgbClr val="20201E"/>
                </a:solidFill>
                <a:latin typeface="Georgia"/>
                <a:ea typeface="Arial"/>
                <a:cs typeface="Arial"/>
              </a:rPr>
              <a:t>Скидка</a:t>
            </a:r>
          </a:p>
        </p:txBody>
      </p:sp>
      <p:sp>
        <p:nvSpPr>
          <p:cNvPr id="7" name="TextBox 6"/>
          <p:cNvSpPr txBox="1"/>
          <p:nvPr/>
        </p:nvSpPr>
        <p:spPr>
          <a:xfrm>
            <a:off x="4632350" y="1965960"/>
            <a:ext cx="6689750" cy="804672"/>
          </a:xfrm>
          <a:prstGeom prst="rect">
            <a:avLst/>
          </a:prstGeom>
          <a:noFill/>
        </p:spPr>
        <p:txBody>
          <a:bodyPr wrap="square">
            <a:spAutoFit/>
          </a:bodyPr>
          <a:lstStyle/>
          <a:p>
            <a:pPr algn="l"/>
            <a:r>
              <a:rPr sz="2300" b="0">
                <a:solidFill>
                  <a:srgbClr val="20201E"/>
                </a:solidFill>
                <a:latin typeface="Arial"/>
                <a:ea typeface="Arial"/>
                <a:cs typeface="Arial"/>
              </a:rPr>
              <a:t>Просьба ≠ согласованное условие</a:t>
            </a:r>
          </a:p>
        </p:txBody>
      </p:sp>
      <p:cxnSp>
        <p:nvCxnSpPr>
          <p:cNvPr id="8" name="Connector 7"/>
          <p:cNvCxnSpPr/>
          <p:nvPr/>
        </p:nvCxnSpPr>
        <p:spPr>
          <a:xfrm>
            <a:off x="640080" y="2779775"/>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907791"/>
            <a:ext cx="3776472" cy="804672"/>
          </a:xfrm>
          <a:prstGeom prst="rect">
            <a:avLst/>
          </a:prstGeom>
          <a:noFill/>
        </p:spPr>
        <p:txBody>
          <a:bodyPr wrap="square">
            <a:spAutoFit/>
          </a:bodyPr>
          <a:lstStyle/>
          <a:p>
            <a:pPr algn="l"/>
            <a:r>
              <a:rPr sz="2500" b="0">
                <a:solidFill>
                  <a:srgbClr val="20201E"/>
                </a:solidFill>
                <a:latin typeface="Georgia"/>
                <a:ea typeface="Arial"/>
                <a:cs typeface="Arial"/>
              </a:rPr>
              <a:t>Срок</a:t>
            </a:r>
          </a:p>
        </p:txBody>
      </p:sp>
      <p:sp>
        <p:nvSpPr>
          <p:cNvPr id="10" name="TextBox 9"/>
          <p:cNvSpPr txBox="1"/>
          <p:nvPr/>
        </p:nvSpPr>
        <p:spPr>
          <a:xfrm>
            <a:off x="4632350" y="2907791"/>
            <a:ext cx="6689750" cy="804672"/>
          </a:xfrm>
          <a:prstGeom prst="rect">
            <a:avLst/>
          </a:prstGeom>
          <a:noFill/>
        </p:spPr>
        <p:txBody>
          <a:bodyPr wrap="square">
            <a:spAutoFit/>
          </a:bodyPr>
          <a:lstStyle/>
          <a:p>
            <a:pPr algn="l"/>
            <a:r>
              <a:rPr sz="2300" b="0">
                <a:solidFill>
                  <a:srgbClr val="20201E"/>
                </a:solidFill>
                <a:latin typeface="Arial"/>
                <a:ea typeface="Arial"/>
                <a:cs typeface="Arial"/>
              </a:rPr>
              <a:t>Дата сохраняется вместе с условием</a:t>
            </a:r>
          </a:p>
        </p:txBody>
      </p:sp>
      <p:cxnSp>
        <p:nvCxnSpPr>
          <p:cNvPr id="11" name="Connector 10"/>
          <p:cNvCxnSpPr/>
          <p:nvPr/>
        </p:nvCxnSpPr>
        <p:spPr>
          <a:xfrm>
            <a:off x="640080" y="372160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849624"/>
            <a:ext cx="3776472" cy="804672"/>
          </a:xfrm>
          <a:prstGeom prst="rect">
            <a:avLst/>
          </a:prstGeom>
          <a:noFill/>
        </p:spPr>
        <p:txBody>
          <a:bodyPr wrap="square">
            <a:spAutoFit/>
          </a:bodyPr>
          <a:lstStyle/>
          <a:p>
            <a:pPr algn="l"/>
            <a:r>
              <a:rPr sz="2500" b="0">
                <a:solidFill>
                  <a:srgbClr val="20201E"/>
                </a:solidFill>
                <a:latin typeface="Georgia"/>
                <a:ea typeface="Arial"/>
                <a:cs typeface="Arial"/>
              </a:rPr>
              <a:t>Ответственный</a:t>
            </a:r>
          </a:p>
        </p:txBody>
      </p:sp>
      <p:sp>
        <p:nvSpPr>
          <p:cNvPr id="13" name="TextBox 12"/>
          <p:cNvSpPr txBox="1"/>
          <p:nvPr/>
        </p:nvSpPr>
        <p:spPr>
          <a:xfrm>
            <a:off x="4632350" y="3849624"/>
            <a:ext cx="6689750" cy="804672"/>
          </a:xfrm>
          <a:prstGeom prst="rect">
            <a:avLst/>
          </a:prstGeom>
          <a:noFill/>
        </p:spPr>
        <p:txBody>
          <a:bodyPr wrap="square">
            <a:spAutoFit/>
          </a:bodyPr>
          <a:lstStyle/>
          <a:p>
            <a:pPr algn="l"/>
            <a:r>
              <a:rPr sz="2300" b="0">
                <a:solidFill>
                  <a:srgbClr val="20201E"/>
                </a:solidFill>
                <a:latin typeface="Arial"/>
                <a:ea typeface="Arial"/>
                <a:cs typeface="Arial"/>
              </a:rPr>
              <a:t>«Не назначен», если его нет в записи</a:t>
            </a:r>
          </a:p>
        </p:txBody>
      </p:sp>
      <p:cxnSp>
        <p:nvCxnSpPr>
          <p:cNvPr id="14" name="Connector 13"/>
          <p:cNvCxnSpPr/>
          <p:nvPr/>
        </p:nvCxnSpPr>
        <p:spPr>
          <a:xfrm>
            <a:off x="640080" y="466344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791456"/>
            <a:ext cx="3776472" cy="804672"/>
          </a:xfrm>
          <a:prstGeom prst="rect">
            <a:avLst/>
          </a:prstGeom>
          <a:noFill/>
        </p:spPr>
        <p:txBody>
          <a:bodyPr wrap="square">
            <a:spAutoFit/>
          </a:bodyPr>
          <a:lstStyle/>
          <a:p>
            <a:pPr algn="l"/>
            <a:r>
              <a:rPr sz="2500" b="0">
                <a:solidFill>
                  <a:srgbClr val="20201E"/>
                </a:solidFill>
                <a:latin typeface="Georgia"/>
                <a:ea typeface="Arial"/>
                <a:cs typeface="Arial"/>
              </a:rPr>
              <a:t>Действие</a:t>
            </a:r>
          </a:p>
        </p:txBody>
      </p:sp>
      <p:sp>
        <p:nvSpPr>
          <p:cNvPr id="16" name="TextBox 15"/>
          <p:cNvSpPr txBox="1"/>
          <p:nvPr/>
        </p:nvSpPr>
        <p:spPr>
          <a:xfrm>
            <a:off x="4632350" y="4791456"/>
            <a:ext cx="6689750" cy="804672"/>
          </a:xfrm>
          <a:prstGeom prst="rect">
            <a:avLst/>
          </a:prstGeom>
          <a:noFill/>
        </p:spPr>
        <p:txBody>
          <a:bodyPr wrap="square">
            <a:spAutoFit/>
          </a:bodyPr>
          <a:lstStyle/>
          <a:p>
            <a:pPr algn="l"/>
            <a:r>
              <a:rPr sz="2300" b="0">
                <a:solidFill>
                  <a:srgbClr val="20201E"/>
                </a:solidFill>
                <a:latin typeface="Arial"/>
                <a:ea typeface="Arial"/>
                <a:cs typeface="Arial"/>
              </a:rPr>
              <a:t>Запрет на отправку остаётся в результате</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8E3D8"/>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Ваша проба — 6 минут</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41</a:t>
            </a:r>
          </a:p>
        </p:txBody>
      </p:sp>
      <p:sp>
        <p:nvSpPr>
          <p:cNvPr id="5" name="TextBox 4"/>
          <p:cNvSpPr txBox="1"/>
          <p:nvPr/>
        </p:nvSpPr>
        <p:spPr>
          <a:xfrm>
            <a:off x="822960" y="1828800"/>
            <a:ext cx="10424160" cy="1234440"/>
          </a:xfrm>
          <a:prstGeom prst="rect">
            <a:avLst/>
          </a:prstGeom>
          <a:noFill/>
        </p:spPr>
        <p:txBody>
          <a:bodyPr wrap="square">
            <a:spAutoFit/>
          </a:bodyPr>
          <a:lstStyle/>
          <a:p>
            <a:pPr algn="l"/>
            <a:r>
              <a:rPr sz="3400" b="1">
                <a:solidFill>
                  <a:srgbClr val="20201E"/>
                </a:solidFill>
                <a:latin typeface="Arial"/>
                <a:ea typeface="Arial"/>
                <a:cs typeface="Arial"/>
              </a:rPr>
              <a:t>Одна задача. Один разрешённый исходник.
Один способ проверить результат.</a:t>
            </a:r>
          </a:p>
        </p:txBody>
      </p:sp>
      <p:sp>
        <p:nvSpPr>
          <p:cNvPr id="6" name="TextBox 5"/>
          <p:cNvSpPr txBox="1"/>
          <p:nvPr/>
        </p:nvSpPr>
        <p:spPr>
          <a:xfrm>
            <a:off x="640080" y="3840480"/>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7" name="Connector 6"/>
          <p:cNvCxnSpPr/>
          <p:nvPr/>
        </p:nvCxnSpPr>
        <p:spPr>
          <a:xfrm>
            <a:off x="640080" y="429768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640080" y="4462272"/>
            <a:ext cx="2409444" cy="1261872"/>
          </a:xfrm>
          <a:prstGeom prst="rect">
            <a:avLst/>
          </a:prstGeom>
          <a:noFill/>
        </p:spPr>
        <p:txBody>
          <a:bodyPr wrap="square">
            <a:spAutoFit/>
          </a:bodyPr>
          <a:lstStyle/>
          <a:p>
            <a:pPr algn="l"/>
            <a:r>
              <a:rPr sz="2200" b="0">
                <a:solidFill>
                  <a:srgbClr val="20201E"/>
                </a:solidFill>
                <a:latin typeface="Georgia"/>
                <a:ea typeface="Arial"/>
                <a:cs typeface="Arial"/>
              </a:rPr>
              <a:t>Выбрать</a:t>
            </a:r>
          </a:p>
        </p:txBody>
      </p:sp>
      <p:sp>
        <p:nvSpPr>
          <p:cNvPr id="9" name="Right Arrow 8"/>
          <p:cNvSpPr/>
          <p:nvPr/>
        </p:nvSpPr>
        <p:spPr>
          <a:xfrm>
            <a:off x="3131820" y="4224528"/>
            <a:ext cx="219456" cy="146304"/>
          </a:xfrm>
          <a:prstGeom prst="rightArrow">
            <a:avLst/>
          </a:prstGeom>
          <a:solidFill>
            <a:srgbClr val="C5422D"/>
          </a:solidFill>
          <a:ln>
            <a:noFill/>
          </a:ln>
        </p:spPr>
        <p:txBody>
          <a:bodyPr rtlCol="0" anchor="ctr"/>
          <a:lstStyle/>
          <a:p>
            <a:pPr algn="ctr"/>
          </a:p>
        </p:txBody>
      </p:sp>
      <p:sp>
        <p:nvSpPr>
          <p:cNvPr id="10" name="TextBox 9"/>
          <p:cNvSpPr txBox="1"/>
          <p:nvPr/>
        </p:nvSpPr>
        <p:spPr>
          <a:xfrm>
            <a:off x="3433572" y="3840480"/>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1" name="Connector 10"/>
          <p:cNvCxnSpPr/>
          <p:nvPr/>
        </p:nvCxnSpPr>
        <p:spPr>
          <a:xfrm>
            <a:off x="3433572" y="429768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3433572" y="4462272"/>
            <a:ext cx="2409444" cy="1261872"/>
          </a:xfrm>
          <a:prstGeom prst="rect">
            <a:avLst/>
          </a:prstGeom>
          <a:noFill/>
        </p:spPr>
        <p:txBody>
          <a:bodyPr wrap="square">
            <a:spAutoFit/>
          </a:bodyPr>
          <a:lstStyle/>
          <a:p>
            <a:pPr algn="l"/>
            <a:r>
              <a:rPr sz="2200" b="0">
                <a:solidFill>
                  <a:srgbClr val="20201E"/>
                </a:solidFill>
                <a:latin typeface="Georgia"/>
                <a:ea typeface="Arial"/>
                <a:cs typeface="Arial"/>
              </a:rPr>
              <a:t>Попросить</a:t>
            </a:r>
          </a:p>
        </p:txBody>
      </p:sp>
      <p:sp>
        <p:nvSpPr>
          <p:cNvPr id="13" name="Right Arrow 12"/>
          <p:cNvSpPr/>
          <p:nvPr/>
        </p:nvSpPr>
        <p:spPr>
          <a:xfrm>
            <a:off x="5925312" y="4224528"/>
            <a:ext cx="219456" cy="146304"/>
          </a:xfrm>
          <a:prstGeom prst="rightArrow">
            <a:avLst/>
          </a:prstGeom>
          <a:solidFill>
            <a:srgbClr val="C5422D"/>
          </a:solidFill>
          <a:ln>
            <a:noFill/>
          </a:ln>
        </p:spPr>
        <p:txBody>
          <a:bodyPr rtlCol="0" anchor="ctr"/>
          <a:lstStyle/>
          <a:p>
            <a:pPr algn="ctr"/>
          </a:p>
        </p:txBody>
      </p:sp>
      <p:sp>
        <p:nvSpPr>
          <p:cNvPr id="14" name="TextBox 13"/>
          <p:cNvSpPr txBox="1"/>
          <p:nvPr/>
        </p:nvSpPr>
        <p:spPr>
          <a:xfrm>
            <a:off x="6227064" y="3840480"/>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5" name="Connector 14"/>
          <p:cNvCxnSpPr/>
          <p:nvPr/>
        </p:nvCxnSpPr>
        <p:spPr>
          <a:xfrm>
            <a:off x="6227064" y="429768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227064" y="4462272"/>
            <a:ext cx="2409444" cy="1261872"/>
          </a:xfrm>
          <a:prstGeom prst="rect">
            <a:avLst/>
          </a:prstGeom>
          <a:noFill/>
        </p:spPr>
        <p:txBody>
          <a:bodyPr wrap="square">
            <a:spAutoFit/>
          </a:bodyPr>
          <a:lstStyle/>
          <a:p>
            <a:pPr algn="l"/>
            <a:r>
              <a:rPr sz="2200" b="0">
                <a:solidFill>
                  <a:srgbClr val="20201E"/>
                </a:solidFill>
                <a:latin typeface="Georgia"/>
                <a:ea typeface="Arial"/>
                <a:cs typeface="Arial"/>
              </a:rPr>
              <a:t>Проверить</a:t>
            </a:r>
          </a:p>
        </p:txBody>
      </p:sp>
      <p:sp>
        <p:nvSpPr>
          <p:cNvPr id="17" name="Right Arrow 16"/>
          <p:cNvSpPr/>
          <p:nvPr/>
        </p:nvSpPr>
        <p:spPr>
          <a:xfrm>
            <a:off x="8718804" y="4224528"/>
            <a:ext cx="219456" cy="146304"/>
          </a:xfrm>
          <a:prstGeom prst="rightArrow">
            <a:avLst/>
          </a:prstGeom>
          <a:solidFill>
            <a:srgbClr val="C5422D"/>
          </a:solidFill>
          <a:ln>
            <a:noFill/>
          </a:ln>
        </p:spPr>
        <p:txBody>
          <a:bodyPr rtlCol="0" anchor="ctr"/>
          <a:lstStyle/>
          <a:p>
            <a:pPr algn="ctr"/>
          </a:p>
        </p:txBody>
      </p:sp>
      <p:sp>
        <p:nvSpPr>
          <p:cNvPr id="18" name="TextBox 17"/>
          <p:cNvSpPr txBox="1"/>
          <p:nvPr/>
        </p:nvSpPr>
        <p:spPr>
          <a:xfrm>
            <a:off x="9020556" y="3840480"/>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9" name="Connector 18"/>
          <p:cNvCxnSpPr/>
          <p:nvPr/>
        </p:nvCxnSpPr>
        <p:spPr>
          <a:xfrm>
            <a:off x="9020556" y="429768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9020556" y="4462272"/>
            <a:ext cx="2409444" cy="1261872"/>
          </a:xfrm>
          <a:prstGeom prst="rect">
            <a:avLst/>
          </a:prstGeom>
          <a:noFill/>
        </p:spPr>
        <p:txBody>
          <a:bodyPr wrap="square">
            <a:spAutoFit/>
          </a:bodyPr>
          <a:lstStyle/>
          <a:p>
            <a:pPr algn="l"/>
            <a:r>
              <a:rPr sz="2200" b="0">
                <a:solidFill>
                  <a:srgbClr val="20201E"/>
                </a:solidFill>
                <a:latin typeface="Georgia"/>
                <a:ea typeface="Arial"/>
                <a:cs typeface="Arial"/>
              </a:rPr>
              <a:t>Сделать вывод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n8n связывает шаги процесса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n8n · docs.n8n.io/advanced-ai/ · учебная схема FAQ-бота</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42</a:t>
            </a:r>
          </a:p>
        </p:txBody>
      </p:sp>
      <p:sp>
        <p:nvSpPr>
          <p:cNvPr id="5" name="TextBox 4"/>
          <p:cNvSpPr txBox="1"/>
          <p:nvPr/>
        </p:nvSpPr>
        <p:spPr>
          <a:xfrm>
            <a:off x="640080" y="2148840"/>
            <a:ext cx="2409444"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60604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770632"/>
            <a:ext cx="2409444" cy="1261872"/>
          </a:xfrm>
          <a:prstGeom prst="rect">
            <a:avLst/>
          </a:prstGeom>
          <a:noFill/>
        </p:spPr>
        <p:txBody>
          <a:bodyPr wrap="square">
            <a:spAutoFit/>
          </a:bodyPr>
          <a:lstStyle/>
          <a:p>
            <a:pPr algn="l"/>
            <a:r>
              <a:rPr sz="2200" b="0">
                <a:solidFill>
                  <a:srgbClr val="20201E"/>
                </a:solidFill>
                <a:latin typeface="Georgia"/>
                <a:ea typeface="Arial"/>
                <a:cs typeface="Arial"/>
              </a:rPr>
              <a:t>Вопрос
в Telegram</a:t>
            </a:r>
          </a:p>
        </p:txBody>
      </p:sp>
      <p:sp>
        <p:nvSpPr>
          <p:cNvPr id="8" name="Right Arrow 7"/>
          <p:cNvSpPr/>
          <p:nvPr/>
        </p:nvSpPr>
        <p:spPr>
          <a:xfrm>
            <a:off x="3131820" y="253288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3433572" y="2148840"/>
            <a:ext cx="2409444"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3433572" y="260604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3433572" y="2770632"/>
            <a:ext cx="2409444" cy="1261872"/>
          </a:xfrm>
          <a:prstGeom prst="rect">
            <a:avLst/>
          </a:prstGeom>
          <a:noFill/>
        </p:spPr>
        <p:txBody>
          <a:bodyPr wrap="square">
            <a:spAutoFit/>
          </a:bodyPr>
          <a:lstStyle/>
          <a:p>
            <a:pPr algn="l"/>
            <a:r>
              <a:rPr sz="2200" b="0">
                <a:solidFill>
                  <a:srgbClr val="20201E"/>
                </a:solidFill>
                <a:latin typeface="Georgia"/>
                <a:ea typeface="Arial"/>
                <a:cs typeface="Arial"/>
              </a:rPr>
              <a:t>Поиск
по справке</a:t>
            </a:r>
          </a:p>
        </p:txBody>
      </p:sp>
      <p:sp>
        <p:nvSpPr>
          <p:cNvPr id="12" name="Right Arrow 11"/>
          <p:cNvSpPr/>
          <p:nvPr/>
        </p:nvSpPr>
        <p:spPr>
          <a:xfrm>
            <a:off x="5925312" y="253288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6227064" y="2148840"/>
            <a:ext cx="2409444"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6227064" y="260604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227064" y="2770632"/>
            <a:ext cx="2409444" cy="1261872"/>
          </a:xfrm>
          <a:prstGeom prst="rect">
            <a:avLst/>
          </a:prstGeom>
          <a:noFill/>
        </p:spPr>
        <p:txBody>
          <a:bodyPr wrap="square">
            <a:spAutoFit/>
          </a:bodyPr>
          <a:lstStyle/>
          <a:p>
            <a:pPr algn="l"/>
            <a:r>
              <a:rPr sz="2200" b="0">
                <a:solidFill>
                  <a:srgbClr val="20201E"/>
                </a:solidFill>
                <a:latin typeface="Georgia"/>
                <a:ea typeface="Arial"/>
                <a:cs typeface="Arial"/>
              </a:rPr>
              <a:t>Черновик
со ссылкой</a:t>
            </a:r>
          </a:p>
        </p:txBody>
      </p:sp>
      <p:sp>
        <p:nvSpPr>
          <p:cNvPr id="16" name="Right Arrow 15"/>
          <p:cNvSpPr/>
          <p:nvPr/>
        </p:nvSpPr>
        <p:spPr>
          <a:xfrm>
            <a:off x="8718804" y="2532888"/>
            <a:ext cx="219456" cy="146304"/>
          </a:xfrm>
          <a:prstGeom prst="rightArrow">
            <a:avLst/>
          </a:prstGeom>
          <a:solidFill>
            <a:srgbClr val="C5422D"/>
          </a:solidFill>
          <a:ln>
            <a:noFill/>
          </a:ln>
        </p:spPr>
        <p:txBody>
          <a:bodyPr rtlCol="0" anchor="ctr"/>
          <a:lstStyle/>
          <a:p>
            <a:pPr algn="ctr"/>
          </a:p>
        </p:txBody>
      </p:sp>
      <p:sp>
        <p:nvSpPr>
          <p:cNvPr id="17" name="TextBox 16"/>
          <p:cNvSpPr txBox="1"/>
          <p:nvPr/>
        </p:nvSpPr>
        <p:spPr>
          <a:xfrm>
            <a:off x="9020556" y="2148840"/>
            <a:ext cx="2409444" cy="320040"/>
          </a:xfrm>
          <a:prstGeom prst="rect">
            <a:avLst/>
          </a:prstGeom>
          <a:noFill/>
        </p:spPr>
        <p:txBody>
          <a:bodyPr wrap="square">
            <a:spAutoFit/>
          </a:bodyPr>
          <a:lstStyle/>
          <a:p>
            <a:pPr algn="l"/>
            <a:r>
              <a:rPr sz="1500" b="0">
                <a:solidFill>
                  <a:srgbClr val="C5422D"/>
                </a:solidFill>
                <a:latin typeface="Arial"/>
                <a:ea typeface="Arial"/>
                <a:cs typeface="Arial"/>
              </a:rPr>
              <a:t>4</a:t>
            </a:r>
          </a:p>
        </p:txBody>
      </p:sp>
      <p:cxnSp>
        <p:nvCxnSpPr>
          <p:cNvPr id="18" name="Connector 17"/>
          <p:cNvCxnSpPr/>
          <p:nvPr/>
        </p:nvCxnSpPr>
        <p:spPr>
          <a:xfrm>
            <a:off x="9020556" y="2606040"/>
            <a:ext cx="2409444"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020556" y="2770632"/>
            <a:ext cx="2409444" cy="1261872"/>
          </a:xfrm>
          <a:prstGeom prst="rect">
            <a:avLst/>
          </a:prstGeom>
          <a:noFill/>
        </p:spPr>
        <p:txBody>
          <a:bodyPr wrap="square">
            <a:spAutoFit/>
          </a:bodyPr>
          <a:lstStyle/>
          <a:p>
            <a:pPr algn="l"/>
            <a:r>
              <a:rPr sz="2200" b="0">
                <a:solidFill>
                  <a:srgbClr val="20201E"/>
                </a:solidFill>
                <a:latin typeface="Georgia"/>
                <a:ea typeface="Arial"/>
                <a:cs typeface="Arial"/>
              </a:rPr>
              <a:t>Ответ или
человек</a:t>
            </a:r>
          </a:p>
        </p:txBody>
      </p:sp>
      <p:sp>
        <p:nvSpPr>
          <p:cNvPr id="20" name="TextBox 19"/>
          <p:cNvSpPr txBox="1"/>
          <p:nvPr/>
        </p:nvSpPr>
        <p:spPr>
          <a:xfrm>
            <a:off x="914400" y="4343400"/>
            <a:ext cx="10241280" cy="1005840"/>
          </a:xfrm>
          <a:prstGeom prst="rect">
            <a:avLst/>
          </a:prstGeom>
          <a:noFill/>
        </p:spPr>
        <p:txBody>
          <a:bodyPr wrap="square">
            <a:spAutoFit/>
          </a:bodyPr>
          <a:lstStyle/>
          <a:p>
            <a:pPr algn="l"/>
            <a:r>
              <a:rPr sz="2500" b="0">
                <a:solidFill>
                  <a:srgbClr val="20201E"/>
                </a:solidFill>
                <a:latin typeface="Arial"/>
                <a:ea typeface="Arial"/>
                <a:cs typeface="Arial"/>
              </a:rPr>
              <a:t>Триггер → данные → обработка → проверка → действие
Сегодня разбираем устройство; развёртывание — отдельная задача.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«В контуре» — это архитектура и правила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u="none">
                <a:solidFill>
                  <a:srgbClr val="66635D"/>
                </a:solidFill>
                <a:latin typeface="Arial"/>
                <a:ea typeface="Arial"/>
                <a:cs typeface="Arial"/>
              </a:rPr>
              <a:t>NIST AI 600-1; пример корпоративного внедрения DLA Piper / Microsoft, 2024</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43</a:t>
            </a:r>
          </a:p>
        </p:txBody>
      </p:sp>
      <p:cxnSp>
        <p:nvCxnSpPr>
          <p:cNvPr id="5" name="Connector 4"/>
          <p:cNvCxnSpPr/>
          <p:nvPr/>
        </p:nvCxnSpPr>
        <p:spPr>
          <a:xfrm>
            <a:off x="640080" y="183794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965960"/>
            <a:ext cx="3776472" cy="960120"/>
          </a:xfrm>
          <a:prstGeom prst="rect">
            <a:avLst/>
          </a:prstGeom>
          <a:noFill/>
        </p:spPr>
        <p:txBody>
          <a:bodyPr wrap="square">
            <a:spAutoFit/>
          </a:bodyPr>
          <a:lstStyle/>
          <a:p>
            <a:pPr algn="l"/>
            <a:r>
              <a:rPr sz="2500" b="0">
                <a:solidFill>
                  <a:srgbClr val="20201E"/>
                </a:solidFill>
                <a:latin typeface="Georgia"/>
                <a:ea typeface="Arial"/>
                <a:cs typeface="Arial"/>
              </a:rPr>
              <a:t>Корпоративный сервис</a:t>
            </a:r>
          </a:p>
        </p:txBody>
      </p:sp>
      <p:sp>
        <p:nvSpPr>
          <p:cNvPr id="7" name="TextBox 6"/>
          <p:cNvSpPr txBox="1"/>
          <p:nvPr/>
        </p:nvSpPr>
        <p:spPr>
          <a:xfrm>
            <a:off x="4632350" y="1965960"/>
            <a:ext cx="6689750" cy="960120"/>
          </a:xfrm>
          <a:prstGeom prst="rect">
            <a:avLst/>
          </a:prstGeom>
          <a:noFill/>
        </p:spPr>
        <p:txBody>
          <a:bodyPr wrap="square">
            <a:spAutoFit/>
          </a:bodyPr>
          <a:lstStyle/>
          <a:p>
            <a:pPr algn="l"/>
            <a:r>
              <a:rPr sz="2300" b="0">
                <a:solidFill>
                  <a:srgbClr val="20201E"/>
                </a:solidFill>
                <a:latin typeface="Arial"/>
                <a:ea typeface="Arial"/>
                <a:cs typeface="Arial"/>
              </a:rPr>
              <a:t>Договор, настройки обработки и права</a:t>
            </a:r>
          </a:p>
        </p:txBody>
      </p:sp>
      <p:cxnSp>
        <p:nvCxnSpPr>
          <p:cNvPr id="8" name="Connector 7"/>
          <p:cNvCxnSpPr/>
          <p:nvPr/>
        </p:nvCxnSpPr>
        <p:spPr>
          <a:xfrm>
            <a:off x="640080" y="293522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3063239"/>
            <a:ext cx="3776472" cy="960120"/>
          </a:xfrm>
          <a:prstGeom prst="rect">
            <a:avLst/>
          </a:prstGeom>
          <a:noFill/>
        </p:spPr>
        <p:txBody>
          <a:bodyPr wrap="square">
            <a:spAutoFit/>
          </a:bodyPr>
          <a:lstStyle/>
          <a:p>
            <a:pPr algn="l"/>
            <a:r>
              <a:rPr sz="2500" b="0">
                <a:solidFill>
                  <a:srgbClr val="20201E"/>
                </a:solidFill>
                <a:latin typeface="Georgia"/>
                <a:ea typeface="Arial"/>
                <a:cs typeface="Arial"/>
              </a:rPr>
              <a:t>Локальная модель</a:t>
            </a:r>
          </a:p>
        </p:txBody>
      </p:sp>
      <p:sp>
        <p:nvSpPr>
          <p:cNvPr id="10" name="TextBox 9"/>
          <p:cNvSpPr txBox="1"/>
          <p:nvPr/>
        </p:nvSpPr>
        <p:spPr>
          <a:xfrm>
            <a:off x="4632350" y="3063239"/>
            <a:ext cx="6689750" cy="960120"/>
          </a:xfrm>
          <a:prstGeom prst="rect">
            <a:avLst/>
          </a:prstGeom>
          <a:noFill/>
        </p:spPr>
        <p:txBody>
          <a:bodyPr wrap="square">
            <a:spAutoFit/>
          </a:bodyPr>
          <a:lstStyle/>
          <a:p>
            <a:pPr algn="l"/>
            <a:r>
              <a:rPr sz="2300" b="0">
                <a:solidFill>
                  <a:srgbClr val="20201E"/>
                </a:solidFill>
                <a:latin typeface="Arial"/>
                <a:ea typeface="Arial"/>
                <a:cs typeface="Arial"/>
              </a:rPr>
              <a:t>Своя инфраструктура и эксплуатация</a:t>
            </a:r>
          </a:p>
        </p:txBody>
      </p:sp>
      <p:cxnSp>
        <p:nvCxnSpPr>
          <p:cNvPr id="11" name="Connector 10"/>
          <p:cNvCxnSpPr/>
          <p:nvPr/>
        </p:nvCxnSpPr>
        <p:spPr>
          <a:xfrm>
            <a:off x="640080" y="403250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4160520"/>
            <a:ext cx="3776472" cy="960120"/>
          </a:xfrm>
          <a:prstGeom prst="rect">
            <a:avLst/>
          </a:prstGeom>
          <a:noFill/>
        </p:spPr>
        <p:txBody>
          <a:bodyPr wrap="square">
            <a:spAutoFit/>
          </a:bodyPr>
          <a:lstStyle/>
          <a:p>
            <a:pPr algn="l"/>
            <a:r>
              <a:rPr sz="2500" b="0">
                <a:solidFill>
                  <a:srgbClr val="20201E"/>
                </a:solidFill>
                <a:latin typeface="Georgia"/>
                <a:ea typeface="Arial"/>
                <a:cs typeface="Arial"/>
              </a:rPr>
              <a:t>Защитный слой</a:t>
            </a:r>
          </a:p>
        </p:txBody>
      </p:sp>
      <p:sp>
        <p:nvSpPr>
          <p:cNvPr id="13" name="TextBox 12"/>
          <p:cNvSpPr txBox="1"/>
          <p:nvPr/>
        </p:nvSpPr>
        <p:spPr>
          <a:xfrm>
            <a:off x="4632350" y="4160520"/>
            <a:ext cx="6689750" cy="960120"/>
          </a:xfrm>
          <a:prstGeom prst="rect">
            <a:avLst/>
          </a:prstGeom>
          <a:noFill/>
        </p:spPr>
        <p:txBody>
          <a:bodyPr wrap="square">
            <a:spAutoFit/>
          </a:bodyPr>
          <a:lstStyle/>
          <a:p>
            <a:pPr algn="l"/>
            <a:r>
              <a:rPr sz="2300" b="0">
                <a:solidFill>
                  <a:srgbClr val="20201E"/>
                </a:solidFill>
                <a:latin typeface="Arial"/>
                <a:ea typeface="Arial"/>
                <a:cs typeface="Arial"/>
              </a:rPr>
              <a:t>Доступ · фильтрация · журнал · подтверждение</a:t>
            </a:r>
          </a:p>
        </p:txBody>
      </p:sp>
      <p:sp>
        <p:nvSpPr>
          <p:cNvPr id="14" name="TextBox 13"/>
          <p:cNvSpPr txBox="1"/>
          <p:nvPr/>
        </p:nvSpPr>
        <p:spPr>
          <a:xfrm>
            <a:off x="822960" y="5532120"/>
            <a:ext cx="10241280" cy="502920"/>
          </a:xfrm>
          <a:prstGeom prst="rect">
            <a:avLst/>
          </a:prstGeom>
          <a:noFill/>
        </p:spPr>
        <p:txBody>
          <a:bodyPr wrap="square">
            <a:spAutoFit/>
          </a:bodyPr>
          <a:lstStyle/>
          <a:p>
            <a:pPr algn="l"/>
            <a:r>
              <a:rPr sz="2400" b="1">
                <a:solidFill>
                  <a:srgbClr val="C5422D"/>
                </a:solidFill>
                <a:latin typeface="Arial"/>
                <a:ea typeface="Arial"/>
                <a:cs typeface="Arial"/>
              </a:rPr>
              <a:t>Где данные? Кто видит? Что отправляется наружу?</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Что сегодня остаётся на человеке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D4CEC3"/>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44</a:t>
            </a:r>
          </a:p>
        </p:txBody>
      </p:sp>
      <p:sp>
        <p:nvSpPr>
          <p:cNvPr id="5" name="TextBox 4"/>
          <p:cNvSpPr txBox="1"/>
          <p:nvPr/>
        </p:nvSpPr>
        <p:spPr>
          <a:xfrm>
            <a:off x="822960" y="1920240"/>
            <a:ext cx="10515600" cy="1828800"/>
          </a:xfrm>
          <a:prstGeom prst="rect">
            <a:avLst/>
          </a:prstGeom>
          <a:noFill/>
        </p:spPr>
        <p:txBody>
          <a:bodyPr wrap="square">
            <a:spAutoFit/>
          </a:bodyPr>
          <a:lstStyle/>
          <a:p>
            <a:pPr algn="l"/>
            <a:r>
              <a:rPr sz="4400" b="1">
                <a:solidFill>
                  <a:srgbClr val="FFFFFF"/>
                </a:solidFill>
                <a:latin typeface="Arial"/>
                <a:ea typeface="Arial"/>
                <a:cs typeface="Arial"/>
              </a:rPr>
              <a:t>Цели. Обязательства.
Отношения. Последствия.</a:t>
            </a:r>
          </a:p>
        </p:txBody>
      </p:sp>
      <p:sp>
        <p:nvSpPr>
          <p:cNvPr id="6" name="TextBox 5"/>
          <p:cNvSpPr txBox="1"/>
          <p:nvPr/>
        </p:nvSpPr>
        <p:spPr>
          <a:xfrm>
            <a:off x="914400" y="4572000"/>
            <a:ext cx="9966960" cy="1051560"/>
          </a:xfrm>
          <a:prstGeom prst="rect">
            <a:avLst/>
          </a:prstGeom>
          <a:noFill/>
        </p:spPr>
        <p:txBody>
          <a:bodyPr wrap="square">
            <a:spAutoFit/>
          </a:bodyPr>
          <a:lstStyle/>
          <a:p>
            <a:pPr algn="l"/>
            <a:r>
              <a:rPr sz="3100" b="1">
                <a:solidFill>
                  <a:srgbClr val="E8E3D8"/>
                </a:solidFill>
                <a:latin typeface="Arial"/>
                <a:ea typeface="Arial"/>
                <a:cs typeface="Arial"/>
              </a:rPr>
              <a:t>Кто вправе решить — и кто способен проверить?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Граница возможного проверяется на задаче</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45</a:t>
            </a:r>
          </a:p>
        </p:txBody>
      </p:sp>
      <p:sp>
        <p:nvSpPr>
          <p:cNvPr id="5" name="TextBox 4"/>
          <p:cNvSpPr txBox="1"/>
          <p:nvPr/>
        </p:nvSpPr>
        <p:spPr>
          <a:xfrm>
            <a:off x="640080" y="2103120"/>
            <a:ext cx="3340608" cy="320040"/>
          </a:xfrm>
          <a:prstGeom prst="rect">
            <a:avLst/>
          </a:prstGeom>
          <a:noFill/>
        </p:spPr>
        <p:txBody>
          <a:bodyPr wrap="square">
            <a:spAutoFit/>
          </a:bodyPr>
          <a:lstStyle/>
          <a:p>
            <a:pPr algn="l"/>
            <a:r>
              <a:rPr sz="1500" b="0">
                <a:solidFill>
                  <a:srgbClr val="C5422D"/>
                </a:solidFill>
                <a:latin typeface="Arial"/>
                <a:ea typeface="Arial"/>
                <a:cs typeface="Arial"/>
              </a:rPr>
              <a:t>1</a:t>
            </a:r>
          </a:p>
        </p:txBody>
      </p:sp>
      <p:cxnSp>
        <p:nvCxnSpPr>
          <p:cNvPr id="6" name="Connector 5"/>
          <p:cNvCxnSpPr/>
          <p:nvPr/>
        </p:nvCxnSpPr>
        <p:spPr>
          <a:xfrm>
            <a:off x="640080" y="256032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2724912"/>
            <a:ext cx="3340608" cy="1261872"/>
          </a:xfrm>
          <a:prstGeom prst="rect">
            <a:avLst/>
          </a:prstGeom>
          <a:noFill/>
        </p:spPr>
        <p:txBody>
          <a:bodyPr wrap="square">
            <a:spAutoFit/>
          </a:bodyPr>
          <a:lstStyle/>
          <a:p>
            <a:pPr algn="l"/>
            <a:r>
              <a:rPr sz="2500" b="0">
                <a:solidFill>
                  <a:srgbClr val="20201E"/>
                </a:solidFill>
                <a:latin typeface="Georgia"/>
                <a:ea typeface="Arial"/>
                <a:cs typeface="Arial"/>
              </a:rPr>
              <a:t>Разрешённые
данные</a:t>
            </a:r>
          </a:p>
        </p:txBody>
      </p:sp>
      <p:sp>
        <p:nvSpPr>
          <p:cNvPr id="8" name="Right Arrow 7"/>
          <p:cNvSpPr/>
          <p:nvPr/>
        </p:nvSpPr>
        <p:spPr>
          <a:xfrm>
            <a:off x="4062984" y="2487168"/>
            <a:ext cx="219456" cy="146304"/>
          </a:xfrm>
          <a:prstGeom prst="rightArrow">
            <a:avLst/>
          </a:prstGeom>
          <a:solidFill>
            <a:srgbClr val="C5422D"/>
          </a:solidFill>
          <a:ln>
            <a:noFill/>
          </a:ln>
        </p:spPr>
        <p:txBody>
          <a:bodyPr rtlCol="0" anchor="ctr"/>
          <a:lstStyle/>
          <a:p>
            <a:pPr algn="ctr"/>
          </a:p>
        </p:txBody>
      </p:sp>
      <p:sp>
        <p:nvSpPr>
          <p:cNvPr id="9" name="TextBox 8"/>
          <p:cNvSpPr txBox="1"/>
          <p:nvPr/>
        </p:nvSpPr>
        <p:spPr>
          <a:xfrm>
            <a:off x="4364736" y="2103120"/>
            <a:ext cx="3340608" cy="320040"/>
          </a:xfrm>
          <a:prstGeom prst="rect">
            <a:avLst/>
          </a:prstGeom>
          <a:noFill/>
        </p:spPr>
        <p:txBody>
          <a:bodyPr wrap="square">
            <a:spAutoFit/>
          </a:bodyPr>
          <a:lstStyle/>
          <a:p>
            <a:pPr algn="l"/>
            <a:r>
              <a:rPr sz="1500" b="0">
                <a:solidFill>
                  <a:srgbClr val="C5422D"/>
                </a:solidFill>
                <a:latin typeface="Arial"/>
                <a:ea typeface="Arial"/>
                <a:cs typeface="Arial"/>
              </a:rPr>
              <a:t>2</a:t>
            </a:r>
          </a:p>
        </p:txBody>
      </p:sp>
      <p:cxnSp>
        <p:nvCxnSpPr>
          <p:cNvPr id="10" name="Connector 9"/>
          <p:cNvCxnSpPr/>
          <p:nvPr/>
        </p:nvCxnSpPr>
        <p:spPr>
          <a:xfrm>
            <a:off x="4364736" y="256032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364736" y="2724912"/>
            <a:ext cx="3340608" cy="1261872"/>
          </a:xfrm>
          <a:prstGeom prst="rect">
            <a:avLst/>
          </a:prstGeom>
          <a:noFill/>
        </p:spPr>
        <p:txBody>
          <a:bodyPr wrap="square">
            <a:spAutoFit/>
          </a:bodyPr>
          <a:lstStyle/>
          <a:p>
            <a:pPr algn="l"/>
            <a:r>
              <a:rPr sz="2500" b="0">
                <a:solidFill>
                  <a:srgbClr val="20201E"/>
                </a:solidFill>
                <a:latin typeface="Georgia"/>
                <a:ea typeface="Arial"/>
                <a:cs typeface="Arial"/>
              </a:rPr>
              <a:t>Проверяемый
результат</a:t>
            </a:r>
          </a:p>
        </p:txBody>
      </p:sp>
      <p:sp>
        <p:nvSpPr>
          <p:cNvPr id="12" name="Right Arrow 11"/>
          <p:cNvSpPr/>
          <p:nvPr/>
        </p:nvSpPr>
        <p:spPr>
          <a:xfrm>
            <a:off x="7787640" y="2487168"/>
            <a:ext cx="219456" cy="146304"/>
          </a:xfrm>
          <a:prstGeom prst="rightArrow">
            <a:avLst/>
          </a:prstGeom>
          <a:solidFill>
            <a:srgbClr val="C5422D"/>
          </a:solidFill>
          <a:ln>
            <a:noFill/>
          </a:ln>
        </p:spPr>
        <p:txBody>
          <a:bodyPr rtlCol="0" anchor="ctr"/>
          <a:lstStyle/>
          <a:p>
            <a:pPr algn="ctr"/>
          </a:p>
        </p:txBody>
      </p:sp>
      <p:sp>
        <p:nvSpPr>
          <p:cNvPr id="13" name="TextBox 12"/>
          <p:cNvSpPr txBox="1"/>
          <p:nvPr/>
        </p:nvSpPr>
        <p:spPr>
          <a:xfrm>
            <a:off x="8089392" y="2103120"/>
            <a:ext cx="3340608" cy="320040"/>
          </a:xfrm>
          <a:prstGeom prst="rect">
            <a:avLst/>
          </a:prstGeom>
          <a:noFill/>
        </p:spPr>
        <p:txBody>
          <a:bodyPr wrap="square">
            <a:spAutoFit/>
          </a:bodyPr>
          <a:lstStyle/>
          <a:p>
            <a:pPr algn="l"/>
            <a:r>
              <a:rPr sz="1500" b="0">
                <a:solidFill>
                  <a:srgbClr val="C5422D"/>
                </a:solidFill>
                <a:latin typeface="Arial"/>
                <a:ea typeface="Arial"/>
                <a:cs typeface="Arial"/>
              </a:rPr>
              <a:t>3</a:t>
            </a:r>
          </a:p>
        </p:txBody>
      </p:sp>
      <p:cxnSp>
        <p:nvCxnSpPr>
          <p:cNvPr id="14" name="Connector 13"/>
          <p:cNvCxnSpPr/>
          <p:nvPr/>
        </p:nvCxnSpPr>
        <p:spPr>
          <a:xfrm>
            <a:off x="8089392" y="2560320"/>
            <a:ext cx="3340608"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8089392" y="2724912"/>
            <a:ext cx="3340608" cy="1261872"/>
          </a:xfrm>
          <a:prstGeom prst="rect">
            <a:avLst/>
          </a:prstGeom>
          <a:noFill/>
        </p:spPr>
        <p:txBody>
          <a:bodyPr wrap="square">
            <a:spAutoFit/>
          </a:bodyPr>
          <a:lstStyle/>
          <a:p>
            <a:pPr algn="l"/>
            <a:r>
              <a:rPr sz="2500" b="0">
                <a:solidFill>
                  <a:srgbClr val="20201E"/>
                </a:solidFill>
                <a:latin typeface="Georgia"/>
                <a:ea typeface="Arial"/>
                <a:cs typeface="Arial"/>
              </a:rPr>
              <a:t>Понятный
ответственный</a:t>
            </a:r>
          </a:p>
        </p:txBody>
      </p:sp>
      <p:sp>
        <p:nvSpPr>
          <p:cNvPr id="16" name="TextBox 15"/>
          <p:cNvSpPr txBox="1"/>
          <p:nvPr/>
        </p:nvSpPr>
        <p:spPr>
          <a:xfrm>
            <a:off x="868680" y="4389120"/>
            <a:ext cx="10424160" cy="914400"/>
          </a:xfrm>
          <a:prstGeom prst="rect">
            <a:avLst/>
          </a:prstGeom>
          <a:noFill/>
        </p:spPr>
        <p:txBody>
          <a:bodyPr wrap="square">
            <a:spAutoFit/>
          </a:bodyPr>
          <a:lstStyle/>
          <a:p>
            <a:pPr algn="l"/>
            <a:r>
              <a:rPr sz="2900" b="1">
                <a:solidFill>
                  <a:srgbClr val="20201E"/>
                </a:solidFill>
                <a:latin typeface="Arial"/>
                <a:ea typeface="Arial"/>
                <a:cs typeface="Arial"/>
              </a:rPr>
              <a:t>Есть условия — пробуем ограниченно.
Условий нет — меняем шаг или останавливаемся.</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0201E"/>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FFFFFF"/>
                </a:solidFill>
                <a:latin typeface="Georgia"/>
                <a:ea typeface="Arial"/>
                <a:cs typeface="Arial"/>
              </a:rPr>
              <a:t>К 22 октября: одна проверенная проба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D4CEC3"/>
                </a:solidFill>
                <a:latin typeface="Arial"/>
                <a:ea typeface="Arial"/>
                <a:cs typeface="Arial"/>
              </a:rPr>
              <a:t>Дарья Жуйкова · ИИ для менеджеров · 20 октября 2026</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D4CEC3"/>
                </a:solidFill>
                <a:latin typeface="Arial"/>
                <a:ea typeface="Arial"/>
                <a:cs typeface="Arial"/>
              </a:rPr>
              <a:t>46</a:t>
            </a:r>
          </a:p>
        </p:txBody>
      </p:sp>
      <p:sp>
        <p:nvSpPr>
          <p:cNvPr id="5" name="TextBox 4"/>
          <p:cNvSpPr txBox="1"/>
          <p:nvPr/>
        </p:nvSpPr>
        <p:spPr>
          <a:xfrm>
            <a:off x="822960" y="1828800"/>
            <a:ext cx="10241280" cy="1371600"/>
          </a:xfrm>
          <a:prstGeom prst="rect">
            <a:avLst/>
          </a:prstGeom>
          <a:noFill/>
        </p:spPr>
        <p:txBody>
          <a:bodyPr wrap="square">
            <a:spAutoFit/>
          </a:bodyPr>
          <a:lstStyle/>
          <a:p>
            <a:pPr algn="l"/>
            <a:r>
              <a:rPr sz="4300" b="1">
                <a:solidFill>
                  <a:srgbClr val="FFFFFF"/>
                </a:solidFill>
                <a:latin typeface="Arial"/>
                <a:ea typeface="Arial"/>
                <a:cs typeface="Arial"/>
              </a:rPr>
              <a:t>Пять задач отдела.
Одна проба и честный вывод.</a:t>
            </a:r>
          </a:p>
        </p:txBody>
      </p:sp>
      <p:sp>
        <p:nvSpPr>
          <p:cNvPr id="6" name="TextBox 5"/>
          <p:cNvSpPr txBox="1"/>
          <p:nvPr/>
        </p:nvSpPr>
        <p:spPr>
          <a:xfrm>
            <a:off x="914400" y="4114800"/>
            <a:ext cx="10241280" cy="914400"/>
          </a:xfrm>
          <a:prstGeom prst="rect">
            <a:avLst/>
          </a:prstGeom>
          <a:noFill/>
        </p:spPr>
        <p:txBody>
          <a:bodyPr wrap="square">
            <a:spAutoFit/>
          </a:bodyPr>
          <a:lstStyle/>
          <a:p>
            <a:pPr algn="l"/>
            <a:r>
              <a:rPr sz="2700" b="1">
                <a:solidFill>
                  <a:srgbClr val="E8E3D8"/>
                </a:solidFill>
                <a:latin typeface="Arial"/>
                <a:ea typeface="Arial"/>
                <a:cs typeface="Arial"/>
              </a:rPr>
              <a:t>Запрос · результат · проверка · полное время</a:t>
            </a:r>
          </a:p>
        </p:txBody>
      </p:sp>
      <p:sp>
        <p:nvSpPr>
          <p:cNvPr id="7" name="TextBox 6"/>
          <p:cNvSpPr txBox="1"/>
          <p:nvPr/>
        </p:nvSpPr>
        <p:spPr>
          <a:xfrm>
            <a:off x="914400" y="5394960"/>
            <a:ext cx="10241280" cy="548640"/>
          </a:xfrm>
          <a:prstGeom prst="rect">
            <a:avLst/>
          </a:prstGeom>
          <a:noFill/>
        </p:spPr>
        <p:txBody>
          <a:bodyPr wrap="square">
            <a:spAutoFit/>
          </a:bodyPr>
          <a:lstStyle/>
          <a:p>
            <a:pPr algn="l"/>
            <a:r>
              <a:rPr sz="2300" b="0">
                <a:solidFill>
                  <a:srgbClr val="FFFFFF"/>
                </a:solidFill>
                <a:latin typeface="Arial"/>
                <a:ea typeface="Arial"/>
                <a:cs typeface="Arial"/>
              </a:rPr>
              <a:t>Следующая встреча: как помочь команде освоить ИИ</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Слова, к которым можно вернуться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Справочные слайды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47</a:t>
            </a:r>
          </a:p>
        </p:txBody>
      </p:sp>
      <p:cxnSp>
        <p:nvCxnSpPr>
          <p:cNvPr id="5" name="Connector 4"/>
          <p:cNvCxnSpPr/>
          <p:nvPr/>
        </p:nvCxnSpPr>
        <p:spPr>
          <a:xfrm>
            <a:off x="640080" y="1609343"/>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37360"/>
            <a:ext cx="3776472" cy="557784"/>
          </a:xfrm>
          <a:prstGeom prst="rect">
            <a:avLst/>
          </a:prstGeom>
          <a:noFill/>
        </p:spPr>
        <p:txBody>
          <a:bodyPr wrap="square">
            <a:spAutoFit/>
          </a:bodyPr>
          <a:lstStyle/>
          <a:p>
            <a:pPr algn="l"/>
            <a:r>
              <a:rPr sz="2200" b="0">
                <a:solidFill>
                  <a:srgbClr val="20201E"/>
                </a:solidFill>
                <a:latin typeface="Georgia"/>
                <a:ea typeface="Arial"/>
                <a:cs typeface="Arial"/>
              </a:rPr>
              <a:t>Промпт</a:t>
            </a:r>
          </a:p>
        </p:txBody>
      </p:sp>
      <p:sp>
        <p:nvSpPr>
          <p:cNvPr id="7" name="TextBox 6"/>
          <p:cNvSpPr txBox="1"/>
          <p:nvPr/>
        </p:nvSpPr>
        <p:spPr>
          <a:xfrm>
            <a:off x="4632350" y="1737360"/>
            <a:ext cx="6689750" cy="557784"/>
          </a:xfrm>
          <a:prstGeom prst="rect">
            <a:avLst/>
          </a:prstGeom>
          <a:noFill/>
        </p:spPr>
        <p:txBody>
          <a:bodyPr wrap="square">
            <a:spAutoFit/>
          </a:bodyPr>
          <a:lstStyle/>
          <a:p>
            <a:pPr algn="l"/>
            <a:r>
              <a:rPr sz="2000" b="0">
                <a:solidFill>
                  <a:srgbClr val="20201E"/>
                </a:solidFill>
                <a:latin typeface="Arial"/>
                <a:ea typeface="Arial"/>
                <a:cs typeface="Arial"/>
              </a:rPr>
              <a:t>Инструкция: задача, источник, формат и ограничения</a:t>
            </a:r>
          </a:p>
        </p:txBody>
      </p:sp>
      <p:cxnSp>
        <p:nvCxnSpPr>
          <p:cNvPr id="8" name="Connector 7"/>
          <p:cNvCxnSpPr/>
          <p:nvPr/>
        </p:nvCxnSpPr>
        <p:spPr>
          <a:xfrm>
            <a:off x="640080" y="230428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432304"/>
            <a:ext cx="3776472" cy="557784"/>
          </a:xfrm>
          <a:prstGeom prst="rect">
            <a:avLst/>
          </a:prstGeom>
          <a:noFill/>
        </p:spPr>
        <p:txBody>
          <a:bodyPr wrap="square">
            <a:spAutoFit/>
          </a:bodyPr>
          <a:lstStyle/>
          <a:p>
            <a:pPr algn="l"/>
            <a:r>
              <a:rPr sz="2200" b="0">
                <a:solidFill>
                  <a:srgbClr val="20201E"/>
                </a:solidFill>
                <a:latin typeface="Georgia"/>
                <a:ea typeface="Arial"/>
                <a:cs typeface="Arial"/>
              </a:rPr>
              <a:t>Контекст</a:t>
            </a:r>
          </a:p>
        </p:txBody>
      </p:sp>
      <p:sp>
        <p:nvSpPr>
          <p:cNvPr id="10" name="TextBox 9"/>
          <p:cNvSpPr txBox="1"/>
          <p:nvPr/>
        </p:nvSpPr>
        <p:spPr>
          <a:xfrm>
            <a:off x="4632350" y="2432304"/>
            <a:ext cx="6689750" cy="557784"/>
          </a:xfrm>
          <a:prstGeom prst="rect">
            <a:avLst/>
          </a:prstGeom>
          <a:noFill/>
        </p:spPr>
        <p:txBody>
          <a:bodyPr wrap="square">
            <a:spAutoFit/>
          </a:bodyPr>
          <a:lstStyle/>
          <a:p>
            <a:pPr algn="l"/>
            <a:r>
              <a:rPr sz="2000" b="0">
                <a:solidFill>
                  <a:srgbClr val="20201E"/>
                </a:solidFill>
                <a:latin typeface="Arial"/>
                <a:ea typeface="Arial"/>
                <a:cs typeface="Arial"/>
              </a:rPr>
              <a:t>Сведения, доступные модели для ответа</a:t>
            </a:r>
          </a:p>
        </p:txBody>
      </p:sp>
      <p:cxnSp>
        <p:nvCxnSpPr>
          <p:cNvPr id="11" name="Connector 10"/>
          <p:cNvCxnSpPr/>
          <p:nvPr/>
        </p:nvCxnSpPr>
        <p:spPr>
          <a:xfrm>
            <a:off x="640080" y="299923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127248"/>
            <a:ext cx="3776472" cy="557784"/>
          </a:xfrm>
          <a:prstGeom prst="rect">
            <a:avLst/>
          </a:prstGeom>
          <a:noFill/>
        </p:spPr>
        <p:txBody>
          <a:bodyPr wrap="square">
            <a:spAutoFit/>
          </a:bodyPr>
          <a:lstStyle/>
          <a:p>
            <a:pPr algn="l"/>
            <a:r>
              <a:rPr sz="2200" b="0">
                <a:solidFill>
                  <a:srgbClr val="20201E"/>
                </a:solidFill>
                <a:latin typeface="Georgia"/>
                <a:ea typeface="Arial"/>
                <a:cs typeface="Arial"/>
              </a:rPr>
              <a:t>Агент</a:t>
            </a:r>
          </a:p>
        </p:txBody>
      </p:sp>
      <p:sp>
        <p:nvSpPr>
          <p:cNvPr id="13" name="TextBox 12"/>
          <p:cNvSpPr txBox="1"/>
          <p:nvPr/>
        </p:nvSpPr>
        <p:spPr>
          <a:xfrm>
            <a:off x="4632350" y="3127248"/>
            <a:ext cx="6689750" cy="557784"/>
          </a:xfrm>
          <a:prstGeom prst="rect">
            <a:avLst/>
          </a:prstGeom>
          <a:noFill/>
        </p:spPr>
        <p:txBody>
          <a:bodyPr wrap="square">
            <a:spAutoFit/>
          </a:bodyPr>
          <a:lstStyle/>
          <a:p>
            <a:pPr algn="l"/>
            <a:r>
              <a:rPr sz="2000" b="0">
                <a:solidFill>
                  <a:srgbClr val="20201E"/>
                </a:solidFill>
                <a:latin typeface="Arial"/>
                <a:ea typeface="Arial"/>
                <a:cs typeface="Arial"/>
              </a:rPr>
              <a:t>Выбирает шаги и инструменты в заданных границах</a:t>
            </a:r>
          </a:p>
        </p:txBody>
      </p:sp>
      <p:cxnSp>
        <p:nvCxnSpPr>
          <p:cNvPr id="14" name="Connector 13"/>
          <p:cNvCxnSpPr/>
          <p:nvPr/>
        </p:nvCxnSpPr>
        <p:spPr>
          <a:xfrm>
            <a:off x="640080" y="369417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3822191"/>
            <a:ext cx="3776472" cy="557784"/>
          </a:xfrm>
          <a:prstGeom prst="rect">
            <a:avLst/>
          </a:prstGeom>
          <a:noFill/>
        </p:spPr>
        <p:txBody>
          <a:bodyPr wrap="square">
            <a:spAutoFit/>
          </a:bodyPr>
          <a:lstStyle/>
          <a:p>
            <a:pPr algn="l"/>
            <a:r>
              <a:rPr sz="2200" b="0">
                <a:solidFill>
                  <a:srgbClr val="20201E"/>
                </a:solidFill>
                <a:latin typeface="Georgia"/>
                <a:ea typeface="Arial"/>
                <a:cs typeface="Arial"/>
              </a:rPr>
              <a:t>AI slop</a:t>
            </a:r>
          </a:p>
        </p:txBody>
      </p:sp>
      <p:sp>
        <p:nvSpPr>
          <p:cNvPr id="16" name="TextBox 15"/>
          <p:cNvSpPr txBox="1"/>
          <p:nvPr/>
        </p:nvSpPr>
        <p:spPr>
          <a:xfrm>
            <a:off x="4632350" y="3822191"/>
            <a:ext cx="6689750" cy="557784"/>
          </a:xfrm>
          <a:prstGeom prst="rect">
            <a:avLst/>
          </a:prstGeom>
          <a:noFill/>
        </p:spPr>
        <p:txBody>
          <a:bodyPr wrap="square">
            <a:spAutoFit/>
          </a:bodyPr>
          <a:lstStyle/>
          <a:p>
            <a:pPr algn="l"/>
            <a:r>
              <a:rPr sz="2000" b="0">
                <a:solidFill>
                  <a:srgbClr val="20201E"/>
                </a:solidFill>
                <a:latin typeface="Arial"/>
                <a:ea typeface="Arial"/>
                <a:cs typeface="Arial"/>
              </a:rPr>
              <a:t>Некачественный сгенерированный контент</a:t>
            </a:r>
          </a:p>
        </p:txBody>
      </p:sp>
      <p:cxnSp>
        <p:nvCxnSpPr>
          <p:cNvPr id="17" name="Connector 16"/>
          <p:cNvCxnSpPr/>
          <p:nvPr/>
        </p:nvCxnSpPr>
        <p:spPr>
          <a:xfrm>
            <a:off x="640080" y="438912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4517136"/>
            <a:ext cx="3776472" cy="557784"/>
          </a:xfrm>
          <a:prstGeom prst="rect">
            <a:avLst/>
          </a:prstGeom>
          <a:noFill/>
        </p:spPr>
        <p:txBody>
          <a:bodyPr wrap="square">
            <a:spAutoFit/>
          </a:bodyPr>
          <a:lstStyle/>
          <a:p>
            <a:pPr algn="l"/>
            <a:r>
              <a:rPr sz="2200" b="0">
                <a:solidFill>
                  <a:srgbClr val="20201E"/>
                </a:solidFill>
                <a:latin typeface="Georgia"/>
                <a:ea typeface="Arial"/>
                <a:cs typeface="Arial"/>
              </a:rPr>
              <a:t>Workslop</a:t>
            </a:r>
          </a:p>
        </p:txBody>
      </p:sp>
      <p:sp>
        <p:nvSpPr>
          <p:cNvPr id="19" name="TextBox 18"/>
          <p:cNvSpPr txBox="1"/>
          <p:nvPr/>
        </p:nvSpPr>
        <p:spPr>
          <a:xfrm>
            <a:off x="4632350" y="4517136"/>
            <a:ext cx="6689750" cy="557784"/>
          </a:xfrm>
          <a:prstGeom prst="rect">
            <a:avLst/>
          </a:prstGeom>
          <a:noFill/>
        </p:spPr>
        <p:txBody>
          <a:bodyPr wrap="square">
            <a:spAutoFit/>
          </a:bodyPr>
          <a:lstStyle/>
          <a:p>
            <a:pPr algn="l"/>
            <a:r>
              <a:rPr sz="2000" b="0">
                <a:solidFill>
                  <a:srgbClr val="20201E"/>
                </a:solidFill>
                <a:latin typeface="Arial"/>
                <a:ea typeface="Arial"/>
                <a:cs typeface="Arial"/>
              </a:rPr>
              <a:t>Перекладывание доработки на коллег</a:t>
            </a:r>
          </a:p>
        </p:txBody>
      </p:sp>
      <p:cxnSp>
        <p:nvCxnSpPr>
          <p:cNvPr id="20" name="Connector 19"/>
          <p:cNvCxnSpPr/>
          <p:nvPr/>
        </p:nvCxnSpPr>
        <p:spPr>
          <a:xfrm>
            <a:off x="640080" y="5084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640080" y="5212079"/>
            <a:ext cx="3776472" cy="557784"/>
          </a:xfrm>
          <a:prstGeom prst="rect">
            <a:avLst/>
          </a:prstGeom>
          <a:noFill/>
        </p:spPr>
        <p:txBody>
          <a:bodyPr wrap="square">
            <a:spAutoFit/>
          </a:bodyPr>
          <a:lstStyle/>
          <a:p>
            <a:pPr algn="l"/>
            <a:r>
              <a:rPr sz="2200" b="0">
                <a:solidFill>
                  <a:srgbClr val="20201E"/>
                </a:solidFill>
                <a:latin typeface="Georgia"/>
                <a:ea typeface="Arial"/>
                <a:cs typeface="Arial"/>
              </a:rPr>
              <a:t>Vibe coding</a:t>
            </a:r>
          </a:p>
        </p:txBody>
      </p:sp>
      <p:sp>
        <p:nvSpPr>
          <p:cNvPr id="22" name="TextBox 21"/>
          <p:cNvSpPr txBox="1"/>
          <p:nvPr/>
        </p:nvSpPr>
        <p:spPr>
          <a:xfrm>
            <a:off x="4632350" y="5212079"/>
            <a:ext cx="6689750" cy="557784"/>
          </a:xfrm>
          <a:prstGeom prst="rect">
            <a:avLst/>
          </a:prstGeom>
          <a:noFill/>
        </p:spPr>
        <p:txBody>
          <a:bodyPr wrap="square">
            <a:spAutoFit/>
          </a:bodyPr>
          <a:lstStyle/>
          <a:p>
            <a:pPr algn="l"/>
            <a:r>
              <a:rPr sz="2000" b="0">
                <a:solidFill>
                  <a:srgbClr val="20201E"/>
                </a:solidFill>
                <a:latin typeface="Arial"/>
                <a:ea typeface="Arial"/>
                <a:cs typeface="Arial"/>
              </a:rPr>
              <a:t>Программа по описанию, почти без разбора кода</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Сервисы: с чего начать проверку</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Справочные слайды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48</a:t>
            </a:r>
          </a:p>
        </p:txBody>
      </p:sp>
      <p:cxnSp>
        <p:nvCxnSpPr>
          <p:cNvPr id="5" name="Connector 4"/>
          <p:cNvCxnSpPr/>
          <p:nvPr/>
        </p:nvCxnSpPr>
        <p:spPr>
          <a:xfrm>
            <a:off x="640080" y="17007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828800"/>
            <a:ext cx="3776472" cy="649224"/>
          </a:xfrm>
          <a:prstGeom prst="rect">
            <a:avLst/>
          </a:prstGeom>
          <a:noFill/>
        </p:spPr>
        <p:txBody>
          <a:bodyPr wrap="square">
            <a:spAutoFit/>
          </a:bodyPr>
          <a:lstStyle/>
          <a:p>
            <a:pPr algn="l"/>
            <a:r>
              <a:rPr sz="2300" b="0">
                <a:solidFill>
                  <a:srgbClr val="20201E"/>
                </a:solidFill>
                <a:latin typeface="Georgia"/>
                <a:ea typeface="Arial"/>
                <a:cs typeface="Arial"/>
              </a:rPr>
              <a:t>Текст и документы</a:t>
            </a:r>
          </a:p>
        </p:txBody>
      </p:sp>
      <p:sp>
        <p:nvSpPr>
          <p:cNvPr id="7" name="TextBox 6"/>
          <p:cNvSpPr txBox="1"/>
          <p:nvPr/>
        </p:nvSpPr>
        <p:spPr>
          <a:xfrm>
            <a:off x="4632350" y="1828800"/>
            <a:ext cx="6689750" cy="649224"/>
          </a:xfrm>
          <a:prstGeom prst="rect">
            <a:avLst/>
          </a:prstGeom>
          <a:noFill/>
        </p:spPr>
        <p:txBody>
          <a:bodyPr wrap="square">
            <a:spAutoFit/>
          </a:bodyPr>
          <a:lstStyle/>
          <a:p>
            <a:pPr algn="l"/>
            <a:r>
              <a:rPr sz="2100" b="0">
                <a:solidFill>
                  <a:srgbClr val="20201E"/>
                </a:solidFill>
                <a:latin typeface="Arial"/>
                <a:ea typeface="Arial"/>
                <a:cs typeface="Arial"/>
              </a:rPr>
              <a:t>Алиса AI · ГигаЧат · Claude · Gemini · ChatGPT</a:t>
            </a:r>
          </a:p>
        </p:txBody>
      </p:sp>
      <p:cxnSp>
        <p:nvCxnSpPr>
          <p:cNvPr id="8" name="Connector 7"/>
          <p:cNvCxnSpPr/>
          <p:nvPr/>
        </p:nvCxnSpPr>
        <p:spPr>
          <a:xfrm>
            <a:off x="640080" y="248716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15184"/>
            <a:ext cx="3776472" cy="649224"/>
          </a:xfrm>
          <a:prstGeom prst="rect">
            <a:avLst/>
          </a:prstGeom>
          <a:noFill/>
        </p:spPr>
        <p:txBody>
          <a:bodyPr wrap="square">
            <a:spAutoFit/>
          </a:bodyPr>
          <a:lstStyle/>
          <a:p>
            <a:pPr algn="l"/>
            <a:r>
              <a:rPr sz="2300" b="0">
                <a:solidFill>
                  <a:srgbClr val="20201E"/>
                </a:solidFill>
                <a:latin typeface="Georgia"/>
                <a:ea typeface="Arial"/>
                <a:cs typeface="Arial"/>
              </a:rPr>
              <a:t>Справка по документам</a:t>
            </a:r>
          </a:p>
        </p:txBody>
      </p:sp>
      <p:sp>
        <p:nvSpPr>
          <p:cNvPr id="10" name="TextBox 9"/>
          <p:cNvSpPr txBox="1"/>
          <p:nvPr/>
        </p:nvSpPr>
        <p:spPr>
          <a:xfrm>
            <a:off x="4632350" y="2615184"/>
            <a:ext cx="6689750" cy="649224"/>
          </a:xfrm>
          <a:prstGeom prst="rect">
            <a:avLst/>
          </a:prstGeom>
          <a:noFill/>
        </p:spPr>
        <p:txBody>
          <a:bodyPr wrap="square">
            <a:spAutoFit/>
          </a:bodyPr>
          <a:lstStyle/>
          <a:p>
            <a:pPr algn="l"/>
            <a:r>
              <a:rPr sz="2100" b="0">
                <a:solidFill>
                  <a:srgbClr val="20201E"/>
                </a:solidFill>
                <a:latin typeface="Arial"/>
                <a:ea typeface="Arial"/>
                <a:cs typeface="Arial"/>
              </a:rPr>
              <a:t>Корпоративный поиск / RAG с правами доступа</a:t>
            </a:r>
          </a:p>
        </p:txBody>
      </p:sp>
      <p:cxnSp>
        <p:nvCxnSpPr>
          <p:cNvPr id="11" name="Connector 10"/>
          <p:cNvCxnSpPr/>
          <p:nvPr/>
        </p:nvCxnSpPr>
        <p:spPr>
          <a:xfrm>
            <a:off x="640080" y="3273551"/>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401568"/>
            <a:ext cx="3776472" cy="649224"/>
          </a:xfrm>
          <a:prstGeom prst="rect">
            <a:avLst/>
          </a:prstGeom>
          <a:noFill/>
        </p:spPr>
        <p:txBody>
          <a:bodyPr wrap="square">
            <a:spAutoFit/>
          </a:bodyPr>
          <a:lstStyle/>
          <a:p>
            <a:pPr algn="l"/>
            <a:r>
              <a:rPr sz="2300" b="0">
                <a:solidFill>
                  <a:srgbClr val="20201E"/>
                </a:solidFill>
                <a:latin typeface="Georgia"/>
                <a:ea typeface="Arial"/>
                <a:cs typeface="Arial"/>
              </a:rPr>
              <a:t>Встречи</a:t>
            </a:r>
          </a:p>
        </p:txBody>
      </p:sp>
      <p:sp>
        <p:nvSpPr>
          <p:cNvPr id="13" name="TextBox 12"/>
          <p:cNvSpPr txBox="1"/>
          <p:nvPr/>
        </p:nvSpPr>
        <p:spPr>
          <a:xfrm>
            <a:off x="4632350" y="3401568"/>
            <a:ext cx="6689750" cy="649224"/>
          </a:xfrm>
          <a:prstGeom prst="rect">
            <a:avLst/>
          </a:prstGeom>
          <a:noFill/>
        </p:spPr>
        <p:txBody>
          <a:bodyPr wrap="square">
            <a:spAutoFit/>
          </a:bodyPr>
          <a:lstStyle/>
          <a:p>
            <a:pPr algn="l"/>
            <a:r>
              <a:rPr sz="2100" b="0">
                <a:solidFill>
                  <a:srgbClr val="20201E"/>
                </a:solidFill>
                <a:latin typeface="Arial"/>
                <a:ea typeface="Arial"/>
                <a:cs typeface="Arial"/>
              </a:rPr>
              <a:t>Расшифровка → протокол → сверка по записи</a:t>
            </a:r>
          </a:p>
        </p:txBody>
      </p:sp>
      <p:cxnSp>
        <p:nvCxnSpPr>
          <p:cNvPr id="14" name="Connector 13"/>
          <p:cNvCxnSpPr/>
          <p:nvPr/>
        </p:nvCxnSpPr>
        <p:spPr>
          <a:xfrm>
            <a:off x="640080" y="40599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187952"/>
            <a:ext cx="3776472" cy="649224"/>
          </a:xfrm>
          <a:prstGeom prst="rect">
            <a:avLst/>
          </a:prstGeom>
          <a:noFill/>
        </p:spPr>
        <p:txBody>
          <a:bodyPr wrap="square">
            <a:spAutoFit/>
          </a:bodyPr>
          <a:lstStyle/>
          <a:p>
            <a:pPr algn="l"/>
            <a:r>
              <a:rPr sz="2300" b="0">
                <a:solidFill>
                  <a:srgbClr val="20201E"/>
                </a:solidFill>
                <a:latin typeface="Georgia"/>
                <a:ea typeface="Arial"/>
                <a:cs typeface="Arial"/>
              </a:rPr>
              <a:t>Интеграции</a:t>
            </a:r>
          </a:p>
        </p:txBody>
      </p:sp>
      <p:sp>
        <p:nvSpPr>
          <p:cNvPr id="16" name="TextBox 15"/>
          <p:cNvSpPr txBox="1"/>
          <p:nvPr/>
        </p:nvSpPr>
        <p:spPr>
          <a:xfrm>
            <a:off x="4632350" y="4187952"/>
            <a:ext cx="6689750" cy="649224"/>
          </a:xfrm>
          <a:prstGeom prst="rect">
            <a:avLst/>
          </a:prstGeom>
          <a:noFill/>
        </p:spPr>
        <p:txBody>
          <a:bodyPr wrap="square">
            <a:spAutoFit/>
          </a:bodyPr>
          <a:lstStyle/>
          <a:p>
            <a:pPr algn="l"/>
            <a:r>
              <a:rPr sz="2100" b="0">
                <a:solidFill>
                  <a:srgbClr val="20201E"/>
                </a:solidFill>
                <a:latin typeface="Arial"/>
                <a:ea typeface="Arial"/>
                <a:cs typeface="Arial"/>
              </a:rPr>
              <a:t>n8n · Альбато · Make</a:t>
            </a:r>
          </a:p>
        </p:txBody>
      </p:sp>
      <p:cxnSp>
        <p:nvCxnSpPr>
          <p:cNvPr id="17" name="Connector 16"/>
          <p:cNvCxnSpPr/>
          <p:nvPr/>
        </p:nvCxnSpPr>
        <p:spPr>
          <a:xfrm>
            <a:off x="640080" y="484632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4974336"/>
            <a:ext cx="3776472" cy="649224"/>
          </a:xfrm>
          <a:prstGeom prst="rect">
            <a:avLst/>
          </a:prstGeom>
          <a:noFill/>
        </p:spPr>
        <p:txBody>
          <a:bodyPr wrap="square">
            <a:spAutoFit/>
          </a:bodyPr>
          <a:lstStyle/>
          <a:p>
            <a:pPr algn="l"/>
            <a:r>
              <a:rPr sz="2300" b="0">
                <a:solidFill>
                  <a:srgbClr val="20201E"/>
                </a:solidFill>
                <a:latin typeface="Georgia"/>
                <a:ea typeface="Arial"/>
                <a:cs typeface="Arial"/>
              </a:rPr>
              <a:t>Локальный запуск</a:t>
            </a:r>
          </a:p>
        </p:txBody>
      </p:sp>
      <p:sp>
        <p:nvSpPr>
          <p:cNvPr id="19" name="TextBox 18"/>
          <p:cNvSpPr txBox="1"/>
          <p:nvPr/>
        </p:nvSpPr>
        <p:spPr>
          <a:xfrm>
            <a:off x="4632350" y="4974336"/>
            <a:ext cx="6689750" cy="649224"/>
          </a:xfrm>
          <a:prstGeom prst="rect">
            <a:avLst/>
          </a:prstGeom>
          <a:noFill/>
        </p:spPr>
        <p:txBody>
          <a:bodyPr wrap="square">
            <a:spAutoFit/>
          </a:bodyPr>
          <a:lstStyle/>
          <a:p>
            <a:pPr algn="l"/>
            <a:r>
              <a:rPr sz="2100" b="0">
                <a:solidFill>
                  <a:srgbClr val="20201E"/>
                </a:solidFill>
                <a:latin typeface="Arial"/>
                <a:ea typeface="Arial"/>
                <a:cs typeface="Arial"/>
              </a:rPr>
              <a:t>Версия модели + лицензия + оборудование</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Доступность — часть выбора инструмента</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Справочные слайды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49</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740664"/>
          </a:xfrm>
          <a:prstGeom prst="rect">
            <a:avLst/>
          </a:prstGeom>
          <a:noFill/>
        </p:spPr>
        <p:txBody>
          <a:bodyPr wrap="square">
            <a:spAutoFit/>
          </a:bodyPr>
          <a:lstStyle/>
          <a:p>
            <a:pPr algn="l"/>
            <a:r>
              <a:rPr sz="2400" b="0">
                <a:solidFill>
                  <a:srgbClr val="20201E"/>
                </a:solidFill>
                <a:latin typeface="Georgia"/>
                <a:ea typeface="Arial"/>
                <a:cs typeface="Arial"/>
              </a:rPr>
              <a:t>Официальный вход</a:t>
            </a:r>
          </a:p>
        </p:txBody>
      </p:sp>
      <p:sp>
        <p:nvSpPr>
          <p:cNvPr id="7" name="TextBox 6"/>
          <p:cNvSpPr txBox="1"/>
          <p:nvPr/>
        </p:nvSpPr>
        <p:spPr>
          <a:xfrm>
            <a:off x="4632350" y="1783080"/>
            <a:ext cx="6689750" cy="740664"/>
          </a:xfrm>
          <a:prstGeom prst="rect">
            <a:avLst/>
          </a:prstGeom>
          <a:noFill/>
        </p:spPr>
        <p:txBody>
          <a:bodyPr wrap="square">
            <a:spAutoFit/>
          </a:bodyPr>
          <a:lstStyle/>
          <a:p>
            <a:pPr algn="l"/>
            <a:r>
              <a:rPr sz="2200" b="0">
                <a:solidFill>
                  <a:srgbClr val="20201E"/>
                </a:solidFill>
                <a:latin typeface="Arial"/>
                <a:ea typeface="Arial"/>
                <a:cs typeface="Arial"/>
              </a:rPr>
              <a:t>Сайт поставщика, не случайный посредник</a:t>
            </a:r>
          </a:p>
        </p:txBody>
      </p:sp>
      <p:cxnSp>
        <p:nvCxnSpPr>
          <p:cNvPr id="8" name="Connector 7"/>
          <p:cNvCxnSpPr/>
          <p:nvPr/>
        </p:nvCxnSpPr>
        <p:spPr>
          <a:xfrm>
            <a:off x="640080" y="253288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60904"/>
            <a:ext cx="3776472" cy="740664"/>
          </a:xfrm>
          <a:prstGeom prst="rect">
            <a:avLst/>
          </a:prstGeom>
          <a:noFill/>
        </p:spPr>
        <p:txBody>
          <a:bodyPr wrap="square">
            <a:spAutoFit/>
          </a:bodyPr>
          <a:lstStyle/>
          <a:p>
            <a:pPr algn="l"/>
            <a:r>
              <a:rPr sz="2400" b="0">
                <a:solidFill>
                  <a:srgbClr val="20201E"/>
                </a:solidFill>
                <a:latin typeface="Georgia"/>
                <a:ea typeface="Arial"/>
                <a:cs typeface="Arial"/>
              </a:rPr>
              <a:t>Регион и аккаунт</a:t>
            </a:r>
          </a:p>
        </p:txBody>
      </p:sp>
      <p:sp>
        <p:nvSpPr>
          <p:cNvPr id="10" name="TextBox 9"/>
          <p:cNvSpPr txBox="1"/>
          <p:nvPr/>
        </p:nvSpPr>
        <p:spPr>
          <a:xfrm>
            <a:off x="4632350" y="2660904"/>
            <a:ext cx="6689750" cy="740664"/>
          </a:xfrm>
          <a:prstGeom prst="rect">
            <a:avLst/>
          </a:prstGeom>
          <a:noFill/>
        </p:spPr>
        <p:txBody>
          <a:bodyPr wrap="square">
            <a:spAutoFit/>
          </a:bodyPr>
          <a:lstStyle/>
          <a:p>
            <a:pPr algn="l"/>
            <a:r>
              <a:rPr sz="2200" b="0">
                <a:solidFill>
                  <a:srgbClr val="20201E"/>
                </a:solidFill>
                <a:latin typeface="Arial"/>
                <a:ea typeface="Arial"/>
                <a:cs typeface="Arial"/>
              </a:rPr>
              <a:t>Поддерживается ли ваш сценарий использования</a:t>
            </a:r>
          </a:p>
        </p:txBody>
      </p:sp>
      <p:cxnSp>
        <p:nvCxnSpPr>
          <p:cNvPr id="11" name="Connector 10"/>
          <p:cNvCxnSpPr/>
          <p:nvPr/>
        </p:nvCxnSpPr>
        <p:spPr>
          <a:xfrm>
            <a:off x="640080" y="341071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538728"/>
            <a:ext cx="3776472" cy="740664"/>
          </a:xfrm>
          <a:prstGeom prst="rect">
            <a:avLst/>
          </a:prstGeom>
          <a:noFill/>
        </p:spPr>
        <p:txBody>
          <a:bodyPr wrap="square">
            <a:spAutoFit/>
          </a:bodyPr>
          <a:lstStyle/>
          <a:p>
            <a:pPr algn="l"/>
            <a:r>
              <a:rPr sz="2400" b="0">
                <a:solidFill>
                  <a:srgbClr val="20201E"/>
                </a:solidFill>
                <a:latin typeface="Georgia"/>
                <a:ea typeface="Arial"/>
                <a:cs typeface="Arial"/>
              </a:rPr>
              <a:t>Стоимость</a:t>
            </a:r>
          </a:p>
        </p:txBody>
      </p:sp>
      <p:sp>
        <p:nvSpPr>
          <p:cNvPr id="13" name="TextBox 12"/>
          <p:cNvSpPr txBox="1"/>
          <p:nvPr/>
        </p:nvSpPr>
        <p:spPr>
          <a:xfrm>
            <a:off x="4632350" y="3538728"/>
            <a:ext cx="6689750" cy="740664"/>
          </a:xfrm>
          <a:prstGeom prst="rect">
            <a:avLst/>
          </a:prstGeom>
          <a:noFill/>
        </p:spPr>
        <p:txBody>
          <a:bodyPr wrap="square">
            <a:spAutoFit/>
          </a:bodyPr>
          <a:lstStyle/>
          <a:p>
            <a:pPr algn="l"/>
            <a:r>
              <a:rPr sz="2200" b="0">
                <a:solidFill>
                  <a:srgbClr val="20201E"/>
                </a:solidFill>
                <a:latin typeface="Arial"/>
                <a:ea typeface="Arial"/>
                <a:cs typeface="Arial"/>
              </a:rPr>
              <a:t>Лимиты, API, подписка и проверка результата</a:t>
            </a:r>
          </a:p>
        </p:txBody>
      </p:sp>
      <p:cxnSp>
        <p:nvCxnSpPr>
          <p:cNvPr id="14" name="Connector 13"/>
          <p:cNvCxnSpPr/>
          <p:nvPr/>
        </p:nvCxnSpPr>
        <p:spPr>
          <a:xfrm>
            <a:off x="640080" y="42885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416552"/>
            <a:ext cx="3776472" cy="740664"/>
          </a:xfrm>
          <a:prstGeom prst="rect">
            <a:avLst/>
          </a:prstGeom>
          <a:noFill/>
        </p:spPr>
        <p:txBody>
          <a:bodyPr wrap="square">
            <a:spAutoFit/>
          </a:bodyPr>
          <a:lstStyle/>
          <a:p>
            <a:pPr algn="l"/>
            <a:r>
              <a:rPr sz="2400" b="0">
                <a:solidFill>
                  <a:srgbClr val="20201E"/>
                </a:solidFill>
                <a:latin typeface="Georgia"/>
                <a:ea typeface="Arial"/>
                <a:cs typeface="Arial"/>
              </a:rPr>
              <a:t>Данные</a:t>
            </a:r>
          </a:p>
        </p:txBody>
      </p:sp>
      <p:sp>
        <p:nvSpPr>
          <p:cNvPr id="16" name="TextBox 15"/>
          <p:cNvSpPr txBox="1"/>
          <p:nvPr/>
        </p:nvSpPr>
        <p:spPr>
          <a:xfrm>
            <a:off x="4632350" y="4416552"/>
            <a:ext cx="6689750" cy="740664"/>
          </a:xfrm>
          <a:prstGeom prst="rect">
            <a:avLst/>
          </a:prstGeom>
          <a:noFill/>
        </p:spPr>
        <p:txBody>
          <a:bodyPr wrap="square">
            <a:spAutoFit/>
          </a:bodyPr>
          <a:lstStyle/>
          <a:p>
            <a:pPr algn="l"/>
            <a:r>
              <a:rPr sz="2200" b="0">
                <a:solidFill>
                  <a:srgbClr val="20201E"/>
                </a:solidFill>
                <a:latin typeface="Arial"/>
                <a:ea typeface="Arial"/>
                <a:cs typeface="Arial"/>
              </a:rPr>
              <a:t>Разрешение владельца и условия обработки</a:t>
            </a:r>
          </a:p>
        </p:txBody>
      </p:sp>
      <p:cxnSp>
        <p:nvCxnSpPr>
          <p:cNvPr id="17" name="Connector 16"/>
          <p:cNvCxnSpPr/>
          <p:nvPr/>
        </p:nvCxnSpPr>
        <p:spPr>
          <a:xfrm>
            <a:off x="640080" y="516636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5294376"/>
            <a:ext cx="3776472" cy="740664"/>
          </a:xfrm>
          <a:prstGeom prst="rect">
            <a:avLst/>
          </a:prstGeom>
          <a:noFill/>
        </p:spPr>
        <p:txBody>
          <a:bodyPr wrap="square">
            <a:spAutoFit/>
          </a:bodyPr>
          <a:lstStyle/>
          <a:p>
            <a:pPr algn="l"/>
            <a:r>
              <a:rPr sz="2400" b="0">
                <a:solidFill>
                  <a:srgbClr val="20201E"/>
                </a:solidFill>
                <a:latin typeface="Georgia"/>
                <a:ea typeface="Arial"/>
                <a:cs typeface="Arial"/>
              </a:rPr>
              <a:t>Запасной вариант</a:t>
            </a:r>
          </a:p>
        </p:txBody>
      </p:sp>
      <p:sp>
        <p:nvSpPr>
          <p:cNvPr id="19" name="TextBox 18"/>
          <p:cNvSpPr txBox="1"/>
          <p:nvPr/>
        </p:nvSpPr>
        <p:spPr>
          <a:xfrm>
            <a:off x="4632350" y="5294376"/>
            <a:ext cx="6689750" cy="740664"/>
          </a:xfrm>
          <a:prstGeom prst="rect">
            <a:avLst/>
          </a:prstGeom>
          <a:noFill/>
        </p:spPr>
        <p:txBody>
          <a:bodyPr wrap="square">
            <a:spAutoFit/>
          </a:bodyPr>
          <a:lstStyle/>
          <a:p>
            <a:pPr algn="l"/>
            <a:r>
              <a:rPr sz="2200" b="0">
                <a:solidFill>
                  <a:srgbClr val="20201E"/>
                </a:solidFill>
                <a:latin typeface="Arial"/>
                <a:ea typeface="Arial"/>
                <a:cs typeface="Arial"/>
              </a:rPr>
              <a:t>Учебный эталон, если сервис не открылся</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55 минут могут превратиться в 60</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Учебный расчёт · не измерение потерь компании</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50</a:t>
            </a:r>
          </a:p>
        </p:txBody>
      </p:sp>
      <p:sp>
        <p:nvSpPr>
          <p:cNvPr id="5" name="TextBox 4"/>
          <p:cNvSpPr txBox="1"/>
          <p:nvPr/>
        </p:nvSpPr>
        <p:spPr>
          <a:xfrm>
            <a:off x="777240" y="2057400"/>
            <a:ext cx="1828800" cy="640080"/>
          </a:xfrm>
          <a:prstGeom prst="rect">
            <a:avLst/>
          </a:prstGeom>
          <a:noFill/>
        </p:spPr>
        <p:txBody>
          <a:bodyPr wrap="square">
            <a:spAutoFit/>
          </a:bodyPr>
          <a:lstStyle/>
          <a:p>
            <a:pPr algn="l"/>
            <a:r>
              <a:rPr sz="2900" b="1">
                <a:solidFill>
                  <a:srgbClr val="20201E"/>
                </a:solidFill>
                <a:latin typeface="Arial"/>
                <a:ea typeface="Arial"/>
                <a:cs typeface="Arial"/>
              </a:rPr>
              <a:t>Было</a:t>
            </a:r>
          </a:p>
        </p:txBody>
      </p:sp>
      <p:sp>
        <p:nvSpPr>
          <p:cNvPr id="6" name="Rectangle 5"/>
          <p:cNvSpPr/>
          <p:nvPr/>
        </p:nvSpPr>
        <p:spPr>
          <a:xfrm>
            <a:off x="2743200" y="2057400"/>
            <a:ext cx="6103620" cy="713232"/>
          </a:xfrm>
          <a:prstGeom prst="rect">
            <a:avLst/>
          </a:prstGeom>
          <a:solidFill>
            <a:srgbClr val="C5422D"/>
          </a:solidFill>
          <a:ln>
            <a:noFill/>
          </a:ln>
        </p:spPr>
        <p:txBody>
          <a:bodyPr rtlCol="0" anchor="ctr"/>
          <a:lstStyle/>
          <a:p>
            <a:pPr algn="ctr"/>
          </a:p>
        </p:txBody>
      </p:sp>
      <p:sp>
        <p:nvSpPr>
          <p:cNvPr id="7" name="TextBox 6"/>
          <p:cNvSpPr txBox="1"/>
          <p:nvPr/>
        </p:nvSpPr>
        <p:spPr>
          <a:xfrm>
            <a:off x="2816352" y="2176272"/>
            <a:ext cx="5957316" cy="457200"/>
          </a:xfrm>
          <a:prstGeom prst="rect">
            <a:avLst/>
          </a:prstGeom>
          <a:noFill/>
        </p:spPr>
        <p:txBody>
          <a:bodyPr wrap="square">
            <a:spAutoFit/>
          </a:bodyPr>
          <a:lstStyle/>
          <a:p>
            <a:pPr algn="l"/>
            <a:r>
              <a:rPr sz="2400" b="1">
                <a:solidFill>
                  <a:srgbClr val="FFFFFF"/>
                </a:solidFill>
                <a:latin typeface="Arial"/>
                <a:ea typeface="Arial"/>
                <a:cs typeface="Arial"/>
              </a:rPr>
              <a:t>45</a:t>
            </a:r>
          </a:p>
        </p:txBody>
      </p:sp>
      <p:sp>
        <p:nvSpPr>
          <p:cNvPr id="8" name="TextBox 7"/>
          <p:cNvSpPr txBox="1"/>
          <p:nvPr/>
        </p:nvSpPr>
        <p:spPr>
          <a:xfrm>
            <a:off x="2743200" y="2926080"/>
            <a:ext cx="6103620" cy="594360"/>
          </a:xfrm>
          <a:prstGeom prst="rect">
            <a:avLst/>
          </a:prstGeom>
          <a:noFill/>
        </p:spPr>
        <p:txBody>
          <a:bodyPr wrap="square">
            <a:spAutoFit/>
          </a:bodyPr>
          <a:lstStyle/>
          <a:p>
            <a:pPr algn="l"/>
            <a:r>
              <a:rPr sz="1700" b="0">
                <a:solidFill>
                  <a:srgbClr val="20201E"/>
                </a:solidFill>
                <a:latin typeface="Arial"/>
                <a:ea typeface="Arial"/>
                <a:cs typeface="Arial"/>
              </a:rPr>
              <a:t>Автор</a:t>
            </a:r>
          </a:p>
        </p:txBody>
      </p:sp>
      <p:sp>
        <p:nvSpPr>
          <p:cNvPr id="9" name="Rectangle 8"/>
          <p:cNvSpPr/>
          <p:nvPr/>
        </p:nvSpPr>
        <p:spPr>
          <a:xfrm>
            <a:off x="8846820" y="2057400"/>
            <a:ext cx="1356360" cy="713232"/>
          </a:xfrm>
          <a:prstGeom prst="rect">
            <a:avLst/>
          </a:prstGeom>
          <a:solidFill>
            <a:srgbClr val="EBCAC0"/>
          </a:solidFill>
          <a:ln>
            <a:noFill/>
          </a:ln>
        </p:spPr>
        <p:txBody>
          <a:bodyPr rtlCol="0" anchor="ctr"/>
          <a:lstStyle/>
          <a:p>
            <a:pPr algn="ctr"/>
          </a:p>
        </p:txBody>
      </p:sp>
      <p:sp>
        <p:nvSpPr>
          <p:cNvPr id="10" name="TextBox 9"/>
          <p:cNvSpPr txBox="1"/>
          <p:nvPr/>
        </p:nvSpPr>
        <p:spPr>
          <a:xfrm>
            <a:off x="8919972" y="2176272"/>
            <a:ext cx="1210056" cy="457200"/>
          </a:xfrm>
          <a:prstGeom prst="rect">
            <a:avLst/>
          </a:prstGeom>
          <a:noFill/>
        </p:spPr>
        <p:txBody>
          <a:bodyPr wrap="square">
            <a:spAutoFit/>
          </a:bodyPr>
          <a:lstStyle/>
          <a:p>
            <a:pPr algn="l"/>
            <a:r>
              <a:rPr sz="2400" b="1">
                <a:solidFill>
                  <a:srgbClr val="20201E"/>
                </a:solidFill>
                <a:latin typeface="Arial"/>
                <a:ea typeface="Arial"/>
                <a:cs typeface="Arial"/>
              </a:rPr>
              <a:t>10</a:t>
            </a:r>
          </a:p>
        </p:txBody>
      </p:sp>
      <p:sp>
        <p:nvSpPr>
          <p:cNvPr id="11" name="TextBox 10"/>
          <p:cNvSpPr txBox="1"/>
          <p:nvPr/>
        </p:nvSpPr>
        <p:spPr>
          <a:xfrm>
            <a:off x="8846820" y="2926080"/>
            <a:ext cx="2057400" cy="594360"/>
          </a:xfrm>
          <a:prstGeom prst="rect">
            <a:avLst/>
          </a:prstGeom>
          <a:noFill/>
        </p:spPr>
        <p:txBody>
          <a:bodyPr wrap="square">
            <a:spAutoFit/>
          </a:bodyPr>
          <a:lstStyle/>
          <a:p>
            <a:pPr algn="l"/>
            <a:r>
              <a:rPr sz="1700" b="0">
                <a:solidFill>
                  <a:srgbClr val="20201E"/>
                </a:solidFill>
                <a:latin typeface="Arial"/>
                <a:ea typeface="Arial"/>
                <a:cs typeface="Arial"/>
              </a:rPr>
              <a:t>Получатель</a:t>
            </a:r>
          </a:p>
        </p:txBody>
      </p:sp>
      <p:sp>
        <p:nvSpPr>
          <p:cNvPr id="12" name="TextBox 11"/>
          <p:cNvSpPr txBox="1"/>
          <p:nvPr/>
        </p:nvSpPr>
        <p:spPr>
          <a:xfrm>
            <a:off x="777240" y="3703320"/>
            <a:ext cx="1828800" cy="640080"/>
          </a:xfrm>
          <a:prstGeom prst="rect">
            <a:avLst/>
          </a:prstGeom>
          <a:noFill/>
        </p:spPr>
        <p:txBody>
          <a:bodyPr wrap="square">
            <a:spAutoFit/>
          </a:bodyPr>
          <a:lstStyle/>
          <a:p>
            <a:pPr algn="l"/>
            <a:r>
              <a:rPr sz="2900" b="1">
                <a:solidFill>
                  <a:srgbClr val="20201E"/>
                </a:solidFill>
                <a:latin typeface="Arial"/>
                <a:ea typeface="Arial"/>
                <a:cs typeface="Arial"/>
              </a:rPr>
              <a:t>С ИИ</a:t>
            </a:r>
          </a:p>
        </p:txBody>
      </p:sp>
      <p:sp>
        <p:nvSpPr>
          <p:cNvPr id="13" name="Rectangle 12"/>
          <p:cNvSpPr/>
          <p:nvPr/>
        </p:nvSpPr>
        <p:spPr>
          <a:xfrm>
            <a:off x="2743200" y="3703320"/>
            <a:ext cx="1356360" cy="713232"/>
          </a:xfrm>
          <a:prstGeom prst="rect">
            <a:avLst/>
          </a:prstGeom>
          <a:solidFill>
            <a:srgbClr val="E8E6DF"/>
          </a:solidFill>
          <a:ln>
            <a:noFill/>
          </a:ln>
        </p:spPr>
        <p:txBody>
          <a:bodyPr rtlCol="0" anchor="ctr"/>
          <a:lstStyle/>
          <a:p>
            <a:pPr algn="ctr"/>
          </a:p>
        </p:txBody>
      </p:sp>
      <p:sp>
        <p:nvSpPr>
          <p:cNvPr id="14" name="TextBox 13"/>
          <p:cNvSpPr txBox="1"/>
          <p:nvPr/>
        </p:nvSpPr>
        <p:spPr>
          <a:xfrm>
            <a:off x="2816352" y="3822191"/>
            <a:ext cx="1210056" cy="457200"/>
          </a:xfrm>
          <a:prstGeom prst="rect">
            <a:avLst/>
          </a:prstGeom>
          <a:noFill/>
        </p:spPr>
        <p:txBody>
          <a:bodyPr wrap="square">
            <a:spAutoFit/>
          </a:bodyPr>
          <a:lstStyle/>
          <a:p>
            <a:pPr algn="l"/>
            <a:r>
              <a:rPr sz="2400" b="1">
                <a:solidFill>
                  <a:srgbClr val="20201E"/>
                </a:solidFill>
                <a:latin typeface="Arial"/>
                <a:ea typeface="Arial"/>
                <a:cs typeface="Arial"/>
              </a:rPr>
              <a:t>10</a:t>
            </a:r>
          </a:p>
        </p:txBody>
      </p:sp>
      <p:sp>
        <p:nvSpPr>
          <p:cNvPr id="15" name="TextBox 14"/>
          <p:cNvSpPr txBox="1"/>
          <p:nvPr/>
        </p:nvSpPr>
        <p:spPr>
          <a:xfrm>
            <a:off x="2743200" y="4572000"/>
            <a:ext cx="2057400" cy="594360"/>
          </a:xfrm>
          <a:prstGeom prst="rect">
            <a:avLst/>
          </a:prstGeom>
          <a:noFill/>
        </p:spPr>
        <p:txBody>
          <a:bodyPr wrap="square">
            <a:spAutoFit/>
          </a:bodyPr>
          <a:lstStyle/>
          <a:p>
            <a:pPr algn="l"/>
            <a:r>
              <a:rPr sz="1700" b="0">
                <a:solidFill>
                  <a:srgbClr val="20201E"/>
                </a:solidFill>
                <a:latin typeface="Arial"/>
                <a:ea typeface="Arial"/>
                <a:cs typeface="Arial"/>
              </a:rPr>
              <a:t>Подготовка</a:t>
            </a:r>
          </a:p>
        </p:txBody>
      </p:sp>
      <p:sp>
        <p:nvSpPr>
          <p:cNvPr id="16" name="Rectangle 15"/>
          <p:cNvSpPr/>
          <p:nvPr/>
        </p:nvSpPr>
        <p:spPr>
          <a:xfrm>
            <a:off x="4099560" y="3703320"/>
            <a:ext cx="2034540" cy="713232"/>
          </a:xfrm>
          <a:prstGeom prst="rect">
            <a:avLst/>
          </a:prstGeom>
          <a:solidFill>
            <a:srgbClr val="C5422D"/>
          </a:solidFill>
          <a:ln>
            <a:noFill/>
          </a:ln>
        </p:spPr>
        <p:txBody>
          <a:bodyPr rtlCol="0" anchor="ctr"/>
          <a:lstStyle/>
          <a:p>
            <a:pPr algn="ctr"/>
          </a:p>
        </p:txBody>
      </p:sp>
      <p:sp>
        <p:nvSpPr>
          <p:cNvPr id="17" name="TextBox 16"/>
          <p:cNvSpPr txBox="1"/>
          <p:nvPr/>
        </p:nvSpPr>
        <p:spPr>
          <a:xfrm>
            <a:off x="4172712" y="3822191"/>
            <a:ext cx="1888236" cy="457200"/>
          </a:xfrm>
          <a:prstGeom prst="rect">
            <a:avLst/>
          </a:prstGeom>
          <a:noFill/>
        </p:spPr>
        <p:txBody>
          <a:bodyPr wrap="square">
            <a:spAutoFit/>
          </a:bodyPr>
          <a:lstStyle/>
          <a:p>
            <a:pPr algn="l"/>
            <a:r>
              <a:rPr sz="2400" b="1">
                <a:solidFill>
                  <a:srgbClr val="FFFFFF"/>
                </a:solidFill>
                <a:latin typeface="Arial"/>
                <a:ea typeface="Arial"/>
                <a:cs typeface="Arial"/>
              </a:rPr>
              <a:t>15</a:t>
            </a:r>
          </a:p>
        </p:txBody>
      </p:sp>
      <p:sp>
        <p:nvSpPr>
          <p:cNvPr id="18" name="TextBox 17"/>
          <p:cNvSpPr txBox="1"/>
          <p:nvPr/>
        </p:nvSpPr>
        <p:spPr>
          <a:xfrm>
            <a:off x="4099560" y="4572000"/>
            <a:ext cx="2057400" cy="594360"/>
          </a:xfrm>
          <a:prstGeom prst="rect">
            <a:avLst/>
          </a:prstGeom>
          <a:noFill/>
        </p:spPr>
        <p:txBody>
          <a:bodyPr wrap="square">
            <a:spAutoFit/>
          </a:bodyPr>
          <a:lstStyle/>
          <a:p>
            <a:pPr algn="l"/>
            <a:r>
              <a:rPr sz="1700" b="0">
                <a:solidFill>
                  <a:srgbClr val="20201E"/>
                </a:solidFill>
                <a:latin typeface="Arial"/>
                <a:ea typeface="Arial"/>
                <a:cs typeface="Arial"/>
              </a:rPr>
              <a:t>Автор + ИИ</a:t>
            </a:r>
          </a:p>
        </p:txBody>
      </p:sp>
      <p:sp>
        <p:nvSpPr>
          <p:cNvPr id="19" name="Rectangle 18"/>
          <p:cNvSpPr/>
          <p:nvPr/>
        </p:nvSpPr>
        <p:spPr>
          <a:xfrm>
            <a:off x="6134100" y="3703320"/>
            <a:ext cx="4747260" cy="713232"/>
          </a:xfrm>
          <a:prstGeom prst="rect">
            <a:avLst/>
          </a:prstGeom>
          <a:solidFill>
            <a:srgbClr val="EBCAC0"/>
          </a:solidFill>
          <a:ln>
            <a:noFill/>
          </a:ln>
        </p:spPr>
        <p:txBody>
          <a:bodyPr rtlCol="0" anchor="ctr"/>
          <a:lstStyle/>
          <a:p>
            <a:pPr algn="ctr"/>
          </a:p>
        </p:txBody>
      </p:sp>
      <p:sp>
        <p:nvSpPr>
          <p:cNvPr id="20" name="TextBox 19"/>
          <p:cNvSpPr txBox="1"/>
          <p:nvPr/>
        </p:nvSpPr>
        <p:spPr>
          <a:xfrm>
            <a:off x="6207252" y="3822191"/>
            <a:ext cx="4600956" cy="457200"/>
          </a:xfrm>
          <a:prstGeom prst="rect">
            <a:avLst/>
          </a:prstGeom>
          <a:noFill/>
        </p:spPr>
        <p:txBody>
          <a:bodyPr wrap="square">
            <a:spAutoFit/>
          </a:bodyPr>
          <a:lstStyle/>
          <a:p>
            <a:pPr algn="l"/>
            <a:r>
              <a:rPr sz="2400" b="1">
                <a:solidFill>
                  <a:srgbClr val="20201E"/>
                </a:solidFill>
                <a:latin typeface="Arial"/>
                <a:ea typeface="Arial"/>
                <a:cs typeface="Arial"/>
              </a:rPr>
              <a:t>35</a:t>
            </a:r>
          </a:p>
        </p:txBody>
      </p:sp>
      <p:sp>
        <p:nvSpPr>
          <p:cNvPr id="21" name="TextBox 20"/>
          <p:cNvSpPr txBox="1"/>
          <p:nvPr/>
        </p:nvSpPr>
        <p:spPr>
          <a:xfrm>
            <a:off x="6134100" y="4572000"/>
            <a:ext cx="4747260" cy="594360"/>
          </a:xfrm>
          <a:prstGeom prst="rect">
            <a:avLst/>
          </a:prstGeom>
          <a:noFill/>
        </p:spPr>
        <p:txBody>
          <a:bodyPr wrap="square">
            <a:spAutoFit/>
          </a:bodyPr>
          <a:lstStyle/>
          <a:p>
            <a:pPr algn="l"/>
            <a:r>
              <a:rPr sz="1700" b="0">
                <a:solidFill>
                  <a:srgbClr val="20201E"/>
                </a:solidFill>
                <a:latin typeface="Arial"/>
                <a:ea typeface="Arial"/>
                <a:cs typeface="Arial"/>
              </a:rPr>
              <a:t>Получатель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Кейс запуска: интереса к пробе недостаточно</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Учебный кейс запуска ИИ-сервиса · данные вымышлены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51</a:t>
            </a:r>
          </a:p>
        </p:txBody>
      </p:sp>
      <p:cxnSp>
        <p:nvCxnSpPr>
          <p:cNvPr id="5" name="Connector 4"/>
          <p:cNvCxnSpPr/>
          <p:nvPr/>
        </p:nvCxnSpPr>
        <p:spPr>
          <a:xfrm>
            <a:off x="640080" y="179222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920240"/>
            <a:ext cx="3776472" cy="813816"/>
          </a:xfrm>
          <a:prstGeom prst="rect">
            <a:avLst/>
          </a:prstGeom>
          <a:noFill/>
        </p:spPr>
        <p:txBody>
          <a:bodyPr wrap="square">
            <a:spAutoFit/>
          </a:bodyPr>
          <a:lstStyle/>
          <a:p>
            <a:pPr algn="l"/>
            <a:r>
              <a:rPr sz="2500" b="0">
                <a:solidFill>
                  <a:srgbClr val="20201E"/>
                </a:solidFill>
                <a:latin typeface="Georgia"/>
                <a:ea typeface="Arial"/>
                <a:cs typeface="Arial"/>
              </a:rPr>
              <a:t>Интерес</a:t>
            </a:r>
          </a:p>
        </p:txBody>
      </p:sp>
      <p:sp>
        <p:nvSpPr>
          <p:cNvPr id="7" name="TextBox 6"/>
          <p:cNvSpPr txBox="1"/>
          <p:nvPr/>
        </p:nvSpPr>
        <p:spPr>
          <a:xfrm>
            <a:off x="4632350" y="1920240"/>
            <a:ext cx="6689750" cy="813816"/>
          </a:xfrm>
          <a:prstGeom prst="rect">
            <a:avLst/>
          </a:prstGeom>
          <a:noFill/>
        </p:spPr>
        <p:txBody>
          <a:bodyPr wrap="square">
            <a:spAutoFit/>
          </a:bodyPr>
          <a:lstStyle/>
          <a:p>
            <a:pPr algn="l"/>
            <a:r>
              <a:rPr sz="2300" b="0">
                <a:solidFill>
                  <a:srgbClr val="20201E"/>
                </a:solidFill>
                <a:latin typeface="Arial"/>
                <a:ea typeface="Arial"/>
                <a:cs typeface="Arial"/>
              </a:rPr>
              <a:t>Не равен готовности купить</a:t>
            </a:r>
          </a:p>
        </p:txBody>
      </p:sp>
      <p:cxnSp>
        <p:nvCxnSpPr>
          <p:cNvPr id="8" name="Connector 7"/>
          <p:cNvCxnSpPr/>
          <p:nvPr/>
        </p:nvCxnSpPr>
        <p:spPr>
          <a:xfrm>
            <a:off x="640080" y="274320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871216"/>
            <a:ext cx="3776472" cy="813816"/>
          </a:xfrm>
          <a:prstGeom prst="rect">
            <a:avLst/>
          </a:prstGeom>
          <a:noFill/>
        </p:spPr>
        <p:txBody>
          <a:bodyPr wrap="square">
            <a:spAutoFit/>
          </a:bodyPr>
          <a:lstStyle/>
          <a:p>
            <a:pPr algn="l"/>
            <a:r>
              <a:rPr sz="2500" b="0">
                <a:solidFill>
                  <a:srgbClr val="20201E"/>
                </a:solidFill>
                <a:latin typeface="Georgia"/>
                <a:ea typeface="Arial"/>
                <a:cs typeface="Arial"/>
              </a:rPr>
              <a:t>Качество</a:t>
            </a:r>
          </a:p>
        </p:txBody>
      </p:sp>
      <p:sp>
        <p:nvSpPr>
          <p:cNvPr id="10" name="TextBox 9"/>
          <p:cNvSpPr txBox="1"/>
          <p:nvPr/>
        </p:nvSpPr>
        <p:spPr>
          <a:xfrm>
            <a:off x="4632350" y="2871216"/>
            <a:ext cx="6689750" cy="813816"/>
          </a:xfrm>
          <a:prstGeom prst="rect">
            <a:avLst/>
          </a:prstGeom>
          <a:noFill/>
        </p:spPr>
        <p:txBody>
          <a:bodyPr wrap="square">
            <a:spAutoFit/>
          </a:bodyPr>
          <a:lstStyle/>
          <a:p>
            <a:pPr algn="l"/>
            <a:r>
              <a:rPr sz="2300" b="0">
                <a:solidFill>
                  <a:srgbClr val="20201E"/>
                </a:solidFill>
                <a:latin typeface="Arial"/>
                <a:ea typeface="Arial"/>
                <a:cs typeface="Arial"/>
              </a:rPr>
              <a:t>Проверяем пропуски и неверные обязательства</a:t>
            </a:r>
          </a:p>
        </p:txBody>
      </p:sp>
      <p:cxnSp>
        <p:nvCxnSpPr>
          <p:cNvPr id="11" name="Connector 10"/>
          <p:cNvCxnSpPr/>
          <p:nvPr/>
        </p:nvCxnSpPr>
        <p:spPr>
          <a:xfrm>
            <a:off x="640080" y="369417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822191"/>
            <a:ext cx="3776472" cy="813816"/>
          </a:xfrm>
          <a:prstGeom prst="rect">
            <a:avLst/>
          </a:prstGeom>
          <a:noFill/>
        </p:spPr>
        <p:txBody>
          <a:bodyPr wrap="square">
            <a:spAutoFit/>
          </a:bodyPr>
          <a:lstStyle/>
          <a:p>
            <a:pPr algn="l"/>
            <a:r>
              <a:rPr sz="2500" b="0">
                <a:solidFill>
                  <a:srgbClr val="20201E"/>
                </a:solidFill>
                <a:latin typeface="Georgia"/>
                <a:ea typeface="Arial"/>
                <a:cs typeface="Arial"/>
              </a:rPr>
              <a:t>Экономика</a:t>
            </a:r>
          </a:p>
        </p:txBody>
      </p:sp>
      <p:sp>
        <p:nvSpPr>
          <p:cNvPr id="13" name="TextBox 12"/>
          <p:cNvSpPr txBox="1"/>
          <p:nvPr/>
        </p:nvSpPr>
        <p:spPr>
          <a:xfrm>
            <a:off x="4632350" y="3822191"/>
            <a:ext cx="6689750" cy="813816"/>
          </a:xfrm>
          <a:prstGeom prst="rect">
            <a:avLst/>
          </a:prstGeom>
          <a:noFill/>
        </p:spPr>
        <p:txBody>
          <a:bodyPr wrap="square">
            <a:spAutoFit/>
          </a:bodyPr>
          <a:lstStyle/>
          <a:p>
            <a:pPr algn="l"/>
            <a:r>
              <a:rPr sz="2300" b="0">
                <a:solidFill>
                  <a:srgbClr val="20201E"/>
                </a:solidFill>
                <a:latin typeface="Arial"/>
                <a:ea typeface="Arial"/>
                <a:cs typeface="Arial"/>
              </a:rPr>
              <a:t>Считаем полный процесс, включая получателя</a:t>
            </a:r>
          </a:p>
        </p:txBody>
      </p:sp>
      <p:cxnSp>
        <p:nvCxnSpPr>
          <p:cNvPr id="14" name="Connector 13"/>
          <p:cNvCxnSpPr/>
          <p:nvPr/>
        </p:nvCxnSpPr>
        <p:spPr>
          <a:xfrm>
            <a:off x="640080" y="464515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773168"/>
            <a:ext cx="3776472" cy="813816"/>
          </a:xfrm>
          <a:prstGeom prst="rect">
            <a:avLst/>
          </a:prstGeom>
          <a:noFill/>
        </p:spPr>
        <p:txBody>
          <a:bodyPr wrap="square">
            <a:spAutoFit/>
          </a:bodyPr>
          <a:lstStyle/>
          <a:p>
            <a:pPr algn="l"/>
            <a:r>
              <a:rPr sz="2500" b="0">
                <a:solidFill>
                  <a:srgbClr val="20201E"/>
                </a:solidFill>
                <a:latin typeface="Georgia"/>
                <a:ea typeface="Arial"/>
                <a:cs typeface="Arial"/>
              </a:rPr>
              <a:t>Решение</a:t>
            </a:r>
          </a:p>
        </p:txBody>
      </p:sp>
      <p:sp>
        <p:nvSpPr>
          <p:cNvPr id="16" name="TextBox 15"/>
          <p:cNvSpPr txBox="1"/>
          <p:nvPr/>
        </p:nvSpPr>
        <p:spPr>
          <a:xfrm>
            <a:off x="4632350" y="4773168"/>
            <a:ext cx="6689750" cy="813816"/>
          </a:xfrm>
          <a:prstGeom prst="rect">
            <a:avLst/>
          </a:prstGeom>
          <a:noFill/>
        </p:spPr>
        <p:txBody>
          <a:bodyPr wrap="square">
            <a:spAutoFit/>
          </a:bodyPr>
          <a:lstStyle/>
          <a:p>
            <a:pPr algn="l"/>
            <a:r>
              <a:rPr sz="2300" b="0">
                <a:solidFill>
                  <a:srgbClr val="20201E"/>
                </a:solidFill>
                <a:latin typeface="Arial"/>
                <a:ea typeface="Arial"/>
                <a:cs typeface="Arial"/>
              </a:rPr>
              <a:t>Запуск / ограниченный пилот / отложить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Источники корпоративных кейсов</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Справочные слайды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52</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740664"/>
          </a:xfrm>
          <a:prstGeom prst="rect">
            <a:avLst/>
          </a:prstGeom>
          <a:noFill/>
        </p:spPr>
        <p:txBody>
          <a:bodyPr wrap="square">
            <a:spAutoFit/>
          </a:bodyPr>
          <a:lstStyle/>
          <a:p>
            <a:pPr algn="l"/>
            <a:r>
              <a:rPr sz="2300" b="0">
                <a:solidFill>
                  <a:srgbClr val="20201E"/>
                </a:solidFill>
                <a:latin typeface="Georgia"/>
                <a:ea typeface="Arial"/>
                <a:cs typeface="Arial"/>
              </a:rPr>
              <a:t>Unilever · 2025</a:t>
            </a:r>
          </a:p>
        </p:txBody>
      </p:sp>
      <p:sp>
        <p:nvSpPr>
          <p:cNvPr id="7" name="TextBox 6"/>
          <p:cNvSpPr txBox="1"/>
          <p:nvPr/>
        </p:nvSpPr>
        <p:spPr>
          <a:xfrm>
            <a:off x="4632350" y="1783080"/>
            <a:ext cx="6689750" cy="740664"/>
          </a:xfrm>
          <a:prstGeom prst="rect">
            <a:avLst/>
          </a:prstGeom>
          <a:noFill/>
        </p:spPr>
        <p:txBody>
          <a:bodyPr wrap="square">
            <a:spAutoFit/>
          </a:bodyPr>
          <a:lstStyle/>
          <a:p>
            <a:pPr algn="l"/>
            <a:r>
              <a:rPr sz="2100" b="0">
                <a:solidFill>
                  <a:srgbClr val="20201E"/>
                </a:solidFill>
                <a:latin typeface="Arial"/>
                <a:ea typeface="Arial"/>
                <a:cs typeface="Arial"/>
              </a:rPr>
              <a:t>Цифровые двойники; сообщение компании</a:t>
            </a:r>
          </a:p>
        </p:txBody>
      </p:sp>
      <p:cxnSp>
        <p:nvCxnSpPr>
          <p:cNvPr id="8" name="Connector 7"/>
          <p:cNvCxnSpPr/>
          <p:nvPr/>
        </p:nvCxnSpPr>
        <p:spPr>
          <a:xfrm>
            <a:off x="640080" y="2532888"/>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60904"/>
            <a:ext cx="3776472" cy="740664"/>
          </a:xfrm>
          <a:prstGeom prst="rect">
            <a:avLst/>
          </a:prstGeom>
          <a:noFill/>
        </p:spPr>
        <p:txBody>
          <a:bodyPr wrap="square">
            <a:spAutoFit/>
          </a:bodyPr>
          <a:lstStyle/>
          <a:p>
            <a:pPr algn="l"/>
            <a:r>
              <a:rPr sz="2300" b="0">
                <a:solidFill>
                  <a:srgbClr val="20201E"/>
                </a:solidFill>
                <a:latin typeface="Georgia"/>
                <a:ea typeface="Arial"/>
                <a:cs typeface="Arial"/>
              </a:rPr>
              <a:t>Stantec / Autodesk</a:t>
            </a:r>
          </a:p>
        </p:txBody>
      </p:sp>
      <p:sp>
        <p:nvSpPr>
          <p:cNvPr id="10" name="TextBox 9"/>
          <p:cNvSpPr txBox="1"/>
          <p:nvPr/>
        </p:nvSpPr>
        <p:spPr>
          <a:xfrm>
            <a:off x="4632350" y="2660904"/>
            <a:ext cx="6689750" cy="740664"/>
          </a:xfrm>
          <a:prstGeom prst="rect">
            <a:avLst/>
          </a:prstGeom>
          <a:noFill/>
        </p:spPr>
        <p:txBody>
          <a:bodyPr wrap="square">
            <a:spAutoFit/>
          </a:bodyPr>
          <a:lstStyle/>
          <a:p>
            <a:pPr algn="l"/>
            <a:r>
              <a:rPr sz="2100" b="0">
                <a:solidFill>
                  <a:srgbClr val="20201E"/>
                </a:solidFill>
                <a:latin typeface="Arial"/>
                <a:ea typeface="Arial"/>
                <a:cs typeface="Arial"/>
              </a:rPr>
              <a:t>Forma + Revit; кейс поставщика и клиента</a:t>
            </a:r>
          </a:p>
        </p:txBody>
      </p:sp>
      <p:cxnSp>
        <p:nvCxnSpPr>
          <p:cNvPr id="11" name="Connector 10"/>
          <p:cNvCxnSpPr/>
          <p:nvPr/>
        </p:nvCxnSpPr>
        <p:spPr>
          <a:xfrm>
            <a:off x="640080" y="3410712"/>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538728"/>
            <a:ext cx="3776472" cy="740664"/>
          </a:xfrm>
          <a:prstGeom prst="rect">
            <a:avLst/>
          </a:prstGeom>
          <a:noFill/>
        </p:spPr>
        <p:txBody>
          <a:bodyPr wrap="square">
            <a:spAutoFit/>
          </a:bodyPr>
          <a:lstStyle/>
          <a:p>
            <a:pPr algn="l"/>
            <a:r>
              <a:rPr sz="2300" b="0">
                <a:solidFill>
                  <a:srgbClr val="20201E"/>
                </a:solidFill>
                <a:latin typeface="Georgia"/>
                <a:ea typeface="Arial"/>
                <a:cs typeface="Arial"/>
              </a:rPr>
              <a:t>Kaiser Permanente · 2024</a:t>
            </a:r>
          </a:p>
        </p:txBody>
      </p:sp>
      <p:sp>
        <p:nvSpPr>
          <p:cNvPr id="13" name="TextBox 12"/>
          <p:cNvSpPr txBox="1"/>
          <p:nvPr/>
        </p:nvSpPr>
        <p:spPr>
          <a:xfrm>
            <a:off x="4632350" y="3538728"/>
            <a:ext cx="6689750" cy="740664"/>
          </a:xfrm>
          <a:prstGeom prst="rect">
            <a:avLst/>
          </a:prstGeom>
          <a:noFill/>
        </p:spPr>
        <p:txBody>
          <a:bodyPr wrap="square">
            <a:spAutoFit/>
          </a:bodyPr>
          <a:lstStyle/>
          <a:p>
            <a:pPr algn="l"/>
            <a:r>
              <a:rPr sz="2100" b="0">
                <a:solidFill>
                  <a:srgbClr val="20201E"/>
                </a:solidFill>
                <a:latin typeface="Arial"/>
                <a:ea typeface="Arial"/>
                <a:cs typeface="Arial"/>
              </a:rPr>
              <a:t>Документация для редактирования врачом</a:t>
            </a:r>
          </a:p>
        </p:txBody>
      </p:sp>
      <p:cxnSp>
        <p:nvCxnSpPr>
          <p:cNvPr id="14" name="Connector 13"/>
          <p:cNvCxnSpPr/>
          <p:nvPr/>
        </p:nvCxnSpPr>
        <p:spPr>
          <a:xfrm>
            <a:off x="640080" y="4288536"/>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416552"/>
            <a:ext cx="3776472" cy="740664"/>
          </a:xfrm>
          <a:prstGeom prst="rect">
            <a:avLst/>
          </a:prstGeom>
          <a:noFill/>
        </p:spPr>
        <p:txBody>
          <a:bodyPr wrap="square">
            <a:spAutoFit/>
          </a:bodyPr>
          <a:lstStyle/>
          <a:p>
            <a:pPr algn="l"/>
            <a:r>
              <a:rPr sz="2300" b="0">
                <a:solidFill>
                  <a:srgbClr val="20201E"/>
                </a:solidFill>
                <a:latin typeface="Georgia"/>
                <a:ea typeface="Arial"/>
                <a:cs typeface="Arial"/>
              </a:rPr>
              <a:t>NBER · 2023</a:t>
            </a:r>
          </a:p>
        </p:txBody>
      </p:sp>
      <p:sp>
        <p:nvSpPr>
          <p:cNvPr id="16" name="TextBox 15"/>
          <p:cNvSpPr txBox="1"/>
          <p:nvPr/>
        </p:nvSpPr>
        <p:spPr>
          <a:xfrm>
            <a:off x="4632350" y="4416552"/>
            <a:ext cx="6689750" cy="740664"/>
          </a:xfrm>
          <a:prstGeom prst="rect">
            <a:avLst/>
          </a:prstGeom>
          <a:noFill/>
        </p:spPr>
        <p:txBody>
          <a:bodyPr wrap="square">
            <a:spAutoFit/>
          </a:bodyPr>
          <a:lstStyle/>
          <a:p>
            <a:pPr algn="l"/>
            <a:r>
              <a:rPr sz="2100" b="0">
                <a:solidFill>
                  <a:srgbClr val="20201E"/>
                </a:solidFill>
                <a:latin typeface="Arial"/>
                <a:ea typeface="Arial"/>
                <a:cs typeface="Arial"/>
              </a:rPr>
              <a:t>Ассистент поддержки; около 14% по исходной работе</a:t>
            </a:r>
          </a:p>
        </p:txBody>
      </p:sp>
      <p:cxnSp>
        <p:nvCxnSpPr>
          <p:cNvPr id="17" name="Connector 16"/>
          <p:cNvCxnSpPr/>
          <p:nvPr/>
        </p:nvCxnSpPr>
        <p:spPr>
          <a:xfrm>
            <a:off x="640080" y="5166360"/>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5294376"/>
            <a:ext cx="3776472" cy="740664"/>
          </a:xfrm>
          <a:prstGeom prst="rect">
            <a:avLst/>
          </a:prstGeom>
          <a:noFill/>
        </p:spPr>
        <p:txBody>
          <a:bodyPr wrap="square">
            <a:spAutoFit/>
          </a:bodyPr>
          <a:lstStyle/>
          <a:p>
            <a:pPr algn="l"/>
            <a:r>
              <a:rPr sz="2300" b="0">
                <a:solidFill>
                  <a:srgbClr val="20201E"/>
                </a:solidFill>
                <a:latin typeface="Georgia"/>
                <a:ea typeface="Arial"/>
                <a:cs typeface="Arial"/>
              </a:rPr>
              <a:t>DLA Piper / Microsoft · 2024</a:t>
            </a:r>
          </a:p>
        </p:txBody>
      </p:sp>
      <p:sp>
        <p:nvSpPr>
          <p:cNvPr id="19" name="TextBox 18"/>
          <p:cNvSpPr txBox="1"/>
          <p:nvPr/>
        </p:nvSpPr>
        <p:spPr>
          <a:xfrm>
            <a:off x="4632350" y="5294376"/>
            <a:ext cx="6689750" cy="740664"/>
          </a:xfrm>
          <a:prstGeom prst="rect">
            <a:avLst/>
          </a:prstGeom>
          <a:noFill/>
        </p:spPr>
        <p:txBody>
          <a:bodyPr wrap="square">
            <a:spAutoFit/>
          </a:bodyPr>
          <a:lstStyle/>
          <a:p>
            <a:pPr algn="l"/>
            <a:r>
              <a:rPr sz="2100" b="0">
                <a:solidFill>
                  <a:srgbClr val="20201E"/>
                </a:solidFill>
                <a:latin typeface="Arial"/>
                <a:ea typeface="Arial"/>
                <a:cs typeface="Arial"/>
              </a:rPr>
              <a:t>Управление данными до расширения внедрения</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594360" y="429768"/>
            <a:ext cx="10972800" cy="1097280"/>
          </a:xfrm>
          <a:prstGeom prst="rect">
            <a:avLst/>
          </a:prstGeom>
          <a:noFill/>
        </p:spPr>
        <p:txBody>
          <a:bodyPr wrap="square">
            <a:spAutoFit/>
          </a:bodyPr>
          <a:lstStyle/>
          <a:p>
            <a:pPr algn="l"/>
            <a:r>
              <a:rPr sz="3200" b="0">
                <a:solidFill>
                  <a:srgbClr val="20201E"/>
                </a:solidFill>
                <a:latin typeface="Georgia"/>
                <a:ea typeface="Arial"/>
                <a:cs typeface="Arial"/>
              </a:rPr>
              <a:t>Идеи для управленческого обсуждения</a:t>
            </a:r>
          </a:p>
        </p:txBody>
      </p:sp>
      <p:sp>
        <p:nvSpPr>
          <p:cNvPr id="3" name="TextBox 2"/>
          <p:cNvSpPr txBox="1"/>
          <p:nvPr/>
        </p:nvSpPr>
        <p:spPr>
          <a:xfrm>
            <a:off x="594360" y="6437376"/>
            <a:ext cx="10561320" cy="237744"/>
          </a:xfrm>
          <a:prstGeom prst="rect">
            <a:avLst/>
          </a:prstGeom>
          <a:noFill/>
        </p:spPr>
        <p:txBody>
          <a:bodyPr wrap="square">
            <a:spAutoFit/>
          </a:bodyPr>
          <a:lstStyle/>
          <a:p>
            <a:pPr algn="l"/>
            <a:r>
              <a:rPr sz="1000" b="0">
                <a:solidFill>
                  <a:srgbClr val="66635D"/>
                </a:solidFill>
                <a:latin typeface="Arial"/>
                <a:ea typeface="Arial"/>
                <a:cs typeface="Arial"/>
              </a:rPr>
              <a:t>Справочные слайды</a:t>
            </a:r>
          </a:p>
        </p:txBody>
      </p:sp>
      <p:sp>
        <p:nvSpPr>
          <p:cNvPr id="4" name="TextBox 3"/>
          <p:cNvSpPr txBox="1"/>
          <p:nvPr/>
        </p:nvSpPr>
        <p:spPr>
          <a:xfrm>
            <a:off x="11201400" y="6419088"/>
            <a:ext cx="384048" cy="256032"/>
          </a:xfrm>
          <a:prstGeom prst="rect">
            <a:avLst/>
          </a:prstGeom>
          <a:noFill/>
        </p:spPr>
        <p:txBody>
          <a:bodyPr wrap="square">
            <a:spAutoFit/>
          </a:bodyPr>
          <a:lstStyle/>
          <a:p>
            <a:pPr algn="r"/>
            <a:r>
              <a:rPr sz="1000" b="0">
                <a:solidFill>
                  <a:srgbClr val="66635D"/>
                </a:solidFill>
                <a:latin typeface="Arial"/>
                <a:ea typeface="Arial"/>
                <a:cs typeface="Arial"/>
              </a:rPr>
              <a:t>53</a:t>
            </a:r>
          </a:p>
        </p:txBody>
      </p:sp>
      <p:cxnSp>
        <p:nvCxnSpPr>
          <p:cNvPr id="5" name="Connector 4"/>
          <p:cNvCxnSpPr/>
          <p:nvPr/>
        </p:nvCxnSpPr>
        <p:spPr>
          <a:xfrm>
            <a:off x="640080" y="165506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40080" y="1783080"/>
            <a:ext cx="3776472" cy="685800"/>
          </a:xfrm>
          <a:prstGeom prst="rect">
            <a:avLst/>
          </a:prstGeom>
          <a:noFill/>
        </p:spPr>
        <p:txBody>
          <a:bodyPr wrap="square">
            <a:spAutoFit/>
          </a:bodyPr>
          <a:lstStyle/>
          <a:p>
            <a:pPr algn="l"/>
            <a:r>
              <a:rPr sz="2300" b="0">
                <a:solidFill>
                  <a:srgbClr val="20201E"/>
                </a:solidFill>
                <a:latin typeface="Georgia"/>
                <a:ea typeface="Arial"/>
                <a:cs typeface="Arial"/>
              </a:rPr>
              <a:t>Anand и Wu</a:t>
            </a:r>
          </a:p>
        </p:txBody>
      </p:sp>
      <p:sp>
        <p:nvSpPr>
          <p:cNvPr id="7" name="TextBox 6"/>
          <p:cNvSpPr txBox="1"/>
          <p:nvPr/>
        </p:nvSpPr>
        <p:spPr>
          <a:xfrm>
            <a:off x="4632350" y="1783080"/>
            <a:ext cx="6689750" cy="685800"/>
          </a:xfrm>
          <a:prstGeom prst="rect">
            <a:avLst/>
          </a:prstGeom>
          <a:noFill/>
        </p:spPr>
        <p:txBody>
          <a:bodyPr wrap="square">
            <a:spAutoFit/>
          </a:bodyPr>
          <a:lstStyle/>
          <a:p>
            <a:pPr algn="l"/>
            <a:r>
              <a:rPr sz="2100" b="0">
                <a:solidFill>
                  <a:srgbClr val="20201E"/>
                </a:solidFill>
                <a:latin typeface="Arial"/>
                <a:ea typeface="Arial"/>
                <a:cs typeface="Arial"/>
              </a:rPr>
              <a:t>Цена ошибки и характер знания</a:t>
            </a:r>
          </a:p>
        </p:txBody>
      </p:sp>
      <p:cxnSp>
        <p:nvCxnSpPr>
          <p:cNvPr id="8" name="Connector 7"/>
          <p:cNvCxnSpPr/>
          <p:nvPr/>
        </p:nvCxnSpPr>
        <p:spPr>
          <a:xfrm>
            <a:off x="640080" y="247802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40080" y="2606040"/>
            <a:ext cx="3776472" cy="685800"/>
          </a:xfrm>
          <a:prstGeom prst="rect">
            <a:avLst/>
          </a:prstGeom>
          <a:noFill/>
        </p:spPr>
        <p:txBody>
          <a:bodyPr wrap="square">
            <a:spAutoFit/>
          </a:bodyPr>
          <a:lstStyle/>
          <a:p>
            <a:pPr algn="l"/>
            <a:r>
              <a:rPr sz="2300" b="0">
                <a:solidFill>
                  <a:srgbClr val="20201E"/>
                </a:solidFill>
                <a:latin typeface="Georgia"/>
                <a:ea typeface="Arial"/>
                <a:cs typeface="Arial"/>
              </a:rPr>
              <a:t>Workslop · HBR</a:t>
            </a:r>
          </a:p>
        </p:txBody>
      </p:sp>
      <p:sp>
        <p:nvSpPr>
          <p:cNvPr id="10" name="TextBox 9"/>
          <p:cNvSpPr txBox="1"/>
          <p:nvPr/>
        </p:nvSpPr>
        <p:spPr>
          <a:xfrm>
            <a:off x="4632350" y="2606040"/>
            <a:ext cx="6689750" cy="685800"/>
          </a:xfrm>
          <a:prstGeom prst="rect">
            <a:avLst/>
          </a:prstGeom>
          <a:noFill/>
        </p:spPr>
        <p:txBody>
          <a:bodyPr wrap="square">
            <a:spAutoFit/>
          </a:bodyPr>
          <a:lstStyle/>
          <a:p>
            <a:pPr algn="l"/>
            <a:r>
              <a:rPr sz="2100" b="0">
                <a:solidFill>
                  <a:srgbClr val="20201E"/>
                </a:solidFill>
                <a:latin typeface="Arial"/>
                <a:ea typeface="Arial"/>
                <a:cs typeface="Arial"/>
              </a:rPr>
              <a:t>Workslop и работа, возвращённая получателю</a:t>
            </a:r>
          </a:p>
        </p:txBody>
      </p:sp>
      <p:cxnSp>
        <p:nvCxnSpPr>
          <p:cNvPr id="11" name="Connector 10"/>
          <p:cNvCxnSpPr/>
          <p:nvPr/>
        </p:nvCxnSpPr>
        <p:spPr>
          <a:xfrm>
            <a:off x="640080" y="330098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40080" y="3429000"/>
            <a:ext cx="3776472" cy="685800"/>
          </a:xfrm>
          <a:prstGeom prst="rect">
            <a:avLst/>
          </a:prstGeom>
          <a:noFill/>
        </p:spPr>
        <p:txBody>
          <a:bodyPr wrap="square">
            <a:spAutoFit/>
          </a:bodyPr>
          <a:lstStyle/>
          <a:p>
            <a:pPr algn="l"/>
            <a:r>
              <a:rPr sz="2300" b="0">
                <a:solidFill>
                  <a:srgbClr val="20201E"/>
                </a:solidFill>
                <a:latin typeface="Georgia"/>
                <a:ea typeface="Arial"/>
                <a:cs typeface="Arial"/>
              </a:rPr>
              <a:t>Jamil Zaki · HBR</a:t>
            </a:r>
          </a:p>
        </p:txBody>
      </p:sp>
      <p:sp>
        <p:nvSpPr>
          <p:cNvPr id="13" name="TextBox 12"/>
          <p:cNvSpPr txBox="1"/>
          <p:nvPr/>
        </p:nvSpPr>
        <p:spPr>
          <a:xfrm>
            <a:off x="4632350" y="3429000"/>
            <a:ext cx="6689750" cy="685800"/>
          </a:xfrm>
          <a:prstGeom prst="rect">
            <a:avLst/>
          </a:prstGeom>
          <a:noFill/>
        </p:spPr>
        <p:txBody>
          <a:bodyPr wrap="square">
            <a:spAutoFit/>
          </a:bodyPr>
          <a:lstStyle/>
          <a:p>
            <a:pPr algn="l"/>
            <a:r>
              <a:rPr sz="2100" b="0">
                <a:solidFill>
                  <a:srgbClr val="20201E"/>
                </a:solidFill>
                <a:latin typeface="Arial"/>
                <a:ea typeface="Arial"/>
                <a:cs typeface="Arial"/>
              </a:rPr>
              <a:t>Суперфасилитация, вклад и доверие</a:t>
            </a:r>
          </a:p>
        </p:txBody>
      </p:sp>
      <p:cxnSp>
        <p:nvCxnSpPr>
          <p:cNvPr id="14" name="Connector 13"/>
          <p:cNvCxnSpPr/>
          <p:nvPr/>
        </p:nvCxnSpPr>
        <p:spPr>
          <a:xfrm>
            <a:off x="640080" y="412394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40080" y="4251960"/>
            <a:ext cx="3776472" cy="685800"/>
          </a:xfrm>
          <a:prstGeom prst="rect">
            <a:avLst/>
          </a:prstGeom>
          <a:noFill/>
        </p:spPr>
        <p:txBody>
          <a:bodyPr wrap="square">
            <a:spAutoFit/>
          </a:bodyPr>
          <a:lstStyle/>
          <a:p>
            <a:pPr algn="l"/>
            <a:r>
              <a:rPr sz="2300" b="0">
                <a:solidFill>
                  <a:srgbClr val="20201E"/>
                </a:solidFill>
                <a:latin typeface="Georgia"/>
                <a:ea typeface="Arial"/>
                <a:cs typeface="Arial"/>
              </a:rPr>
              <a:t>Edmondson / Kerrissey</a:t>
            </a:r>
          </a:p>
        </p:txBody>
      </p:sp>
      <p:sp>
        <p:nvSpPr>
          <p:cNvPr id="16" name="TextBox 15"/>
          <p:cNvSpPr txBox="1"/>
          <p:nvPr/>
        </p:nvSpPr>
        <p:spPr>
          <a:xfrm>
            <a:off x="4632350" y="4251960"/>
            <a:ext cx="6689750" cy="685800"/>
          </a:xfrm>
          <a:prstGeom prst="rect">
            <a:avLst/>
          </a:prstGeom>
          <a:noFill/>
        </p:spPr>
        <p:txBody>
          <a:bodyPr wrap="square">
            <a:spAutoFit/>
          </a:bodyPr>
          <a:lstStyle/>
          <a:p>
            <a:pPr algn="l"/>
            <a:r>
              <a:rPr sz="2100" b="0">
                <a:solidFill>
                  <a:srgbClr val="20201E"/>
                </a:solidFill>
                <a:latin typeface="Arial"/>
                <a:ea typeface="Arial"/>
                <a:cs typeface="Arial"/>
              </a:rPr>
              <a:t>Условия для вопросов, ошибок и обучения</a:t>
            </a:r>
          </a:p>
        </p:txBody>
      </p:sp>
      <p:cxnSp>
        <p:nvCxnSpPr>
          <p:cNvPr id="17" name="Connector 16"/>
          <p:cNvCxnSpPr/>
          <p:nvPr/>
        </p:nvCxnSpPr>
        <p:spPr>
          <a:xfrm>
            <a:off x="640080" y="4946904"/>
            <a:ext cx="10789920" cy="0"/>
          </a:xfrm>
          <a:prstGeom prst="line">
            <a:avLst/>
          </a:prstGeom>
          <a:ln w="12700">
            <a:solidFill>
              <a:srgbClr val="C5C0B6"/>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40080" y="5074920"/>
            <a:ext cx="3776472" cy="685800"/>
          </a:xfrm>
          <a:prstGeom prst="rect">
            <a:avLst/>
          </a:prstGeom>
          <a:noFill/>
        </p:spPr>
        <p:txBody>
          <a:bodyPr wrap="square">
            <a:spAutoFit/>
          </a:bodyPr>
          <a:lstStyle/>
          <a:p>
            <a:pPr algn="l"/>
            <a:r>
              <a:rPr sz="2300" b="0">
                <a:solidFill>
                  <a:srgbClr val="20201E"/>
                </a:solidFill>
                <a:latin typeface="Georgia"/>
                <a:ea typeface="Arial"/>
                <a:cs typeface="Arial"/>
              </a:rPr>
              <a:t>Ye / Ranganathan</a:t>
            </a:r>
          </a:p>
        </p:txBody>
      </p:sp>
      <p:sp>
        <p:nvSpPr>
          <p:cNvPr id="19" name="TextBox 18"/>
          <p:cNvSpPr txBox="1"/>
          <p:nvPr/>
        </p:nvSpPr>
        <p:spPr>
          <a:xfrm>
            <a:off x="4632350" y="5074920"/>
            <a:ext cx="6689750" cy="685800"/>
          </a:xfrm>
          <a:prstGeom prst="rect">
            <a:avLst/>
          </a:prstGeom>
          <a:noFill/>
        </p:spPr>
        <p:txBody>
          <a:bodyPr wrap="square">
            <a:spAutoFit/>
          </a:bodyPr>
          <a:lstStyle/>
          <a:p>
            <a:pPr algn="l"/>
            <a:r>
              <a:rPr sz="2100" b="0">
                <a:solidFill>
                  <a:srgbClr val="20201E"/>
                </a:solidFill>
                <a:latin typeface="Arial"/>
                <a:ea typeface="Arial"/>
                <a:cs typeface="Arial"/>
              </a:rPr>
              <a:t>Интенсивность работы, паузы и параллельные задачи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