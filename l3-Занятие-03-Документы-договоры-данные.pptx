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0–1 мин</a:t>
            </a:r>
          </a:p>
          <a:p>
            <a:r>
              <a:t>Открытие: «Сегодня делаем три обычные управленческие задачи. Получим файл, сравним условия и проверим цифры. Потом соберём готовую операцию для коллеги». Все входы синтетические. Локальную механику показывает ведущая.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1–3 мин</a:t>
            </a:r>
          </a:p>
          <a:p>
            <a:r>
              <a:t>Показать комплект и ожидаемый формат. Не обещать корпоративное внедрение за 90 минут. Выгрузки зависят от аккаунта, текстовый вариант допустим с честной отметкой.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3–4 мин</a:t>
            </a:r>
          </a:p>
          <a:p>
            <a:r>
              <a:t>Архив проиндексирован отдельно. Не называть каждую найденную презентацию кейсом реального внедрения. Здесь берем методику и виды задач; новые входы синтетические. USC/Scandi не подтверждены как конкретные исходные презентации.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4–5 мин</a:t>
            </a:r>
          </a:p>
          <a:p>
            <a:r>
              <a:t>Не выдавать сотруднику абстрактную обязанность «использовать ИИ». Назвать вход, файл результата и проверку. Подписание договора и принятие риска остаются у ответственного человека.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5–8 мин</a:t>
            </a:r>
          </a:p>
          <a:p>
            <a:r>
              <a:t>Сервисы по инструкции, не рейтинг. ChatGPT/Claude/Kimi можно использовать для одной и той же операции. Не тратить занятие на новые регистрации. Полная карточка инструмента в пакете.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8–11 мин</a:t>
            </a:r>
          </a:p>
          <a:p>
            <a:r>
              <a:t>Синтетические материалы можно использовать только в разрешённом учебном сервисе. Реальные файлы идут по правилам компании. Старый запрет из сценария одной компании не распространять автоматически на всех.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11–14 мин</a:t>
            </a:r>
          </a:p>
          <a:p>
            <a:r>
              <a:t>Открыть 01-Бриф, показать две записи. Это новая синтетическая ситуация, созданная по практике документов из авторских материалов. Не выбирать вариант от себя.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14–16 мин</a:t>
            </a:r>
          </a:p>
          <a:p>
            <a:r>
              <a:t>Полный запрос копируют с портала, не со слайда. Источники 01 и шаблон 02. Модель должна не закрыть, а показать нерешенный вопрос.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16–24 мин</a:t>
            </a:r>
          </a:p>
          <a:p>
            <a:r>
              <a:t>8 минут. Задание по ходу урока. Внешние сервисы получают только учебные входы. Если DOCX недоступен, сохранить текст. Вопросы об источниках — часть результата, а не ошибка участника.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24–27 мин</a:t>
            </a:r>
          </a:p>
          <a:p>
            <a:r>
              <a:t>Это авторский эталон, не ответ, полученный в каждом сервисе. Показать разделение фактов, предложений и неизвестного.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27–30 мин</a:t>
            </a:r>
          </a:p>
          <a:p>
            <a:r>
              <a:t>Открыть 03 и 04. Учебный договор со ссылкой на отсутствующее приложение. Это не юридическая экспертиза действующего договора. Владелец/юрист решают приемлемость условий.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30–32 мин</a:t>
            </a:r>
          </a:p>
          <a:p>
            <a:r>
              <a:t>Не утверждать, что изменение незаконно. Управленческая интерпретация отделена от цитаты. Проверить пункт 6.1 и отсутствие приложения 1.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32–40 мин</a:t>
            </a:r>
          </a:p>
          <a:p>
            <a:r>
              <a:t>8 минут. Выход — таблица, а не новая автоматически согласованная редакция. Для каждого изменения нужны обе цитаты. Пропуск приложения не замещается выдуманным объемом работ.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40–43 мин</a:t>
            </a:r>
          </a:p>
          <a:p>
            <a:r>
              <a:t>Эталон в материалах. Не скрывать, что четыре изменения заданы автором упражнения; участник должен найти их в двух файлах.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43–46 мин</a:t>
            </a:r>
          </a:p>
          <a:p>
            <a:r>
              <a:t>Открыть CSV 05, объяснить часы и разделитель ;. Значения маленькие, чтобы проверить вручную. Один точный дубль и один пропуск. Не рассказывать о больших датасетах вместо работы с файлом.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46–48 мин</a:t>
            </a:r>
          </a:p>
          <a:p>
            <a:r>
              <a:t>Показать готовый запрос и check_data.py. Просим код, формулу или другую явную процедуру. Не доверять одному текстовому объяснению суммы.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48–56 мин</a:t>
            </a:r>
          </a:p>
          <a:p>
            <a:r>
              <a:t>8 минут. CSV открывается в Excel с UTF-8 и ;. Модель не должна незаметно удалять строки с пропуском и называть полную нагрузку. Проверочные значения смотрят после своей проверки.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56–58 мин</a:t>
            </a:r>
          </a:p>
          <a:p>
            <a:r>
              <a:t>Контроль вычислен независимым Python-скриптом по CSV. Сырых строк 12, уникальных заявок 11. Не обозначать неизвестные часы нулём.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58–60 мин</a:t>
            </a:r>
          </a:p>
          <a:p>
            <a:r>
              <a:t>Две минуты как расширение, не четвертая обязательная практика. Основа: свои тренинги с шаблоном УКК и отельный deck слайд 16. Учебная ставка 12%, не рекомендация для реального проекта.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60–62 мин</a:t>
            </a:r>
          </a:p>
          <a:p>
            <a:r>
              <a:t>Показать три новых skill: business-memo, contract-diff, data-check. Это только текст. Реальные исходники и доступы выдаются отдельно. Повторить с коллегой до расширения.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62–65 мин</a:t>
            </a:r>
          </a:p>
          <a:p>
            <a:r>
              <a:t>Конкретные шаги в гайде. Не создавать GPT за пользователя и не утверждать доступность в каждом личном аккаунте. Разрешения не возникают из текста пакета.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65–67 мин</a:t>
            </a:r>
          </a:p>
          <a:p>
            <a:r>
              <a:t>Функции и названия меняются. Смотрят фактическую конфигурацию, не выдают разрешения переключателем обучения. Первый пилот можно сделать без интеграции.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67–69 мин</a:t>
            </a:r>
          </a:p>
          <a:p>
            <a:r>
              <a:t>Из авторских RAG-материалов сохраняем идею ответа по источнику, убираем обещание отсутствия ошибок и фиксированные чужие метрики. База документов включает извлечение текста и embeddings, не только модель.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69–72 мин</a:t>
            </a:r>
          </a:p>
          <a:p>
            <a:r>
              <a:t>Ollama+OpenWebUI рецепт сверён с документацией, не развёрнут здесь. Не запускать установку на уроке и не выдавать промышленную готовность. Авторский CLI ASR не смешиваем с чатом по документам.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72–78 мин</a:t>
            </a:r>
          </a:p>
          <a:p>
            <a:r>
              <a:t>6 минут. Механика только для показа. Участникам не нужна установка. Настоящий прогон и 8 тестов выполнены. Сетевой audit hook Python не изолирует всю ОС. Docker-шаблон не проверен: Docker отсутствует. Протокол требует отдельной процедуры.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78–82 мин</a:t>
            </a:r>
          </a:p>
          <a:p>
            <a:r>
              <a:t>4 минуты. Сервис уже проверен. Используем встроенный учебный договор, не меняем реальный. Успешное восстановление не гарантирует анонимность и разрешение внешней передачи. Пароль и справочник не идут в чат.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82–85 мин</a:t>
            </a:r>
          </a:p>
          <a:p>
            <a:r>
              <a:t>Сопоставить с маршрутом данных. На экране модель не подтверждает надёжность словами. Реальные записи и договоры только после согласования. Проверки ниже — требования к корпоративной системе, не заявление о текущей инфраструктуре.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85–87 мин</a:t>
            </a:r>
          </a:p>
          <a:p>
            <a:r>
              <a:t>Не называть цены прошлых презентаций действующим прайсом. Числа по бюджету запрашиваются после выбора архитектуры. Локальная установка тоже требует времени и поддержки. Без выдуманного ROI.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87–89 мин</a:t>
            </a:r>
          </a:p>
          <a:p>
            <a:r>
              <a:t>Письмо не отправляем автоматически. Руководитель заполняет утверждённую ссылку, ответственного, папку и срок. Учебный шаблон не выдаёт корпоративное разрешение.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89–90 мин</a:t>
            </a:r>
          </a:p>
          <a:p>
            <a:r>
              <a:t>Закрыть на 90-й минуте. Итог — свой проверенный пакет или одна из трёх операций. Не требовать освоить весь каталог. Домашнее: повторить с одним коллегой на разрешённом входе.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</a:t>
            </a:r>
          </a:p>
          <a:p>
            <a:r>
              <a:t>Приложение вне 90 минут. Полная карта и пути остаются локально. Не публиковать сырой текст корпоративных сценариев. Исторические правила не являются текущим разрешением.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</a:t>
            </a:r>
          </a:p>
          <a:p>
            <a:r>
              <a:t>Приложение. Не обещать тест каждого облачного сервиса, промышленный аудит или готовый сервер. Локальная среда и модель сохранены для повтора.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3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D2DE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E6C98A"/>
                </a:solidFill>
                <a:latin typeface="Arial"/>
                <a:ea typeface="Arial"/>
                <a:cs typeface="Arial"/>
              </a:rPr>
              <a:t>ИИ для менеджмента · Занятие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Документы, договоры
и данные с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Подготовить самому. Передать сотруднику.
Проверить результат и маршрут данных.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За 90 минут получим три рабочих результата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Документ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7872" y="18288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Записка по двум источникам без выдуманных решений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Договор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8803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Таблица изменений с пунктами и цитатами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931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Очищенная таблица, расчёт и ограничения вывода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559552"/>
            <a:ext cx="1069848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462D"/>
                </a:solidFill>
                <a:latin typeface="Arial"/>
                <a:ea typeface="Arial"/>
                <a:cs typeface="Arial"/>
              </a:rPr>
              <a:t>Для каждой операции остаются вход, промпт, образец и способ проверки.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Одна операция пригодится в разных отделах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Северсталь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7952" y="182880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Документы, внутренние инструменты и ограничения данных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Корпоративные тренинги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288036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Саммари встречи и записка по шаблону УКК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Отели и медицина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393192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Таблицы, отзывы, прайсы и инвестиционный пример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12648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По авторским материалам для промышленности, корпоративных служб и сервисного бизнеса.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Менеджер определяет решение, сотрудник готовит материал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Самостоятельно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68880"/>
            <a:ext cx="4892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4892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Выбрать операцию.
Проверить разрешённый маршрут.
Согласовать результат и критерии.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Делегировать сотруднику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468880"/>
            <a:ext cx="4892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788920"/>
            <a:ext cx="4892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Собрать черновик по шаблону.
Сравнить версии.
Показать расчёт и пропуски.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Инструмент выбираем под выходной файл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7872" y="18288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Файл, инструкция проекта, расчёт с кодом по доступности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8803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Документ, сравнение и текстовая процедура / skill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Kimi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931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Обработка файлов и аналитическая записка в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559552"/>
            <a:ext cx="1069848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462D"/>
                </a:solidFill>
                <a:latin typeface="Arial"/>
                <a:ea typeface="Arial"/>
                <a:cs typeface="Arial"/>
              </a:rPr>
              <a:t>Выберите уже доступный согласованный сервис. Скачанный файл нужно открыть.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До загрузки решаем, кто получит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Учебный пример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6512" y="1828800"/>
            <a:ext cx="7040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Нет реальных клиентов, договоров и обязательств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Разрешённый внешний сервис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6512" y="2880360"/>
            <a:ext cx="7040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Конкретные аккаунт, провайдер и объём передачи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Закрытые для облака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3931920"/>
            <a:ext cx="7040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Согласованная внутренняя обработка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559552"/>
            <a:ext cx="1069848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462D"/>
                </a:solidFill>
                <a:latin typeface="Arial"/>
                <a:ea typeface="Arial"/>
                <a:cs typeface="Arial"/>
              </a:rPr>
              <a:t>Если статус неизвестен, спрашиваем владельца данных.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В исходниках записки есть противоречие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Источник А · заметки встречи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68880"/>
            <a:ext cx="4892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4892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Две площадки.
Черновик «к пятнице».
Бюджет не утверждён.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Источник Б · письмо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468880"/>
            <a:ext cx="4892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788920"/>
            <a:ext cx="4892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Начать с одной площадки.
Черновик к 28 октября.
Выгрузка заявок не подтверждена.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59552"/>
            <a:ext cx="1069848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462D"/>
                </a:solidFill>
                <a:latin typeface="Arial"/>
                <a:ea typeface="Arial"/>
                <a:cs typeface="Arial"/>
              </a:rPr>
              <a:t>Хороший черновик сохраняет противоречие и задаёт вопрос руководителю.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Запрос задаёт источник, форму и работу с пропусками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10607040" cy="361188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75104"/>
            <a:ext cx="100126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163354"/>
                </a:solidFill>
                <a:latin typeface="Georgia"/>
                <a:ea typeface="Arial"/>
                <a:cs typeface="Arial"/>
              </a:rPr>
              <a:t>Подготовь записку руководителю по шаблону.
Раздели факты, предложения и вопросы.
Для фактов укажи источник А или Б.
Не выбирай молча между сроками и площадками.
Не добавляй утверждённый бюджет.
Верни DOCX, если создание файла доступно.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Практика: записка, которую можно обсуждать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8732520" y="1783080"/>
            <a:ext cx="2697480" cy="3931920"/>
          </a:xfrm>
          <a:prstGeom prst="rect">
            <a:avLst/>
          </a:prstGeom>
          <a:solidFill>
            <a:srgbClr val="2A6B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2029968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минут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306324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Черновик
записки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1. Добавьте 01-Бриф и 02-Шаблон-записки.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71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2. Выполните запрос «Документ по брифу».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114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3. Откройте результат. Проверьте сроки, охват и бюджет по обоим источникам.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Сначала решение, которое требуется от руководителя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6492240" cy="361188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60350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Georgia"/>
                <a:ea typeface="Arial"/>
                <a:cs typeface="Arial"/>
              </a:rPr>
              <a:t>Нужно уточнить охват и срок пробы.
Источник А: две площадки, «к пятнице».
Источник Б: одна площадка, 28 октября.
Бюджет не утверждён.
Выгрузка заявок не подтверждена.
Ответственная за черновик: Анна.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920240"/>
            <a:ext cx="3566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A6B62"/>
                </a:solidFill>
                <a:latin typeface="Arial"/>
                <a:ea typeface="Arial"/>
                <a:cs typeface="Arial"/>
              </a:rPr>
              <a:t>Что проверяет
менеджер?
Основания.
Противоречия.
Следующий шаг.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Четыре изменения в новой версии договора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Версия А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68880"/>
            <a:ext cx="4892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4892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Аванс 30%.
10 рабочих дней.
Письменная приёмка.
Проверка: 5 рабочих дней.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Версия Б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468880"/>
            <a:ext cx="4892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788920"/>
            <a:ext cx="4892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Аванс 70%.
20 рабочих дней.
Молчание 2 рабочих дня
считается приёмкой.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59552"/>
            <a:ext cx="1069848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462D"/>
                </a:solidFill>
                <a:latin typeface="Arial"/>
                <a:ea typeface="Arial"/>
                <a:cs typeface="Arial"/>
              </a:rPr>
              <a:t>Цена прежняя. В новой версии ещё появилось ограничение ответственности.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Изменение, последствие и решение идут раздельно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Факт · п.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0752" y="18288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Аванс увеличен с 30% до 70%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Расчёт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752" y="288036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30 000 стало 70 000, разница 40 000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Вопрос владельцу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393192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Готовы ли принять такой порядок оплаты?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559552"/>
            <a:ext cx="1069848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462D"/>
                </a:solidFill>
                <a:latin typeface="Arial"/>
                <a:ea typeface="Arial"/>
                <a:cs typeface="Arial"/>
              </a:rPr>
              <a:t>Каждый вывод проверяется по точной цитате в соответствующей версии.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Практика: таблица изменений договора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8732520" y="1783080"/>
            <a:ext cx="2697480" cy="3931920"/>
          </a:xfrm>
          <a:prstGeom prst="rect">
            <a:avLst/>
          </a:prstGeom>
          <a:solidFill>
            <a:srgbClr val="2A6B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2029968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минут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306324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Сравнение
и вопросы
владельцу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1. Добавьте версии А и Б, выполните запрос «Сравнение договоров».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71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2. Сверьте пункты 2.2, 3.1, 4.1 и 6.1.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114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3. Отметьте отсутствующее приложение и вопросы, которые должен решить человек.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Что проверить в сравнении до передачи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2.2 и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1828800"/>
            <a:ext cx="7680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Аванс 30% → 70%; срок 10 → 20 рабочих дней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4.1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2743200"/>
            <a:ext cx="7680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Приёмка без замечаний за 2 рабочих дня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6.1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3657600"/>
            <a:ext cx="7680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Новая граница ответственности: 10% цены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805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Приложение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4572000"/>
            <a:ext cx="7680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Нет в обоих входах, объём не восстановлен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12648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Проверка текста и расчёта не заменяет решения о принятии условий.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Таблица может выглядеть аккуратно и давать неверный 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T007 повторяется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68880"/>
            <a:ext cx="4892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4892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Пять часов попали
в выгрузку дважды.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У T008 нет часов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468880"/>
            <a:ext cx="4892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788920"/>
            <a:ext cx="4892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Пустая ячейка
не означает ноль.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59552"/>
            <a:ext cx="1069848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462D"/>
                </a:solidFill>
                <a:latin typeface="Arial"/>
                <a:ea typeface="Arial"/>
                <a:cs typeface="Arial"/>
              </a:rPr>
              <a:t>Перед выводами проверяем идентификаторы, единицы и пропуски.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Расчёт должен быть воспроизводимым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10607040" cy="361188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163354"/>
                </a:solidFill>
                <a:latin typeface="Georgia"/>
                <a:ea typeface="Arial"/>
                <a:cs typeface="Arial"/>
              </a:rPr>
              <a:t>Проверь дубли id и пустые hours.
Точный дубль исключи один раз и запиши это.
Пустые часы не заменяй нулём.
Посчитай известные часы и статусы.
Покажи расчёт, верни очищенный CSV.
Отметь, какой вывод нельзя сделать.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Практика: очищенная таблица и короткий 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8732520" y="1783080"/>
            <a:ext cx="2697480" cy="3931920"/>
          </a:xfrm>
          <a:prstGeom prst="rect">
            <a:avLst/>
          </a:prstGeom>
          <a:solidFill>
            <a:srgbClr val="2A6B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2029968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минут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306324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CSV
и сводка
для встречи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1. Загрузите 05-Заявки.csv и выполните запрос анализа.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71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2. Откройте очищенный CSV. Сверьте T007 и T008.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114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3. Проверьте сумму независимо и прочитайте ограничения в сводке.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Известны 24 часа, полная нагрузка пока неизвестна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Сырые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6512" y="1828800"/>
            <a:ext cx="7040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12; наивная сумма 29 часов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Уникальные заявки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6512" y="2743200"/>
            <a:ext cx="7040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11; известная сумма 24 часа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Закрытые / открытые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3657600"/>
            <a:ext cx="7040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13 / 11 известных часов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805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Неизвестное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4572000"/>
            <a:ext cx="7040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Часы T008 и полная открытая нагрузка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Та же схема подходит для инвестиционной записки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Извлечь и посчитать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68880"/>
            <a:ext cx="4892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4892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Поток t=0: −1 000 000 руб.
Далее: 400 / 400 / 400 / 300 тыс.
Ставка: 12% в учебном примере.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Затем написать записку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468880"/>
            <a:ext cx="4892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788920"/>
            <a:ext cx="4892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NPV ≈ 151 388 руб.
IRR ≈ 19,30%.
Допущения и вопросы отдельно.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59552"/>
            <a:ext cx="1069848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462D"/>
                </a:solidFill>
                <a:latin typeface="Arial"/>
                <a:ea typeface="Arial"/>
                <a:cs typeface="Arial"/>
              </a:rPr>
              <a:t>Периоды, знаки потоков и источник ставки проверяются до выводов.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Сотруднику выдаём проверенную операцию целиком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Вход и результат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6512" y="1828800"/>
            <a:ext cx="7040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Какие файлы открыть и какой файл получить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Процедура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6512" y="2743200"/>
            <a:ext cx="7040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Готовый промпт или прочитанный SKILL.md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3657600"/>
            <a:ext cx="7040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Образец, контрольные числа и вопросы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805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Ответственный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4572000"/>
            <a:ext cx="7040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Владелец версии и причина остановки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Процедуру сохраняют в доступном рабочем инструменте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7872" y="18288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Инструкция проекта; внутренний GPT/плагин по доступности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8803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Customize → Skills, прочитанный ZIP и включённые функции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Kimi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931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Текст процедуры, / или +; свой skill по доступности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559552"/>
            <a:ext cx="1069848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462D"/>
                </a:solidFill>
                <a:latin typeface="Arial"/>
                <a:ea typeface="Arial"/>
                <a:cs typeface="Arial"/>
              </a:rPr>
              <a:t>Самый переносимый вариант — тот же запрос и пример обычным текстом.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Настройки проверяют перед выдачей сотрудникам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Аккаунт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7872" y="18288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Личный или рабочий, кто управляет доступом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8803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Память, обучение, хранение и аудитория результата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Приложения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931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Что читают, что меняют, как отозвать доступ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559552"/>
            <a:ext cx="1069848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462D"/>
                </a:solidFill>
                <a:latin typeface="Arial"/>
                <a:ea typeface="Arial"/>
                <a:cs typeface="Arial"/>
              </a:rPr>
              <a:t>Промпт «читай только эту папку» не меняет права приложения.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Для базы документов локальность проверяют на всём пути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3154680" cy="822960"/>
          </a:xfrm>
          <a:prstGeom prst="rect">
            <a:avLst/>
          </a:prstGeom>
          <a:solidFill>
            <a:srgbClr val="1633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2011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Документ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Извлечение текста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39" y="2103120"/>
            <a:ext cx="457200" cy="228600"/>
          </a:xfrm>
          <a:prstGeom prst="rightArrow">
            <a:avLst/>
          </a:prstGeom>
          <a:solidFill>
            <a:srgbClr val="C946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79" y="1828800"/>
            <a:ext cx="3154680" cy="822960"/>
          </a:xfrm>
          <a:prstGeom prst="rect">
            <a:avLst/>
          </a:prstGeom>
          <a:solidFill>
            <a:srgbClr val="1633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3" y="2011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01752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Индекс / embeddings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26679" y="2103120"/>
            <a:ext cx="457200" cy="228600"/>
          </a:xfrm>
          <a:prstGeom prst="rightArrow">
            <a:avLst/>
          </a:prstGeom>
          <a:solidFill>
            <a:srgbClr val="C946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19" y="1828800"/>
            <a:ext cx="3154680" cy="822960"/>
          </a:xfrm>
          <a:prstGeom prst="rect">
            <a:avLst/>
          </a:prstGeom>
          <a:solidFill>
            <a:srgbClr val="1633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1624" y="2011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Ответ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01752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Модель / журнал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59552"/>
            <a:ext cx="1069848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462D"/>
                </a:solidFill>
                <a:latin typeface="Arial"/>
                <a:ea typeface="Arial"/>
                <a:cs typeface="Arial"/>
              </a:rPr>
              <a:t>Каждый внешний обработчик становится отдельным получателем данных.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Локальная модель и рабочее окно — отдельный стенд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13632" y="1828800"/>
            <a:ext cx="72237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Запуск локальной модели; облачные функции отключаются отдельно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Open WebUI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3632" y="2880360"/>
            <a:ext cx="72237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Окно для пользователей и документов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Перед рабочим запуском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2" y="3931920"/>
            <a:ext cx="72237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Локальные обработчики, сеть, роли, хранение и проверка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559552"/>
            <a:ext cx="1069848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462D"/>
                </a:solidFill>
                <a:latin typeface="Arial"/>
                <a:ea typeface="Arial"/>
                <a:cs typeface="Arial"/>
              </a:rPr>
              <a:t>Пошаговый рецепт и статус проверки — в раздатке. Подготовкой занимается ответственный.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Живой показ: запись превращается в текст локально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8732520" y="1783080"/>
            <a:ext cx="2697480" cy="3931920"/>
          </a:xfrm>
          <a:prstGeom prst="rect">
            <a:avLst/>
          </a:prstGeom>
          <a:solidFill>
            <a:srgbClr val="2A6B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2029968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минут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306324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Локальная
расшифровка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1. Открываем вымышленную запись на 8,6 секунды.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71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2. Запускаем готовый transcriber с моделью на диске.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114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3. Сверяем JSON с аудио: «руководителя» нужно исправить на «руководитель».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Показ: какие сведения останутся в запросе?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732520" y="1783080"/>
            <a:ext cx="2697480" cy="3931920"/>
          </a:xfrm>
          <a:prstGeom prst="rect">
            <a:avLst/>
          </a:prstGeom>
          <a:solidFill>
            <a:srgbClr val="2A6B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2029968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минут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306324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Маскировка
и её границы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1. Маскируем выбранные реквизиты учебного договора.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71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2. Показываем цену, срок и условия, которые остались видны.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114800"/>
            <a:ext cx="75438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3. Зашифровываем справочник и локально возвращаем имена в учебный ответ.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Защиту проверяют действиями и наблюдением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Доступ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7872" y="18288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Чужой пользователь не получает чужой документ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Сеть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7432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Внешние подключения ограничены и проверены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Хранение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6576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Права, ключи, сроки для исходников и копий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805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45720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Отправка, публикация и согласование контролируются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Лицензия — только часть стоимости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Доступы + инфраструктура + поддержка
+ проверка результата + обучение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Пилот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7872" y="36576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Одна операция, реальное время с исправлениями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4805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Расширение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45720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Повторяемость, качество и разрешённый маршрут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3949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Первое сообщение сотруднику уже подготовлено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10607040" cy="36576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65960"/>
            <a:ext cx="99669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163354"/>
                </a:solidFill>
                <a:latin typeface="Georgia"/>
                <a:ea typeface="Arial"/>
                <a:cs typeface="Arial"/>
              </a:rPr>
              <a:t>Начнём с записки по учебному брифу.
Откройте файлы 01 и 02 и готовый запрос.
Сверьте срок, охват и бюджет с источниками.
Отметьте правки и всё затраченное время.
Если нет доступа или данных недостаточно,
сообщите ответственному.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3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D2DE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Какую операцию вы теперь
сможете повторить?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148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6C98A"/>
                </a:solidFill>
                <a:latin typeface="Arial"/>
                <a:ea typeface="Arial"/>
                <a:cs typeface="Arial"/>
              </a:rPr>
              <a:t>Сохраните вход, запрос, результат и проверку.
Передайте коллеге понятную инструкцию.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Карта авторских источников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22191" y="1828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«Генеративный ИИ в деле», слайды 6–8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27432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«Практика под базу», 5–9; «ГенИИ отели и медики», 12–20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Корпоративное окно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36576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«Для юристов», 20–23, 29; «ИИ-ассистенты», 9–16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805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Сценарии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45720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Северсталь 2024; программы тренинга и шаблон УКК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163354"/>
                </a:solidFill>
                <a:latin typeface="Arial"/>
                <a:ea typeface="Arial"/>
                <a:cs typeface="Arial"/>
              </a:rPr>
              <a:t>Что проверено, а что требует отдельного запуска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6437376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5F54"/>
                </a:solidFill>
                <a:latin typeface="Arial"/>
                <a:ea typeface="Arial"/>
                <a:cs typeface="Arial"/>
              </a:rPr>
              <a:t>Дарья Жуйкова · ИИ для менеджеров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Проверено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13632" y="1828800"/>
            <a:ext cx="72237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ASR на синтетике; маскировщик; расчёты CSV и NPV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Подготовлено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3632" y="2743200"/>
            <a:ext cx="72237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Промпты, skills, образцы, карточки и письмо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По документации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2" y="3657600"/>
            <a:ext cx="72237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Ollama + Open WebUI, Presidio: нужен свой запуск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805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C9462D"/>
                </a:solidFill>
                <a:latin typeface="Arial"/>
                <a:ea typeface="Arial"/>
                <a:cs typeface="Arial"/>
              </a:rPr>
              <a:t>Не выполнено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4572000"/>
            <a:ext cx="72237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63354"/>
                </a:solidFill>
                <a:latin typeface="Arial"/>
                <a:ea typeface="Arial"/>
                <a:cs typeface="Arial"/>
              </a:rPr>
              <a:t>Корпоративное развёртывание и проверка реальных данных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10607040" cy="12801"/>
          </a:xfrm>
          <a:prstGeom prst="rect">
            <a:avLst/>
          </a:prstGeom>
          <a:solidFill>
            <a:srgbClr val="C6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