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Manrope" pitchFamily="34" charset="0"/>
      <p:regular r:id="rId41"/>
      <p:bold r:id="rId42"/>
    </p:embeddedFont>
    <p:embeddedFont>
      <p:font typeface="Unbounded" pitchFamily="34" charset="0"/>
      <p:regular r:id="rId43"/>
      <p:bold r:id="rId4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font" Target="fonts/font1.fntdata"/><Relationship Id="rId42" Type="http://schemas.openxmlformats.org/officeDocument/2006/relationships/font" Target="fonts/font2.fntdata"/><Relationship Id="rId43" Type="http://schemas.openxmlformats.org/officeDocument/2006/relationships/font" Target="fonts/font3.fntdata"/><Relationship Id="rId44"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Здороваемся. Сегодня у нас практическое занятие: за полтора часа каждый соберёт материал, который можно унести в работу, и поймёт, как потом показать это своей команде.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Опрос нужен, чтобы понять, на каких сервисах строить практику. Если почти никто не платит, опираемся на бесплатные: GLM, Kimi, Gamma с пробными генерациями, NotebookLM.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Эти четыре вопроса звучат почти в каждой команде, даже если вслух их не задают. Лучше ответить на них в самом начале: пока человек боится, он не будет пробовать. Спросите группу, какой из страхов им ближе, и попросите добавить свои.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Пусть каждый определит свой маршрут до начала практики, иначе половина группы застрянет на регистрации. Тем, у кого только корпоративный компьютер, даю самый простой сервис без оплаты, VPN и регистрации — SimpleSlide.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Сильные модели для текста: ChatGPT, Claude, Qwen, Kimi, Gemini. Картинки можно генерировать отдельно или прямо внутри сервиса презентаций. Сегодня идём смешанным путём: сначала смысл, потом оформление.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Весь контекст удобно сложить в один документ или одно сообщение. Его же потом можно отдать любому сервису: ChatGPT, Gamma, NotebookLM, GLM.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Разберите хороший запрос по частям: объём, источник, ограничения, что делать с пробелами. Последняя часть особенно важна — она отучает модель выдумывать.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Gamma, GLM и NotebookLM экран с настройками появляется до генерации, и его часто пролистывают. Попросите группу остановиться на нём и выставить всё осознанно.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Запросы работают в любом сервисе из следующего слайда. Обратите внимание на общее правило: в каждом есть запрет выдумывать данные.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Верхний ряд — то, что я показываю чаще всего. Gamma и Napkin иногда требуют VPN, NotebookLM — Google-аккаунт. У Gamma бесплатно доступна пара генераций, дальше подписка. Можно заходить напрямую или через GPTunnel. Условия доступа меняются часто, проверяйте перед занятием.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ошибка на этом шаге — сразу жать «сгенерировать». Попросите показать план и поправьте его: это минута, которая экономит десять.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NotebookLM — лучший ответ на страх «он выдумывает»: каждая мысль привязана к источнику, и это видно. Покажите, как кликнуть на сноску и попасть в нужный абзац документа. Аудиообзор хорошо заходит руководителям: длинный отчёт можно послушать по дороге.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Napkin закрывает самую нелюбимую часть работы — придумать, как нарисовать мысль. Покажите, что из одного абзаца он предлагает несколько вариантов, и выбор остаётся за человеком.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Точная правка звучит так: «На слайде 3 убери вывод про рост продаж, его нет в исходнике». Расплывчатая — «сделай получше». Покажите разницу в результате.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Короткий круг: пусть два-три человека скажут, какой сервис выбрали бы для своей задачи и почему. Это и есть четвёртый, индивидуальный подход.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Уровень зависит от риска, а не от сложности задачи. Сложный анализ данных может жить на первом уровне, а простое письмо клиенту — на втором, потому что его уже не вернёшь. Спросите группу, куда они бы отнесли пару своих задач.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Важная обратная сторона: если заставить человека утверждать каждую мелочь, он устанет и начнёт нажимать «ок» не глядя. Тогда контроль есть только на бумаге. Поэтому точек остановки должно быть мало, и каждая — по делу. Хорошая практика — начинать с более частых проверок и ослаблять их, когда агент показал себя надёжным на реальных задачах.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Разметку модель делать не должна: это и есть управленческое решение. Пусть два-три человека покажут свои схемы, обсудите спорные шаги — обычно спорят про второй уровень.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чего-то из четырёх не хватает, человек застрянет на первом же шаге и решит, что ИИ «не для него». Чаще всего забывают про доступ и про критерии: как понять, что получилось хорошо.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Разбор ошибки вместе — самый ценный шаг. Человек видит, что ошибаться нормально и что ошибку можно поймать. После этого страх «он выдумывает» уходит гораздо быстрее, чем после любой лекции.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Считайте время всей операции целиком, включая исправления. Иначе легко порадоваться «презентации за минуту», которую потом правили час.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628005"/>
          </a:xfrm>
          <a:prstGeom prst="rect">
            <a:avLst/>
          </a:prstGeom>
          <a:noFill/>
          <a:ln/>
        </p:spPr>
        <p:txBody>
          <a:bodyPr wrap="square" lIns="0" tIns="0" rIns="0" bIns="0" rtlCol="0" anchor="t"/>
          <a:lstStyle>
            <a:lvl1pPr algn="l" indent="0" marL="0">
              <a:lnSpc>
                <a:spcPct val="115000"/>
              </a:lnSpc>
              <a:buNone/>
              <a:defRPr lang="en-US" sz="3000" dirty="0">
                <a:solidFill>
                  <a:srgbClr val="1F2333"/>
                </a:solidFill>
                <a:latin typeface="Unbounded" pitchFamily="34" charset="0"/>
                <a:ea typeface="Unbounded" pitchFamily="34" charset="-122"/>
                <a:cs typeface="Unbounded"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85925"/>
            <a:ext cx="10566400" cy="3959275"/>
          </a:xfrm>
          <a:prstGeom prst="rect">
            <a:avLst/>
          </a:prstGeom>
          <a:noFill/>
          <a:ln/>
        </p:spPr>
        <p:txBody>
          <a:bodyPr wrap="square" lIns="0" tIns="0" rIns="0" bIns="0" rtlCol="0" anchor="t"/>
          <a:lstStyle>
            <a:lvl1pPr algn="l" indent="0" marL="0">
              <a:lnSpc>
                <a:spcPct val="140000"/>
              </a:lnSpc>
              <a:buNone/>
              <a:defRPr lang="en-US" sz="1600" dirty="0">
                <a:solidFill>
                  <a:srgbClr val="1F2333"/>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628005"/>
          </a:xfrm>
          <a:prstGeom prst="rect">
            <a:avLst/>
          </a:prstGeom>
          <a:noFill/>
          <a:ln/>
        </p:spPr>
        <p:txBody>
          <a:bodyPr wrap="square" lIns="0" tIns="0" rIns="0" bIns="0" rtlCol="0" anchor="t"/>
          <a:lstStyle>
            <a:lvl1pPr algn="l" indent="0" marL="0">
              <a:lnSpc>
                <a:spcPct val="115000"/>
              </a:lnSpc>
              <a:buNone/>
              <a:defRPr lang="en-US" sz="3000" dirty="0">
                <a:solidFill>
                  <a:srgbClr val="1F2333"/>
                </a:solidFill>
                <a:latin typeface="Unbounded" pitchFamily="34" charset="0"/>
                <a:ea typeface="Unbounded" pitchFamily="34" charset="-122"/>
                <a:cs typeface="Unbounded"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085925"/>
            <a:ext cx="10566400" cy="3959275"/>
          </a:xfrm>
          <a:prstGeom prst="rect">
            <a:avLst/>
          </a:prstGeom>
          <a:noFill/>
          <a:ln/>
        </p:spPr>
        <p:txBody>
          <a:bodyPr wrap="square" lIns="0" tIns="0" rIns="0" bIns="0" rtlCol="0" anchor="t"/>
          <a:lstStyle>
            <a:lvl1pPr algn="l" indent="0" marL="0">
              <a:lnSpc>
                <a:spcPct val="140000"/>
              </a:lnSpc>
              <a:buNone/>
              <a:defRPr lang="en-US" sz="1600" dirty="0">
                <a:solidFill>
                  <a:srgbClr val="1F2333"/>
                </a:solidFill>
                <a:latin typeface="Manrope" pitchFamily="34" charset="0"/>
                <a:ea typeface="Manrope" pitchFamily="34" charset="-122"/>
                <a:cs typeface="Manrop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3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331200" y="812800"/>
            <a:ext cx="3048000" cy="3048000"/>
          </a:xfrm>
          <a:prstGeom prst="rect">
            <a:avLst/>
          </a:prstGeom>
        </p:spPr>
      </p:pic>
      <p:pic>
        <p:nvPicPr>
          <p:cNvPr id="3" name="Image 1" descr="ellipse">    </p:cNvPr>
          <p:cNvPicPr>
            <a:picLocks noChangeAspect="1"/>
          </p:cNvPicPr>
          <p:nvPr/>
        </p:nvPicPr>
        <p:blipFill>
          <a:blip r:embed="rId2"/>
          <a:srcRect l="0" r="0" t="0" b="0"/>
          <a:stretch/>
        </p:blipFill>
        <p:spPr>
          <a:xfrm>
            <a:off x="7315200" y="2844800"/>
            <a:ext cx="2032000" cy="2032000"/>
          </a:xfrm>
          <a:prstGeom prst="rect">
            <a:avLst/>
          </a:prstGeom>
        </p:spPr>
      </p:pic>
      <p:sp>
        <p:nvSpPr>
          <p:cNvPr id="4"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4A261"/>
                </a:solidFill>
                <a:latin typeface="Manrope" pitchFamily="34" charset="0"/>
                <a:ea typeface="Manrope" pitchFamily="34" charset="-122"/>
                <a:cs typeface="Manrope" pitchFamily="34" charset="-120"/>
              </a:rPr>
              <a:t>ИИ ДЛЯ МЕНЕДЖЕРОВ · ЗАНЯТИЕ 2</a:t>
            </a:r>
            <a:endParaRPr lang="en-US" sz="1400" dirty="0"/>
          </a:p>
        </p:txBody>
      </p:sp>
      <p:sp>
        <p:nvSpPr>
          <p:cNvPr id="5" name="Text 1"/>
          <p:cNvSpPr/>
          <p:nvPr>
            <p:ph type="title"/>
          </p:nvPr>
        </p:nvSpPr>
        <p:spPr>
          <a:xfrm>
            <a:off x="812800" y="1944390"/>
            <a:ext cx="7325360" cy="2082800"/>
          </a:xfrm>
          <a:prstGeom prst="rect">
            <a:avLst/>
          </a:prstGeom>
          <a:noFill/>
          <a:ln/>
        </p:spPr>
        <p:txBody>
          <a:bodyPr wrap="square" lIns="0" tIns="0" rIns="0" bIns="0" rtlCol="0" anchor="t">
            <a:normAutofit/>
          </a:bodyPr>
          <a:lstStyle/>
          <a:p>
            <a:pPr algn="l" indent="0" marL="0">
              <a:lnSpc>
                <a:spcPts val="5400"/>
              </a:lnSpc>
              <a:buNone/>
            </a:pPr>
            <a:r>
              <a:rPr lang="en-US" sz="5000" b="1" i="0" dirty="0">
                <a:solidFill>
                  <a:srgbClr val="F6F2EA"/>
                </a:solidFill>
                <a:latin typeface="Unbounded" pitchFamily="34" charset="0"/>
                <a:ea typeface="Unbounded" pitchFamily="34" charset="-122"/>
                <a:cs typeface="Unbounded" pitchFamily="34" charset="-120"/>
              </a:rPr>
              <a:t>Как помочь команде освоить ИИ</a:t>
            </a:r>
            <a:endParaRPr lang="en-US" sz="5000" dirty="0"/>
          </a:p>
        </p:txBody>
      </p:sp>
      <p:sp>
        <p:nvSpPr>
          <p:cNvPr id="6" name="Text 2"/>
          <p:cNvSpPr/>
          <p:nvPr/>
        </p:nvSpPr>
        <p:spPr>
          <a:xfrm>
            <a:off x="812800" y="4255790"/>
            <a:ext cx="732536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BD4"/>
                </a:solidFill>
                <a:latin typeface="Manrope" pitchFamily="34" charset="0"/>
                <a:ea typeface="Manrope" pitchFamily="34" charset="-122"/>
                <a:cs typeface="Manrope" pitchFamily="34" charset="-120"/>
              </a:rPr>
              <a:t>План первого знакомства: презентации, документы и рутина — с ответами на вопросы и опасения сотрудников</a:t>
            </a:r>
            <a:endParaRPr lang="en-US" sz="1800" dirty="0"/>
          </a:p>
        </p:txBody>
      </p:sp>
      <p:sp>
        <p:nvSpPr>
          <p:cNvPr id="7"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2EA"/>
                </a:solidFill>
                <a:latin typeface="Manrope" pitchFamily="34" charset="0"/>
                <a:ea typeface="Manrope" pitchFamily="34" charset="-122"/>
                <a:cs typeface="Manrope" pitchFamily="34" charset="-120"/>
              </a:rPr>
              <a:t>Дарья Жуйкова</a:t>
            </a:r>
            <a:r>
              <a:rPr lang="en-US" sz="1500" dirty="0">
                <a:solidFill>
                  <a:srgbClr val="F6F2EA"/>
                </a:solidFill>
                <a:latin typeface="Manrope" pitchFamily="34" charset="0"/>
                <a:ea typeface="Manrope" pitchFamily="34" charset="-122"/>
                <a:cs typeface="Manrope" pitchFamily="34" charset="-120"/>
              </a:rPr>
              <a:t> · эксперт по внедрению генеративного ИИ</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34010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КТО ВЕДЁТ</a:t>
            </a:r>
            <a:endParaRPr lang="en-US" sz="1200" dirty="0"/>
          </a:p>
        </p:txBody>
      </p:sp>
      <p:sp>
        <p:nvSpPr>
          <p:cNvPr id="3" name="Text 1"/>
          <p:cNvSpPr/>
          <p:nvPr>
            <p:ph type="title"/>
          </p:nvPr>
        </p:nvSpPr>
        <p:spPr>
          <a:xfrm>
            <a:off x="812800" y="1178520"/>
            <a:ext cx="3401060"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Дарья Жуйкова</a:t>
            </a:r>
            <a:endParaRPr lang="en-US" sz="3000" dirty="0"/>
          </a:p>
        </p:txBody>
      </p:sp>
      <p:sp>
        <p:nvSpPr>
          <p:cNvPr id="4" name="Text 2"/>
          <p:cNvSpPr/>
          <p:nvPr/>
        </p:nvSpPr>
        <p:spPr>
          <a:xfrm>
            <a:off x="812800" y="2207220"/>
            <a:ext cx="340106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61"/>
                </a:solidFill>
                <a:latin typeface="Manrope" pitchFamily="34" charset="0"/>
                <a:ea typeface="Manrope" pitchFamily="34" charset="-122"/>
                <a:cs typeface="Manrope" pitchFamily="34" charset="-120"/>
              </a:rPr>
              <a:t>Эксперт по внедрению генеративного ИИ, управление по развитию цифровых компетенций бизнеса</a:t>
            </a:r>
            <a:endParaRPr lang="en-US" sz="1400" dirty="0"/>
          </a:p>
        </p:txBody>
      </p:sp>
      <p:sp>
        <p:nvSpPr>
          <p:cNvPr id="5" name="Text 3"/>
          <p:cNvSpPr/>
          <p:nvPr/>
        </p:nvSpPr>
        <p:spPr>
          <a:xfrm>
            <a:off x="4724400" y="863600"/>
            <a:ext cx="6854444" cy="964505"/>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333"/>
                </a:solidFill>
                <a:latin typeface="Manrope" pitchFamily="34" charset="0"/>
                <a:ea typeface="Manrope" pitchFamily="34" charset="-122"/>
                <a:cs typeface="Manrope" pitchFamily="34" charset="-120"/>
              </a:rPr>
              <a:t>Внедряю генеративный ИИ в живые задачи Северстали и Севергрупп: пишу учебные программы, веду воркшопы и консультирую команды.</a:t>
            </a:r>
            <a:endParaRPr lang="en-US" sz="1700" dirty="0"/>
          </a:p>
        </p:txBody>
      </p:sp>
      <p:sp>
        <p:nvSpPr>
          <p:cNvPr id="6" name="Text 4"/>
          <p:cNvSpPr/>
          <p:nvPr/>
        </p:nvSpPr>
        <p:spPr>
          <a:xfrm>
            <a:off x="4724400" y="2056705"/>
            <a:ext cx="6854444" cy="65147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333"/>
                </a:solidFill>
                <a:latin typeface="Manrope" pitchFamily="34" charset="0"/>
                <a:ea typeface="Manrope" pitchFamily="34" charset="-122"/>
                <a:cs typeface="Manrope" pitchFamily="34" charset="-120"/>
              </a:rPr>
              <a:t>Каждый новый сервис сначала гоняю на реальных кейсах и только потом приношу вам — уже на понятном рабочем языке.</a:t>
            </a:r>
            <a:endParaRPr lang="en-US" sz="1700" dirty="0"/>
          </a:p>
        </p:txBody>
      </p:sp>
      <p:sp>
        <p:nvSpPr>
          <p:cNvPr id="7" name="Text 5"/>
          <p:cNvSpPr/>
          <p:nvPr/>
        </p:nvSpPr>
        <p:spPr>
          <a:xfrm>
            <a:off x="4724400" y="2936776"/>
            <a:ext cx="6654800" cy="1026120"/>
          </a:xfrm>
          <a:prstGeom prst="roundRect">
            <a:avLst>
              <a:gd name="adj" fmla="val 12377"/>
            </a:avLst>
          </a:prstGeom>
          <a:solidFill>
            <a:srgbClr val="EDE5D6"/>
          </a:solidFill>
          <a:ln/>
        </p:spPr>
        <p:txBody>
          <a:bodyPr wrap="square" lIns="216803" tIns="191403" rIns="32399" bIns="166003" rtlCol="0" anchor="t">
            <a:normAutofit/>
          </a:bodyPr>
          <a:lstStyle/>
          <a:p>
            <a:pPr algn="l" indent="0" marL="0">
              <a:lnSpc>
                <a:spcPts val="2240"/>
              </a:lnSpc>
              <a:buNone/>
            </a:pPr>
            <a:r>
              <a:rPr lang="en-US" sz="1600" b="1" dirty="0">
                <a:solidFill>
                  <a:srgbClr val="1F2333"/>
                </a:solidFill>
                <a:latin typeface="Manrope" pitchFamily="34" charset="0"/>
                <a:ea typeface="Manrope" pitchFamily="34" charset="-122"/>
                <a:cs typeface="Manrope" pitchFamily="34" charset="-120"/>
              </a:rPr>
              <a:t>Моя цель простая:</a:t>
            </a:r>
            <a:r>
              <a:rPr lang="en-US" sz="1600" dirty="0">
                <a:solidFill>
                  <a:srgbClr val="1F2333"/>
                </a:solidFill>
                <a:latin typeface="Manrope" pitchFamily="34" charset="0"/>
                <a:ea typeface="Manrope" pitchFamily="34" charset="-122"/>
                <a:cs typeface="Manrope" pitchFamily="34" charset="-120"/>
              </a:rPr>
              <a:t> чтобы ИИ стал для вас обычным рабочим инструментом, таким же привычным, как почта и таблицы.</a:t>
            </a:r>
            <a:endParaRPr lang="en-US" sz="1600" dirty="0"/>
          </a:p>
        </p:txBody>
      </p:sp>
      <p:sp>
        <p:nvSpPr>
          <p:cNvPr id="8" name="Text 6"/>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9" name="Text 7"/>
          <p:cNvSpPr/>
          <p:nvPr/>
        </p:nvSpPr>
        <p:spPr>
          <a:xfrm>
            <a:off x="11148566" y="6238280"/>
            <a:ext cx="23063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РАЗМИНКА · ПОДНИМИТЕ РУКУ</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Два быстрых вопроса</a:t>
            </a:r>
            <a:endParaRPr lang="en-US" sz="3000" dirty="0"/>
          </a:p>
        </p:txBody>
      </p:sp>
      <p:sp>
        <p:nvSpPr>
          <p:cNvPr id="4" name="Shape 2"/>
          <p:cNvSpPr/>
          <p:nvPr/>
        </p:nvSpPr>
        <p:spPr>
          <a:xfrm>
            <a:off x="815975" y="1950045"/>
            <a:ext cx="5156200" cy="3888780"/>
          </a:xfrm>
          <a:prstGeom prst="roundRect">
            <a:avLst>
              <a:gd name="adj" fmla="val 3837"/>
            </a:avLst>
          </a:prstGeom>
          <a:solidFill>
            <a:srgbClr val="FFFDF8"/>
          </a:solidFill>
          <a:ln w="6350">
            <a:solidFill>
              <a:srgbClr val="E4DCCD"/>
            </a:solidFill>
            <a:prstDash val="solid"/>
          </a:ln>
        </p:spPr>
      </p:sp>
      <p:sp>
        <p:nvSpPr>
          <p:cNvPr id="5" name="Text 3"/>
          <p:cNvSpPr/>
          <p:nvPr/>
        </p:nvSpPr>
        <p:spPr>
          <a:xfrm>
            <a:off x="1123950" y="2258020"/>
            <a:ext cx="46764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333"/>
                </a:solidFill>
                <a:latin typeface="Manrope" pitchFamily="34" charset="0"/>
                <a:ea typeface="Manrope" pitchFamily="34" charset="-122"/>
                <a:cs typeface="Manrope" pitchFamily="34" charset="-120"/>
              </a:rPr>
              <a:t>За какие сервисы вы уже платите?</a:t>
            </a:r>
            <a:endParaRPr lang="en-US" sz="2000" dirty="0"/>
          </a:p>
        </p:txBody>
      </p:sp>
      <p:sp>
        <p:nvSpPr>
          <p:cNvPr id="6" name="Text 4"/>
          <p:cNvSpPr/>
          <p:nvPr/>
        </p:nvSpPr>
        <p:spPr>
          <a:xfrm>
            <a:off x="1173460" y="2740620"/>
            <a:ext cx="4619327" cy="1244600"/>
          </a:xfrm>
          <a:prstGeom prst="rect">
            <a:avLst/>
          </a:prstGeom>
          <a:noFill/>
          <a:ln/>
        </p:spPr>
        <p:txBody>
          <a:bodyPr wrap="square" lIns="0" tIns="0" rIns="0" bIns="0" rtlCol="0" anchor="t">
            <a:normAutofit/>
          </a:bodyPr>
          <a:lstStyle/>
          <a:p>
            <a:pPr algn="l" marL="204490" indent="-204490">
              <a:lnSpc>
                <a:spcPts val="2400"/>
              </a:lnSpc>
              <a:buSzPct val="100000"/>
              <a:buFontTx/>
              <a:buAutoNum type="arabicPeriod" startAt="1"/>
            </a:pPr>
            <a:r>
              <a:rPr lang="en-US" sz="1500" dirty="0">
                <a:solidFill>
                  <a:srgbClr val="4B5061"/>
                </a:solidFill>
                <a:latin typeface="Manrope" pitchFamily="34" charset="0"/>
                <a:ea typeface="Manrope" pitchFamily="34" charset="-122"/>
                <a:cs typeface="Manrope" pitchFamily="34" charset="-120"/>
              </a:rPr>
              <a:t>Claude</a:t>
            </a:r>
            <a:endParaRPr lang="en-US" sz="1500" dirty="0"/>
          </a:p>
          <a:p>
            <a:pPr algn="l" marL="204490" indent="-204490">
              <a:lnSpc>
                <a:spcPts val="2400"/>
              </a:lnSpc>
              <a:buSzPct val="100000"/>
              <a:buFontTx/>
              <a:buAutoNum type="arabicPeriod" startAt="1"/>
            </a:pPr>
            <a:r>
              <a:rPr lang="en-US" sz="1500" dirty="0">
                <a:solidFill>
                  <a:srgbClr val="4B5061"/>
                </a:solidFill>
                <a:latin typeface="Manrope" pitchFamily="34" charset="0"/>
                <a:ea typeface="Manrope" pitchFamily="34" charset="-122"/>
                <a:cs typeface="Manrope" pitchFamily="34" charset="-120"/>
              </a:rPr>
              <a:t>ChatGPT</a:t>
            </a:r>
            <a:endParaRPr lang="en-US" sz="1500" dirty="0"/>
          </a:p>
          <a:p>
            <a:pPr algn="l" marL="204490" indent="-204490">
              <a:lnSpc>
                <a:spcPts val="2400"/>
              </a:lnSpc>
              <a:buSzPct val="100000"/>
              <a:buFontTx/>
              <a:buAutoNum type="arabicPeriod" startAt="1"/>
            </a:pPr>
            <a:r>
              <a:rPr lang="en-US" sz="1500" dirty="0">
                <a:solidFill>
                  <a:srgbClr val="4B5061"/>
                </a:solidFill>
                <a:latin typeface="Manrope" pitchFamily="34" charset="0"/>
                <a:ea typeface="Manrope" pitchFamily="34" charset="-122"/>
                <a:cs typeface="Manrope" pitchFamily="34" charset="-120"/>
              </a:rPr>
              <a:t>Kimi, GLM / Z.ai и другие китайские сервисы</a:t>
            </a:r>
            <a:endParaRPr lang="en-US" sz="1500" dirty="0"/>
          </a:p>
          <a:p>
            <a:pPr algn="l" marL="204490" indent="-204490">
              <a:lnSpc>
                <a:spcPts val="2400"/>
              </a:lnSpc>
              <a:buSzPct val="100000"/>
              <a:buFontTx/>
              <a:buAutoNum type="arabicPeriod" startAt="1"/>
            </a:pPr>
            <a:r>
              <a:rPr lang="en-US" sz="1500" dirty="0">
                <a:solidFill>
                  <a:srgbClr val="4B5061"/>
                </a:solidFill>
                <a:latin typeface="Manrope" pitchFamily="34" charset="0"/>
                <a:ea typeface="Manrope" pitchFamily="34" charset="-122"/>
                <a:cs typeface="Manrope" pitchFamily="34" charset="-120"/>
              </a:rPr>
              <a:t>Пока ни за какие</a:t>
            </a:r>
            <a:endParaRPr lang="en-US" sz="1500" dirty="0"/>
          </a:p>
        </p:txBody>
      </p:sp>
      <p:sp>
        <p:nvSpPr>
          <p:cNvPr id="7" name="Text 5"/>
          <p:cNvSpPr/>
          <p:nvPr/>
        </p:nvSpPr>
        <p:spPr>
          <a:xfrm>
            <a:off x="1123950" y="4137620"/>
            <a:ext cx="46764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Можно несколько ответов. Бесплатный Qwen за подписку не считаем.</a:t>
            </a:r>
            <a:endParaRPr lang="en-US" sz="1200" dirty="0"/>
          </a:p>
        </p:txBody>
      </p:sp>
      <p:sp>
        <p:nvSpPr>
          <p:cNvPr id="8" name="Shape 6"/>
          <p:cNvSpPr/>
          <p:nvPr/>
        </p:nvSpPr>
        <p:spPr>
          <a:xfrm>
            <a:off x="6229350" y="1946870"/>
            <a:ext cx="5149850" cy="3895130"/>
          </a:xfrm>
          <a:prstGeom prst="roundRect">
            <a:avLst>
              <a:gd name="adj" fmla="val 3913"/>
            </a:avLst>
          </a:prstGeom>
          <a:solidFill>
            <a:srgbClr val="1F2333"/>
          </a:solidFill>
          <a:ln/>
        </p:spPr>
      </p:sp>
      <p:sp>
        <p:nvSpPr>
          <p:cNvPr id="9" name="Text 7"/>
          <p:cNvSpPr/>
          <p:nvPr/>
        </p:nvSpPr>
        <p:spPr>
          <a:xfrm>
            <a:off x="6534150" y="2251670"/>
            <a:ext cx="46764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Manrope" pitchFamily="34" charset="0"/>
                <a:ea typeface="Manrope" pitchFamily="34" charset="-122"/>
                <a:cs typeface="Manrope" pitchFamily="34" charset="-120"/>
              </a:rPr>
              <a:t>Любите делать презентации?</a:t>
            </a:r>
            <a:endParaRPr lang="en-US" sz="2000" dirty="0"/>
          </a:p>
        </p:txBody>
      </p:sp>
      <p:sp>
        <p:nvSpPr>
          <p:cNvPr id="10" name="Text 8"/>
          <p:cNvSpPr/>
          <p:nvPr/>
        </p:nvSpPr>
        <p:spPr>
          <a:xfrm>
            <a:off x="6534150" y="2734270"/>
            <a:ext cx="4676458"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C9CBD4"/>
                </a:solidFill>
                <a:latin typeface="Manrope" pitchFamily="34" charset="0"/>
                <a:ea typeface="Manrope" pitchFamily="34" charset="-122"/>
                <a:cs typeface="Manrope" pitchFamily="34" charset="-120"/>
              </a:rPr>
              <a:t>Честно. Если ответ «нет», вы в большинстве, и сегодня как раз про то, как отдать скучную часть машине.</a:t>
            </a:r>
            <a:endParaRPr lang="en-US" sz="1500" dirty="0"/>
          </a:p>
        </p:txBody>
      </p:sp>
      <p:sp>
        <p:nvSpPr>
          <p:cNvPr id="11" name="Text 9"/>
          <p:cNvSpPr/>
          <p:nvPr/>
        </p:nvSpPr>
        <p:spPr>
          <a:xfrm>
            <a:off x="6534150" y="5135910"/>
            <a:ext cx="1051471" cy="401290"/>
          </a:xfrm>
          <a:prstGeom prst="roundRect">
            <a:avLst>
              <a:gd name="adj" fmla="val 50000"/>
            </a:avLst>
          </a:prstGeom>
          <a:solidFill>
            <a:srgbClr val="F4A261"/>
          </a:solidFill>
          <a:ln/>
        </p:spPr>
        <p:txBody>
          <a:bodyPr wrap="none" lIns="0" tIns="0" rIns="0" bIns="0" rtlCol="0" anchor="ctr">
            <a:normAutofit/>
          </a:bodyPr>
          <a:lstStyle/>
          <a:p>
            <a:pPr algn="ctr" indent="0" marL="0">
              <a:lnSpc>
                <a:spcPts val="1960"/>
              </a:lnSpc>
              <a:buNone/>
            </a:pPr>
            <a:r>
              <a:rPr lang="en-US" sz="1400" b="1" dirty="0">
                <a:solidFill>
                  <a:srgbClr val="1F2333"/>
                </a:solidFill>
                <a:latin typeface="Manrope" pitchFamily="34" charset="0"/>
                <a:ea typeface="Manrope" pitchFamily="34" charset="-122"/>
                <a:cs typeface="Manrope" pitchFamily="34" charset="-120"/>
              </a:rPr>
              <a:t>Люблю</a:t>
            </a:r>
            <a:endParaRPr lang="en-US" sz="1400" dirty="0"/>
          </a:p>
        </p:txBody>
      </p:sp>
      <p:sp>
        <p:nvSpPr>
          <p:cNvPr id="12" name="Text 10"/>
          <p:cNvSpPr/>
          <p:nvPr/>
        </p:nvSpPr>
        <p:spPr>
          <a:xfrm>
            <a:off x="7687221" y="5135910"/>
            <a:ext cx="1085453" cy="401290"/>
          </a:xfrm>
          <a:prstGeom prst="roundRect">
            <a:avLst>
              <a:gd name="adj" fmla="val 50000"/>
            </a:avLst>
          </a:prstGeom>
          <a:solidFill>
            <a:srgbClr val="3A3F52"/>
          </a:solidFill>
          <a:ln/>
        </p:spPr>
        <p:txBody>
          <a:bodyPr wrap="none" lIns="0" tIns="0" rIns="0" bIns="0" rtlCol="0" anchor="ctr">
            <a:normAutofit/>
          </a:bodyPr>
          <a:lstStyle/>
          <a:p>
            <a:pPr algn="ctr" indent="0" marL="0">
              <a:lnSpc>
                <a:spcPts val="1960"/>
              </a:lnSpc>
              <a:buNone/>
            </a:pPr>
            <a:r>
              <a:rPr lang="en-US" sz="1400" b="1" dirty="0">
                <a:solidFill>
                  <a:srgbClr val="F6F2EA"/>
                </a:solidFill>
                <a:latin typeface="Manrope" pitchFamily="34" charset="0"/>
                <a:ea typeface="Manrope" pitchFamily="34" charset="-122"/>
                <a:cs typeface="Manrope" pitchFamily="34" charset="-120"/>
              </a:rPr>
              <a:t>Терплю</a:t>
            </a:r>
            <a:endParaRPr lang="en-US" sz="1400" dirty="0"/>
          </a:p>
        </p:txBody>
      </p:sp>
      <p:sp>
        <p:nvSpPr>
          <p:cNvPr id="13" name="Text 11"/>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4" name="Text 12"/>
          <p:cNvSpPr/>
          <p:nvPr/>
        </p:nvSpPr>
        <p:spPr>
          <a:xfrm>
            <a:off x="11151146" y="6238280"/>
            <a:ext cx="2280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407319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РЕЗУЛЬТАТ ЗАНЯТИЯ</a:t>
            </a:r>
            <a:endParaRPr lang="en-US" sz="1200" dirty="0"/>
          </a:p>
        </p:txBody>
      </p:sp>
      <p:sp>
        <p:nvSpPr>
          <p:cNvPr id="3" name="Text 1"/>
          <p:cNvSpPr/>
          <p:nvPr>
            <p:ph type="title"/>
          </p:nvPr>
        </p:nvSpPr>
        <p:spPr>
          <a:xfrm>
            <a:off x="812800" y="1153120"/>
            <a:ext cx="4745474"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С чем вы уйдёте</a:t>
            </a:r>
            <a:endParaRPr lang="en-US" sz="3000" dirty="0"/>
          </a:p>
        </p:txBody>
      </p:sp>
      <p:sp>
        <p:nvSpPr>
          <p:cNvPr id="4" name="Text 2"/>
          <p:cNvSpPr/>
          <p:nvPr/>
        </p:nvSpPr>
        <p:spPr>
          <a:xfrm>
            <a:off x="8000385" y="981670"/>
            <a:ext cx="3378815" cy="635000"/>
          </a:xfrm>
          <a:prstGeom prst="rect">
            <a:avLst/>
          </a:prstGeom>
          <a:noFill/>
          <a:ln/>
        </p:spPr>
        <p:txBody>
          <a:bodyPr wrap="square" lIns="0" tIns="0" rIns="0" bIns="0" rtlCol="0" anchor="t">
            <a:normAutofit/>
          </a:bodyPr>
          <a:lstStyle/>
          <a:p>
            <a:pPr algn="r" indent="0" marL="0">
              <a:lnSpc>
                <a:spcPts val="4800"/>
              </a:lnSpc>
              <a:buNone/>
            </a:pPr>
            <a:r>
              <a:rPr lang="en-US" sz="4800" b="1" dirty="0">
                <a:solidFill>
                  <a:srgbClr val="B4441C"/>
                </a:solidFill>
                <a:latin typeface="Unbounded" pitchFamily="34" charset="0"/>
                <a:ea typeface="Unbounded" pitchFamily="34" charset="-122"/>
                <a:cs typeface="Unbounded" pitchFamily="34" charset="-120"/>
              </a:rPr>
              <a:t>90 мин</a:t>
            </a:r>
            <a:endParaRPr lang="en-US" sz="4800" dirty="0"/>
          </a:p>
        </p:txBody>
      </p:sp>
      <p:sp>
        <p:nvSpPr>
          <p:cNvPr id="5" name="Shape 3"/>
          <p:cNvSpPr/>
          <p:nvPr/>
        </p:nvSpPr>
        <p:spPr>
          <a:xfrm>
            <a:off x="815975" y="1950045"/>
            <a:ext cx="5175250" cy="1839615"/>
          </a:xfrm>
          <a:prstGeom prst="roundRect">
            <a:avLst>
              <a:gd name="adj" fmla="val 8112"/>
            </a:avLst>
          </a:prstGeom>
          <a:solidFill>
            <a:srgbClr val="FFFDF8"/>
          </a:solidFill>
          <a:ln w="6350">
            <a:solidFill>
              <a:srgbClr val="E4DCCD"/>
            </a:solidFill>
            <a:prstDash val="solid"/>
          </a:ln>
        </p:spPr>
      </p:sp>
      <p:pic>
        <p:nvPicPr>
          <p:cNvPr id="6" name="Image 0" descr="Chart">    </p:cNvPr>
          <p:cNvPicPr>
            <a:picLocks noChangeAspect="1"/>
          </p:cNvPicPr>
          <p:nvPr/>
        </p:nvPicPr>
        <p:blipFill>
          <a:blip r:embed="rId1"/>
          <a:srcRect l="0" r="0" t="-338" b="-338"/>
          <a:stretch/>
        </p:blipFill>
        <p:spPr>
          <a:xfrm>
            <a:off x="1073150" y="2666653"/>
            <a:ext cx="315367" cy="406400"/>
          </a:xfrm>
          <a:prstGeom prst="rect">
            <a:avLst/>
          </a:prstGeom>
        </p:spPr>
      </p:pic>
      <p:sp>
        <p:nvSpPr>
          <p:cNvPr id="7" name="Text 4"/>
          <p:cNvSpPr/>
          <p:nvPr/>
        </p:nvSpPr>
        <p:spPr>
          <a:xfrm>
            <a:off x="1566317" y="2589213"/>
            <a:ext cx="4292765" cy="58668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F2333"/>
                </a:solidFill>
                <a:latin typeface="Manrope" pitchFamily="34" charset="0"/>
                <a:ea typeface="Manrope" pitchFamily="34" charset="-122"/>
                <a:cs typeface="Manrope" pitchFamily="34" charset="-120"/>
              </a:rPr>
              <a:t>Презентация из пяти слайдов для одного решения</a:t>
            </a:r>
            <a:endParaRPr lang="en-US" sz="1700" dirty="0"/>
          </a:p>
        </p:txBody>
      </p:sp>
      <p:sp>
        <p:nvSpPr>
          <p:cNvPr id="8" name="Shape 5"/>
          <p:cNvSpPr/>
          <p:nvPr/>
        </p:nvSpPr>
        <p:spPr>
          <a:xfrm>
            <a:off x="6200775" y="1950045"/>
            <a:ext cx="5175250" cy="1839615"/>
          </a:xfrm>
          <a:prstGeom prst="roundRect">
            <a:avLst>
              <a:gd name="adj" fmla="val 8112"/>
            </a:avLst>
          </a:prstGeom>
          <a:solidFill>
            <a:srgbClr val="FFFDF8"/>
          </a:solidFill>
          <a:ln w="6350">
            <a:solidFill>
              <a:srgbClr val="E4DCCD"/>
            </a:solidFill>
            <a:prstDash val="solid"/>
          </a:ln>
        </p:spPr>
      </p:sp>
      <p:pic>
        <p:nvPicPr>
          <p:cNvPr id="9" name="Image 1" descr="Book">    </p:cNvPr>
          <p:cNvPicPr>
            <a:picLocks noChangeAspect="1"/>
          </p:cNvPicPr>
          <p:nvPr/>
        </p:nvPicPr>
        <p:blipFill>
          <a:blip r:embed="rId2"/>
          <a:srcRect l="-94" r="-94" t="0" b="0"/>
          <a:stretch/>
        </p:blipFill>
        <p:spPr>
          <a:xfrm>
            <a:off x="6457950" y="2666653"/>
            <a:ext cx="343545" cy="406400"/>
          </a:xfrm>
          <a:prstGeom prst="rect">
            <a:avLst/>
          </a:prstGeom>
        </p:spPr>
      </p:pic>
      <p:sp>
        <p:nvSpPr>
          <p:cNvPr id="10" name="Text 6"/>
          <p:cNvSpPr/>
          <p:nvPr/>
        </p:nvSpPr>
        <p:spPr>
          <a:xfrm>
            <a:off x="6979295" y="2589213"/>
            <a:ext cx="4263742" cy="58668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F2333"/>
                </a:solidFill>
                <a:latin typeface="Manrope" pitchFamily="34" charset="0"/>
                <a:ea typeface="Manrope" pitchFamily="34" charset="-122"/>
                <a:cs typeface="Manrope" pitchFamily="34" charset="-120"/>
              </a:rPr>
              <a:t>Карта процесса: где ИИ, а где решает человек</a:t>
            </a:r>
            <a:endParaRPr lang="en-US" sz="1700" dirty="0"/>
          </a:p>
        </p:txBody>
      </p:sp>
      <p:sp>
        <p:nvSpPr>
          <p:cNvPr id="11" name="Shape 7"/>
          <p:cNvSpPr/>
          <p:nvPr/>
        </p:nvSpPr>
        <p:spPr>
          <a:xfrm>
            <a:off x="815975" y="3999210"/>
            <a:ext cx="5175250" cy="1839615"/>
          </a:xfrm>
          <a:prstGeom prst="roundRect">
            <a:avLst>
              <a:gd name="adj" fmla="val 8112"/>
            </a:avLst>
          </a:prstGeom>
          <a:solidFill>
            <a:srgbClr val="FFFDF8"/>
          </a:solidFill>
          <a:ln w="6350">
            <a:solidFill>
              <a:srgbClr val="E4DCCD"/>
            </a:solidFill>
            <a:prstDash val="solid"/>
          </a:ln>
        </p:spPr>
      </p:sp>
      <p:pic>
        <p:nvPicPr>
          <p:cNvPr id="12" name="Image 2" descr="CheckCircle">    </p:cNvPr>
          <p:cNvPicPr>
            <a:picLocks noChangeAspect="1"/>
          </p:cNvPicPr>
          <p:nvPr/>
        </p:nvPicPr>
        <p:blipFill>
          <a:blip r:embed="rId3"/>
          <a:srcRect l="0" r="0" t="0" b="0"/>
          <a:stretch/>
        </p:blipFill>
        <p:spPr>
          <a:xfrm>
            <a:off x="1073150" y="4715818"/>
            <a:ext cx="406400" cy="406400"/>
          </a:xfrm>
          <a:prstGeom prst="rect">
            <a:avLst/>
          </a:prstGeom>
        </p:spPr>
      </p:pic>
      <p:sp>
        <p:nvSpPr>
          <p:cNvPr id="13" name="Text 8"/>
          <p:cNvSpPr/>
          <p:nvPr/>
        </p:nvSpPr>
        <p:spPr>
          <a:xfrm>
            <a:off x="1657350" y="4778673"/>
            <a:ext cx="4330700"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F2333"/>
                </a:solidFill>
                <a:latin typeface="Manrope" pitchFamily="34" charset="0"/>
                <a:ea typeface="Manrope" pitchFamily="34" charset="-122"/>
                <a:cs typeface="Manrope" pitchFamily="34" charset="-120"/>
              </a:rPr>
              <a:t>Список дел, собранный из переписки</a:t>
            </a:r>
            <a:endParaRPr lang="en-US" sz="1700" dirty="0"/>
          </a:p>
        </p:txBody>
      </p:sp>
      <p:sp>
        <p:nvSpPr>
          <p:cNvPr id="14" name="Shape 9"/>
          <p:cNvSpPr/>
          <p:nvPr/>
        </p:nvSpPr>
        <p:spPr>
          <a:xfrm>
            <a:off x="6200775" y="3999210"/>
            <a:ext cx="5175250" cy="1839615"/>
          </a:xfrm>
          <a:prstGeom prst="roundRect">
            <a:avLst>
              <a:gd name="adj" fmla="val 8112"/>
            </a:avLst>
          </a:prstGeom>
          <a:solidFill>
            <a:srgbClr val="FFFDF8"/>
          </a:solidFill>
          <a:ln w="6350">
            <a:solidFill>
              <a:srgbClr val="E4DCCD"/>
            </a:solidFill>
            <a:prstDash val="solid"/>
          </a:ln>
        </p:spPr>
      </p:sp>
      <p:pic>
        <p:nvPicPr>
          <p:cNvPr id="15" name="Image 3" descr="Tool">    </p:cNvPr>
          <p:cNvPicPr>
            <a:picLocks noChangeAspect="1"/>
          </p:cNvPicPr>
          <p:nvPr/>
        </p:nvPicPr>
        <p:blipFill>
          <a:blip r:embed="rId4"/>
          <a:srcRect l="-391" r="-391" t="0" b="0"/>
          <a:stretch/>
        </p:blipFill>
        <p:spPr>
          <a:xfrm>
            <a:off x="6457950" y="4715818"/>
            <a:ext cx="371177" cy="406400"/>
          </a:xfrm>
          <a:prstGeom prst="rect">
            <a:avLst/>
          </a:prstGeom>
        </p:spPr>
      </p:pic>
      <p:sp>
        <p:nvSpPr>
          <p:cNvPr id="16" name="Text 10"/>
          <p:cNvSpPr/>
          <p:nvPr/>
        </p:nvSpPr>
        <p:spPr>
          <a:xfrm>
            <a:off x="7006927" y="4638377"/>
            <a:ext cx="4235280" cy="58668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1F2333"/>
                </a:solidFill>
                <a:latin typeface="Manrope" pitchFamily="34" charset="0"/>
                <a:ea typeface="Manrope" pitchFamily="34" charset="-122"/>
                <a:cs typeface="Manrope" pitchFamily="34" charset="-120"/>
              </a:rPr>
              <a:t>Шаблон для своей повторяющейся задачи</a:t>
            </a:r>
            <a:endParaRPr lang="en-US" sz="1700" dirty="0"/>
          </a:p>
        </p:txBody>
      </p:sp>
      <p:sp>
        <p:nvSpPr>
          <p:cNvPr id="17" name="Text 11"/>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8" name="Text 12"/>
          <p:cNvSpPr/>
          <p:nvPr/>
        </p:nvSpPr>
        <p:spPr>
          <a:xfrm>
            <a:off x="11145540" y="6238280"/>
            <a:ext cx="23366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3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347200" y="3860800"/>
            <a:ext cx="2032000" cy="2032000"/>
          </a:xfrm>
          <a:prstGeom prst="rect">
            <a:avLst/>
          </a:prstGeom>
        </p:spPr>
      </p:pic>
      <p:sp>
        <p:nvSpPr>
          <p:cNvPr id="3" name="Text 0"/>
          <p:cNvSpPr/>
          <p:nvPr/>
        </p:nvSpPr>
        <p:spPr>
          <a:xfrm>
            <a:off x="812800" y="191517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A261"/>
                </a:solidFill>
                <a:latin typeface="Unbounded" pitchFamily="34" charset="0"/>
                <a:ea typeface="Unbounded" pitchFamily="34" charset="-122"/>
                <a:cs typeface="Unbounded" pitchFamily="34" charset="-120"/>
              </a:rPr>
              <a:t>01</a:t>
            </a:r>
            <a:endParaRPr lang="en-US" sz="6000" dirty="0"/>
          </a:p>
        </p:txBody>
      </p:sp>
      <p:sp>
        <p:nvSpPr>
          <p:cNvPr id="4" name="Text 1"/>
          <p:cNvSpPr/>
          <p:nvPr>
            <p:ph type="title"/>
          </p:nvPr>
        </p:nvSpPr>
        <p:spPr>
          <a:xfrm>
            <a:off x="812800" y="2931170"/>
            <a:ext cx="837184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2EA"/>
                </a:solidFill>
                <a:latin typeface="Unbounded" pitchFamily="34" charset="0"/>
                <a:ea typeface="Unbounded" pitchFamily="34" charset="-122"/>
                <a:cs typeface="Unbounded" pitchFamily="34" charset="-120"/>
              </a:rPr>
              <a:t>С чего начать с командой</a:t>
            </a:r>
            <a:endParaRPr lang="en-US" sz="4000" dirty="0"/>
          </a:p>
        </p:txBody>
      </p:sp>
      <p:sp>
        <p:nvSpPr>
          <p:cNvPr id="5" name="Text 2"/>
          <p:cNvSpPr/>
          <p:nvPr/>
        </p:nvSpPr>
        <p:spPr>
          <a:xfrm>
            <a:off x="812800" y="4302770"/>
            <a:ext cx="78486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BD4"/>
                </a:solidFill>
                <a:latin typeface="Manrope" pitchFamily="34" charset="0"/>
                <a:ea typeface="Manrope" pitchFamily="34" charset="-122"/>
                <a:cs typeface="Manrope" pitchFamily="34" charset="-120"/>
              </a:rPr>
              <a:t>Сначала снимаем страхи и выбираем одну понятную задачу. Сервисы появятся потом.</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ВОПРОСЫ И ОПАСЕНИЯ</a:t>
            </a:r>
            <a:endParaRPr lang="en-US" sz="1200" dirty="0"/>
          </a:p>
        </p:txBody>
      </p:sp>
      <p:sp>
        <p:nvSpPr>
          <p:cNvPr id="3" name="Text 1"/>
          <p:cNvSpPr/>
          <p:nvPr>
            <p:ph type="title"/>
          </p:nvPr>
        </p:nvSpPr>
        <p:spPr>
          <a:xfrm>
            <a:off x="812800" y="115312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Что сотрудники спрашивают первым делом</a:t>
            </a:r>
            <a:endParaRPr lang="en-US" sz="3000" dirty="0"/>
          </a:p>
        </p:txBody>
      </p:sp>
      <p:sp>
        <p:nvSpPr>
          <p:cNvPr id="4" name="Shape 2"/>
          <p:cNvSpPr/>
          <p:nvPr/>
        </p:nvSpPr>
        <p:spPr>
          <a:xfrm>
            <a:off x="815975" y="2337395"/>
            <a:ext cx="5187950" cy="1787525"/>
          </a:xfrm>
          <a:prstGeom prst="roundRect">
            <a:avLst>
              <a:gd name="adj" fmla="val 8348"/>
            </a:avLst>
          </a:prstGeom>
          <a:solidFill>
            <a:srgbClr val="FFFDF8"/>
          </a:solidFill>
          <a:ln w="6350">
            <a:solidFill>
              <a:srgbClr val="E4DCCD"/>
            </a:solidFill>
            <a:prstDash val="solid"/>
          </a:ln>
        </p:spPr>
      </p:sp>
      <p:sp>
        <p:nvSpPr>
          <p:cNvPr id="5" name="Text 3"/>
          <p:cNvSpPr/>
          <p:nvPr/>
        </p:nvSpPr>
        <p:spPr>
          <a:xfrm>
            <a:off x="1073150" y="2569170"/>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Unbounded" pitchFamily="34" charset="0"/>
                <a:ea typeface="Unbounded" pitchFamily="34" charset="-122"/>
                <a:cs typeface="Unbounded" pitchFamily="34" charset="-120"/>
              </a:rPr>
              <a:t>«Меня заменят?»</a:t>
            </a:r>
            <a:endParaRPr lang="en-US" sz="1700" dirty="0"/>
          </a:p>
        </p:txBody>
      </p:sp>
      <p:sp>
        <p:nvSpPr>
          <p:cNvPr id="6" name="Text 4"/>
          <p:cNvSpPr/>
          <p:nvPr/>
        </p:nvSpPr>
        <p:spPr>
          <a:xfrm>
            <a:off x="1073150" y="2917130"/>
            <a:ext cx="4813808"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ИИ берёт на себя операцию: черновик, сводку, оформление. Решение и подпись остаются за человеком.</a:t>
            </a:r>
            <a:endParaRPr lang="en-US" sz="1400" dirty="0"/>
          </a:p>
        </p:txBody>
      </p:sp>
      <p:sp>
        <p:nvSpPr>
          <p:cNvPr id="7" name="Shape 5"/>
          <p:cNvSpPr/>
          <p:nvPr/>
        </p:nvSpPr>
        <p:spPr>
          <a:xfrm>
            <a:off x="6188075" y="2337395"/>
            <a:ext cx="5187950" cy="1787525"/>
          </a:xfrm>
          <a:prstGeom prst="roundRect">
            <a:avLst>
              <a:gd name="adj" fmla="val 8348"/>
            </a:avLst>
          </a:prstGeom>
          <a:solidFill>
            <a:srgbClr val="FFFDF8"/>
          </a:solidFill>
          <a:ln w="6350">
            <a:solidFill>
              <a:srgbClr val="E4DCCD"/>
            </a:solidFill>
            <a:prstDash val="solid"/>
          </a:ln>
        </p:spPr>
      </p:sp>
      <p:sp>
        <p:nvSpPr>
          <p:cNvPr id="8" name="Text 6"/>
          <p:cNvSpPr/>
          <p:nvPr/>
        </p:nvSpPr>
        <p:spPr>
          <a:xfrm>
            <a:off x="6445250" y="2569170"/>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Unbounded" pitchFamily="34" charset="0"/>
                <a:ea typeface="Unbounded" pitchFamily="34" charset="-122"/>
                <a:cs typeface="Unbounded" pitchFamily="34" charset="-120"/>
              </a:rPr>
              <a:t>«Это сложно»</a:t>
            </a:r>
            <a:endParaRPr lang="en-US" sz="1700" dirty="0"/>
          </a:p>
        </p:txBody>
      </p:sp>
      <p:sp>
        <p:nvSpPr>
          <p:cNvPr id="9" name="Text 7"/>
          <p:cNvSpPr/>
          <p:nvPr/>
        </p:nvSpPr>
        <p:spPr>
          <a:xfrm>
            <a:off x="6445250" y="2917130"/>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Начинаем со знакомой задачи и готового запроса. Первую пробу делаем вместе, в рабочее время.</a:t>
            </a:r>
            <a:endParaRPr lang="en-US" sz="1400" dirty="0"/>
          </a:p>
        </p:txBody>
      </p:sp>
      <p:sp>
        <p:nvSpPr>
          <p:cNvPr id="10" name="Shape 8"/>
          <p:cNvSpPr/>
          <p:nvPr/>
        </p:nvSpPr>
        <p:spPr>
          <a:xfrm>
            <a:off x="815975" y="4309070"/>
            <a:ext cx="5187950" cy="1529755"/>
          </a:xfrm>
          <a:prstGeom prst="roundRect">
            <a:avLst>
              <a:gd name="adj" fmla="val 9755"/>
            </a:avLst>
          </a:prstGeom>
          <a:solidFill>
            <a:srgbClr val="FFFDF8"/>
          </a:solidFill>
          <a:ln w="6350">
            <a:solidFill>
              <a:srgbClr val="E4DCCD"/>
            </a:solidFill>
            <a:prstDash val="solid"/>
          </a:ln>
        </p:spPr>
      </p:sp>
      <p:sp>
        <p:nvSpPr>
          <p:cNvPr id="11" name="Text 9"/>
          <p:cNvSpPr/>
          <p:nvPr/>
        </p:nvSpPr>
        <p:spPr>
          <a:xfrm>
            <a:off x="1073150" y="4540845"/>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Unbounded" pitchFamily="34" charset="0"/>
                <a:ea typeface="Unbounded" pitchFamily="34" charset="-122"/>
                <a:cs typeface="Unbounded" pitchFamily="34" charset="-120"/>
              </a:rPr>
              <a:t>«А рабочие файлы можно?»</a:t>
            </a:r>
            <a:endParaRPr lang="en-US" sz="1700" dirty="0"/>
          </a:p>
        </p:txBody>
      </p:sp>
      <p:sp>
        <p:nvSpPr>
          <p:cNvPr id="12" name="Text 10"/>
          <p:cNvSpPr/>
          <p:nvPr/>
        </p:nvSpPr>
        <p:spPr>
          <a:xfrm>
            <a:off x="1073150" y="4888805"/>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Только разрешённые данные и согласованный сервис. Для старта хватает учебных примеров.</a:t>
            </a:r>
            <a:endParaRPr lang="en-US" sz="1400" dirty="0"/>
          </a:p>
        </p:txBody>
      </p:sp>
      <p:sp>
        <p:nvSpPr>
          <p:cNvPr id="13" name="Shape 11"/>
          <p:cNvSpPr/>
          <p:nvPr/>
        </p:nvSpPr>
        <p:spPr>
          <a:xfrm>
            <a:off x="6188075" y="4309070"/>
            <a:ext cx="5187950" cy="1529755"/>
          </a:xfrm>
          <a:prstGeom prst="roundRect">
            <a:avLst>
              <a:gd name="adj" fmla="val 9755"/>
            </a:avLst>
          </a:prstGeom>
          <a:solidFill>
            <a:srgbClr val="FFFDF8"/>
          </a:solidFill>
          <a:ln w="6350">
            <a:solidFill>
              <a:srgbClr val="E4DCCD"/>
            </a:solidFill>
            <a:prstDash val="solid"/>
          </a:ln>
        </p:spPr>
      </p:sp>
      <p:sp>
        <p:nvSpPr>
          <p:cNvPr id="14" name="Text 12"/>
          <p:cNvSpPr/>
          <p:nvPr/>
        </p:nvSpPr>
        <p:spPr>
          <a:xfrm>
            <a:off x="6445250" y="4540845"/>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Unbounded" pitchFamily="34" charset="0"/>
                <a:ea typeface="Unbounded" pitchFamily="34" charset="-122"/>
                <a:cs typeface="Unbounded" pitchFamily="34" charset="-120"/>
              </a:rPr>
              <a:t>«Он же выдумывает»</a:t>
            </a:r>
            <a:endParaRPr lang="en-US" sz="1700" dirty="0"/>
          </a:p>
        </p:txBody>
      </p:sp>
      <p:sp>
        <p:nvSpPr>
          <p:cNvPr id="15" name="Text 13"/>
          <p:cNvSpPr/>
          <p:nvPr/>
        </p:nvSpPr>
        <p:spPr>
          <a:xfrm>
            <a:off x="6445250" y="4888805"/>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Бывает. Поэтому каждый результат сверяем с исходником: цифры, пункт, цитата.</a:t>
            </a:r>
            <a:endParaRPr lang="en-US" sz="1400" dirty="0"/>
          </a:p>
        </p:txBody>
      </p:sp>
      <p:sp>
        <p:nvSpPr>
          <p:cNvPr id="16"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5"/>
          <p:cNvSpPr/>
          <p:nvPr/>
        </p:nvSpPr>
        <p:spPr>
          <a:xfrm>
            <a:off x="11140827" y="6238280"/>
            <a:ext cx="2383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ЧТО ПОРУЧИТЬ УЖЕ СЕГОДНЯ</a:t>
            </a:r>
            <a:endParaRPr lang="en-US" sz="1200" dirty="0"/>
          </a:p>
        </p:txBody>
      </p:sp>
      <p:sp>
        <p:nvSpPr>
          <p:cNvPr id="3" name="Text 1"/>
          <p:cNvSpPr/>
          <p:nvPr>
            <p:ph type="title"/>
          </p:nvPr>
        </p:nvSpPr>
        <p:spPr>
          <a:xfrm>
            <a:off x="812800" y="1203920"/>
            <a:ext cx="3662680" cy="22161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Начните с того, что делаете каждую неделю</a:t>
            </a:r>
            <a:endParaRPr lang="en-US" sz="3000" dirty="0"/>
          </a:p>
        </p:txBody>
      </p:sp>
      <p:sp>
        <p:nvSpPr>
          <p:cNvPr id="4" name="Shape 2"/>
          <p:cNvSpPr/>
          <p:nvPr/>
        </p:nvSpPr>
        <p:spPr>
          <a:xfrm>
            <a:off x="812800" y="4385320"/>
            <a:ext cx="3556000" cy="1456680"/>
          </a:xfrm>
          <a:prstGeom prst="roundRect">
            <a:avLst>
              <a:gd name="adj" fmla="val 8718"/>
            </a:avLst>
          </a:prstGeom>
          <a:solidFill>
            <a:srgbClr val="EDE5D6"/>
          </a:solidFill>
          <a:ln/>
        </p:spPr>
      </p:sp>
      <p:sp>
        <p:nvSpPr>
          <p:cNvPr id="5" name="Text 3"/>
          <p:cNvSpPr/>
          <p:nvPr/>
        </p:nvSpPr>
        <p:spPr>
          <a:xfrm>
            <a:off x="1041400" y="4588520"/>
            <a:ext cx="3191764"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333"/>
                </a:solidFill>
                <a:latin typeface="Manrope" pitchFamily="34" charset="0"/>
                <a:ea typeface="Manrope" pitchFamily="34" charset="-122"/>
                <a:cs typeface="Manrope" pitchFamily="34" charset="-120"/>
              </a:rPr>
              <a:t>Выберите задачу на эту неделю:</a:t>
            </a:r>
            <a:endParaRPr lang="en-US" sz="1300" dirty="0"/>
          </a:p>
        </p:txBody>
      </p:sp>
      <p:sp>
        <p:nvSpPr>
          <p:cNvPr id="6" name="Text 4"/>
          <p:cNvSpPr/>
          <p:nvPr/>
        </p:nvSpPr>
        <p:spPr>
          <a:xfrm>
            <a:off x="1041400" y="4895850"/>
            <a:ext cx="3191764"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B5061"/>
                </a:solidFill>
                <a:latin typeface="Manrope" pitchFamily="34" charset="0"/>
                <a:ea typeface="Manrope" pitchFamily="34" charset="-122"/>
                <a:cs typeface="Manrope" pitchFamily="34" charset="-120"/>
              </a:rPr>
              <a:t>что повторяется снова и снова? какие исходники уже есть? по чему поймёте, что результат годится?</a:t>
            </a:r>
            <a:endParaRPr lang="en-US" sz="1300" dirty="0"/>
          </a:p>
        </p:txBody>
      </p:sp>
      <p:sp>
        <p:nvSpPr>
          <p:cNvPr id="7" name="Shape 5"/>
          <p:cNvSpPr/>
          <p:nvPr/>
        </p:nvSpPr>
        <p:spPr>
          <a:xfrm>
            <a:off x="4978400" y="2501900"/>
            <a:ext cx="6400800" cy="0"/>
          </a:xfrm>
          <a:prstGeom prst="line">
            <a:avLst/>
          </a:prstGeom>
          <a:noFill/>
          <a:ln w="12700">
            <a:solidFill>
              <a:srgbClr val="E4DCCD"/>
            </a:solidFill>
            <a:prstDash val="solid"/>
          </a:ln>
        </p:spPr>
      </p:sp>
      <p:sp>
        <p:nvSpPr>
          <p:cNvPr id="8" name="Text 6"/>
          <p:cNvSpPr/>
          <p:nvPr/>
        </p:nvSpPr>
        <p:spPr>
          <a:xfrm>
            <a:off x="4978400" y="1938040"/>
            <a:ext cx="19621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333"/>
                </a:solidFill>
                <a:latin typeface="Manrope" pitchFamily="34" charset="0"/>
                <a:ea typeface="Manrope" pitchFamily="34" charset="-122"/>
                <a:cs typeface="Manrope" pitchFamily="34" charset="-120"/>
              </a:rPr>
              <a:t>Переписка</a:t>
            </a:r>
            <a:endParaRPr lang="en-US" sz="1700" dirty="0"/>
          </a:p>
        </p:txBody>
      </p:sp>
      <p:sp>
        <p:nvSpPr>
          <p:cNvPr id="9" name="Text 7"/>
          <p:cNvSpPr/>
          <p:nvPr/>
        </p:nvSpPr>
        <p:spPr>
          <a:xfrm>
            <a:off x="7086600" y="1911350"/>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Manrope" pitchFamily="34" charset="0"/>
                <a:ea typeface="Manrope" pitchFamily="34" charset="-122"/>
                <a:cs typeface="Manrope" pitchFamily="34" charset="-120"/>
              </a:rPr>
              <a:t>→</a:t>
            </a:r>
            <a:endParaRPr lang="en-US" sz="2000" dirty="0"/>
          </a:p>
        </p:txBody>
      </p:sp>
      <p:sp>
        <p:nvSpPr>
          <p:cNvPr id="10" name="Text 8"/>
          <p:cNvSpPr/>
          <p:nvPr/>
        </p:nvSpPr>
        <p:spPr>
          <a:xfrm>
            <a:off x="7543800" y="1957090"/>
            <a:ext cx="395046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B5061"/>
                </a:solidFill>
                <a:latin typeface="Manrope" pitchFamily="34" charset="0"/>
                <a:ea typeface="Manrope" pitchFamily="34" charset="-122"/>
                <a:cs typeface="Manrope" pitchFamily="34" charset="-120"/>
              </a:rPr>
              <a:t>список дел и черновик ответа</a:t>
            </a:r>
            <a:endParaRPr lang="en-US" sz="1600" dirty="0"/>
          </a:p>
        </p:txBody>
      </p:sp>
      <p:sp>
        <p:nvSpPr>
          <p:cNvPr id="11" name="Shape 9"/>
          <p:cNvSpPr/>
          <p:nvPr/>
        </p:nvSpPr>
        <p:spPr>
          <a:xfrm>
            <a:off x="4978400" y="3327400"/>
            <a:ext cx="6400800" cy="0"/>
          </a:xfrm>
          <a:prstGeom prst="line">
            <a:avLst/>
          </a:prstGeom>
          <a:noFill/>
          <a:ln w="12700">
            <a:solidFill>
              <a:srgbClr val="E4DCCD"/>
            </a:solidFill>
            <a:prstDash val="solid"/>
          </a:ln>
        </p:spPr>
      </p:sp>
      <p:sp>
        <p:nvSpPr>
          <p:cNvPr id="12" name="Text 10"/>
          <p:cNvSpPr/>
          <p:nvPr/>
        </p:nvSpPr>
        <p:spPr>
          <a:xfrm>
            <a:off x="4978400" y="2763540"/>
            <a:ext cx="19621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333"/>
                </a:solidFill>
                <a:latin typeface="Manrope" pitchFamily="34" charset="0"/>
                <a:ea typeface="Manrope" pitchFamily="34" charset="-122"/>
                <a:cs typeface="Manrope" pitchFamily="34" charset="-120"/>
              </a:rPr>
              <a:t>Регламент</a:t>
            </a:r>
            <a:endParaRPr lang="en-US" sz="1700" dirty="0"/>
          </a:p>
        </p:txBody>
      </p:sp>
      <p:sp>
        <p:nvSpPr>
          <p:cNvPr id="13" name="Text 11"/>
          <p:cNvSpPr/>
          <p:nvPr/>
        </p:nvSpPr>
        <p:spPr>
          <a:xfrm>
            <a:off x="7086600" y="2736850"/>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Manrope" pitchFamily="34" charset="0"/>
                <a:ea typeface="Manrope" pitchFamily="34" charset="-122"/>
                <a:cs typeface="Manrope" pitchFamily="34" charset="-120"/>
              </a:rPr>
              <a:t>→</a:t>
            </a:r>
            <a:endParaRPr lang="en-US" sz="2000" dirty="0"/>
          </a:p>
        </p:txBody>
      </p:sp>
      <p:sp>
        <p:nvSpPr>
          <p:cNvPr id="14" name="Text 12"/>
          <p:cNvSpPr/>
          <p:nvPr/>
        </p:nvSpPr>
        <p:spPr>
          <a:xfrm>
            <a:off x="7543800" y="2782590"/>
            <a:ext cx="395046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B5061"/>
                </a:solidFill>
                <a:latin typeface="Manrope" pitchFamily="34" charset="0"/>
                <a:ea typeface="Manrope" pitchFamily="34" charset="-122"/>
                <a:cs typeface="Manrope" pitchFamily="34" charset="-120"/>
              </a:rPr>
              <a:t>ответ с пунктом и цитатой</a:t>
            </a:r>
            <a:endParaRPr lang="en-US" sz="1600" dirty="0"/>
          </a:p>
        </p:txBody>
      </p:sp>
      <p:sp>
        <p:nvSpPr>
          <p:cNvPr id="15" name="Shape 13"/>
          <p:cNvSpPr/>
          <p:nvPr/>
        </p:nvSpPr>
        <p:spPr>
          <a:xfrm>
            <a:off x="4978400" y="4152900"/>
            <a:ext cx="6400800" cy="0"/>
          </a:xfrm>
          <a:prstGeom prst="line">
            <a:avLst/>
          </a:prstGeom>
          <a:noFill/>
          <a:ln w="12700">
            <a:solidFill>
              <a:srgbClr val="E4DCCD"/>
            </a:solidFill>
            <a:prstDash val="solid"/>
          </a:ln>
        </p:spPr>
      </p:sp>
      <p:sp>
        <p:nvSpPr>
          <p:cNvPr id="16" name="Text 14"/>
          <p:cNvSpPr/>
          <p:nvPr/>
        </p:nvSpPr>
        <p:spPr>
          <a:xfrm>
            <a:off x="4978400" y="3589040"/>
            <a:ext cx="19621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333"/>
                </a:solidFill>
                <a:latin typeface="Manrope" pitchFamily="34" charset="0"/>
                <a:ea typeface="Manrope" pitchFamily="34" charset="-122"/>
                <a:cs typeface="Manrope" pitchFamily="34" charset="-120"/>
              </a:rPr>
              <a:t>Заметки</a:t>
            </a:r>
            <a:endParaRPr lang="en-US" sz="1700" dirty="0"/>
          </a:p>
        </p:txBody>
      </p:sp>
      <p:sp>
        <p:nvSpPr>
          <p:cNvPr id="17" name="Text 15"/>
          <p:cNvSpPr/>
          <p:nvPr/>
        </p:nvSpPr>
        <p:spPr>
          <a:xfrm>
            <a:off x="7086600" y="3562350"/>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Manrope" pitchFamily="34" charset="0"/>
                <a:ea typeface="Manrope" pitchFamily="34" charset="-122"/>
                <a:cs typeface="Manrope" pitchFamily="34" charset="-120"/>
              </a:rPr>
              <a:t>→</a:t>
            </a:r>
            <a:endParaRPr lang="en-US" sz="2000" dirty="0"/>
          </a:p>
        </p:txBody>
      </p:sp>
      <p:sp>
        <p:nvSpPr>
          <p:cNvPr id="18" name="Text 16"/>
          <p:cNvSpPr/>
          <p:nvPr/>
        </p:nvSpPr>
        <p:spPr>
          <a:xfrm>
            <a:off x="7543800" y="3608090"/>
            <a:ext cx="395046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B5061"/>
                </a:solidFill>
                <a:latin typeface="Manrope" pitchFamily="34" charset="0"/>
                <a:ea typeface="Manrope" pitchFamily="34" charset="-122"/>
                <a:cs typeface="Manrope" pitchFamily="34" charset="-120"/>
              </a:rPr>
              <a:t>структура презентации</a:t>
            </a:r>
            <a:endParaRPr lang="en-US" sz="1600" dirty="0"/>
          </a:p>
        </p:txBody>
      </p:sp>
      <p:sp>
        <p:nvSpPr>
          <p:cNvPr id="19" name="Text 17"/>
          <p:cNvSpPr/>
          <p:nvPr/>
        </p:nvSpPr>
        <p:spPr>
          <a:xfrm>
            <a:off x="4978400" y="4414540"/>
            <a:ext cx="196215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2333"/>
                </a:solidFill>
                <a:latin typeface="Manrope" pitchFamily="34" charset="0"/>
                <a:ea typeface="Manrope" pitchFamily="34" charset="-122"/>
                <a:cs typeface="Manrope" pitchFamily="34" charset="-120"/>
              </a:rPr>
              <a:t>Итоги недели</a:t>
            </a:r>
            <a:endParaRPr lang="en-US" sz="1700" dirty="0"/>
          </a:p>
        </p:txBody>
      </p:sp>
      <p:sp>
        <p:nvSpPr>
          <p:cNvPr id="20" name="Text 18"/>
          <p:cNvSpPr/>
          <p:nvPr/>
        </p:nvSpPr>
        <p:spPr>
          <a:xfrm>
            <a:off x="7086600" y="4387850"/>
            <a:ext cx="30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Manrope" pitchFamily="34" charset="0"/>
                <a:ea typeface="Manrope" pitchFamily="34" charset="-122"/>
                <a:cs typeface="Manrope" pitchFamily="34" charset="-120"/>
              </a:rPr>
              <a:t>→</a:t>
            </a:r>
            <a:endParaRPr lang="en-US" sz="2000" dirty="0"/>
          </a:p>
        </p:txBody>
      </p:sp>
      <p:sp>
        <p:nvSpPr>
          <p:cNvPr id="21" name="Text 19"/>
          <p:cNvSpPr/>
          <p:nvPr/>
        </p:nvSpPr>
        <p:spPr>
          <a:xfrm>
            <a:off x="7543800" y="4433590"/>
            <a:ext cx="395046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B5061"/>
                </a:solidFill>
                <a:latin typeface="Manrope" pitchFamily="34" charset="0"/>
                <a:ea typeface="Manrope" pitchFamily="34" charset="-122"/>
                <a:cs typeface="Manrope" pitchFamily="34" charset="-120"/>
              </a:rPr>
              <a:t>короткий отчёт руководителю</a:t>
            </a:r>
            <a:endParaRPr lang="en-US" sz="1600" dirty="0"/>
          </a:p>
        </p:txBody>
      </p:sp>
      <p:sp>
        <p:nvSpPr>
          <p:cNvPr id="22" name="Text 20"/>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23" name="Text 21"/>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ДОСТУПЫ</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Выберите свой маршрут на сегодня</a:t>
            </a:r>
            <a:endParaRPr lang="en-US" sz="3000" dirty="0"/>
          </a:p>
        </p:txBody>
      </p:sp>
      <p:sp>
        <p:nvSpPr>
          <p:cNvPr id="4" name="Shape 2"/>
          <p:cNvSpPr/>
          <p:nvPr/>
        </p:nvSpPr>
        <p:spPr>
          <a:xfrm>
            <a:off x="815975" y="1899245"/>
            <a:ext cx="3384550" cy="3939580"/>
          </a:xfrm>
          <a:prstGeom prst="roundRect">
            <a:avLst>
              <a:gd name="adj" fmla="val 4409"/>
            </a:avLst>
          </a:prstGeom>
          <a:solidFill>
            <a:srgbClr val="FFFDF8"/>
          </a:solidFill>
          <a:ln w="6350">
            <a:solidFill>
              <a:srgbClr val="E4DCCD"/>
            </a:solidFill>
            <a:prstDash val="solid"/>
          </a:ln>
        </p:spPr>
      </p:sp>
      <p:sp>
        <p:nvSpPr>
          <p:cNvPr id="5" name="Text 3"/>
          <p:cNvSpPr/>
          <p:nvPr/>
        </p:nvSpPr>
        <p:spPr>
          <a:xfrm>
            <a:off x="1098550" y="2181820"/>
            <a:ext cx="290398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441C"/>
                </a:solidFill>
                <a:latin typeface="Unbounded" pitchFamily="34" charset="0"/>
                <a:ea typeface="Unbounded" pitchFamily="34" charset="-122"/>
                <a:cs typeface="Unbounded" pitchFamily="34" charset="-120"/>
              </a:rPr>
              <a:t>1</a:t>
            </a:r>
            <a:endParaRPr lang="en-US" sz="3200" dirty="0"/>
          </a:p>
        </p:txBody>
      </p:sp>
      <p:sp>
        <p:nvSpPr>
          <p:cNvPr id="6" name="Text 4"/>
          <p:cNvSpPr/>
          <p:nvPr/>
        </p:nvSpPr>
        <p:spPr>
          <a:xfrm>
            <a:off x="1098550" y="2715220"/>
            <a:ext cx="2903982"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33"/>
                </a:solidFill>
                <a:latin typeface="Manrope" pitchFamily="34" charset="0"/>
                <a:ea typeface="Manrope" pitchFamily="34" charset="-122"/>
                <a:cs typeface="Manrope" pitchFamily="34" charset="-120"/>
              </a:rPr>
              <a:t>Корпоративный компьютер</a:t>
            </a:r>
            <a:endParaRPr lang="en-US" sz="1800" dirty="0"/>
          </a:p>
        </p:txBody>
      </p:sp>
      <p:sp>
        <p:nvSpPr>
          <p:cNvPr id="7" name="Text 5"/>
          <p:cNvSpPr/>
          <p:nvPr/>
        </p:nvSpPr>
        <p:spPr>
          <a:xfrm>
            <a:off x="1098550" y="3390801"/>
            <a:ext cx="290398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B5061"/>
                </a:solidFill>
                <a:latin typeface="Manrope" pitchFamily="34" charset="0"/>
                <a:ea typeface="Manrope" pitchFamily="34" charset="-122"/>
                <a:cs typeface="Manrope" pitchFamily="34" charset="-120"/>
              </a:rPr>
              <a:t>Стабильный интернет, Яндекс-аккаунт. Желательно доступ через GPTunnel.</a:t>
            </a:r>
            <a:endParaRPr lang="en-US" sz="1400" dirty="0"/>
          </a:p>
        </p:txBody>
      </p:sp>
      <p:sp>
        <p:nvSpPr>
          <p:cNvPr id="8" name="Shape 6"/>
          <p:cNvSpPr/>
          <p:nvPr/>
        </p:nvSpPr>
        <p:spPr>
          <a:xfrm>
            <a:off x="4410075" y="1899245"/>
            <a:ext cx="3384550" cy="3939580"/>
          </a:xfrm>
          <a:prstGeom prst="roundRect">
            <a:avLst>
              <a:gd name="adj" fmla="val 4409"/>
            </a:avLst>
          </a:prstGeom>
          <a:solidFill>
            <a:srgbClr val="FFFDF8"/>
          </a:solidFill>
          <a:ln w="6350">
            <a:solidFill>
              <a:srgbClr val="E4DCCD"/>
            </a:solidFill>
            <a:prstDash val="solid"/>
          </a:ln>
        </p:spPr>
      </p:sp>
      <p:sp>
        <p:nvSpPr>
          <p:cNvPr id="9" name="Text 7"/>
          <p:cNvSpPr/>
          <p:nvPr/>
        </p:nvSpPr>
        <p:spPr>
          <a:xfrm>
            <a:off x="4692650" y="2181820"/>
            <a:ext cx="290398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B4441C"/>
                </a:solidFill>
                <a:latin typeface="Unbounded" pitchFamily="34" charset="0"/>
                <a:ea typeface="Unbounded" pitchFamily="34" charset="-122"/>
                <a:cs typeface="Unbounded" pitchFamily="34" charset="-120"/>
              </a:rPr>
              <a:t>2</a:t>
            </a:r>
            <a:endParaRPr lang="en-US" sz="3200" dirty="0"/>
          </a:p>
        </p:txBody>
      </p:sp>
      <p:sp>
        <p:nvSpPr>
          <p:cNvPr id="10" name="Text 8"/>
          <p:cNvSpPr/>
          <p:nvPr/>
        </p:nvSpPr>
        <p:spPr>
          <a:xfrm>
            <a:off x="4692650" y="2715220"/>
            <a:ext cx="290398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333"/>
                </a:solidFill>
                <a:latin typeface="Manrope" pitchFamily="34" charset="0"/>
                <a:ea typeface="Manrope" pitchFamily="34" charset="-122"/>
                <a:cs typeface="Manrope" pitchFamily="34" charset="-120"/>
              </a:rPr>
              <a:t>Личное устройство</a:t>
            </a:r>
            <a:endParaRPr lang="en-US" sz="1800" dirty="0"/>
          </a:p>
        </p:txBody>
      </p:sp>
      <p:sp>
        <p:nvSpPr>
          <p:cNvPr id="11" name="Text 9"/>
          <p:cNvSpPr/>
          <p:nvPr/>
        </p:nvSpPr>
        <p:spPr>
          <a:xfrm>
            <a:off x="4692650" y="3116511"/>
            <a:ext cx="290398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B5061"/>
                </a:solidFill>
                <a:latin typeface="Manrope" pitchFamily="34" charset="0"/>
                <a:ea typeface="Manrope" pitchFamily="34" charset="-122"/>
                <a:cs typeface="Manrope" pitchFamily="34" charset="-120"/>
              </a:rPr>
              <a:t>Личная почта, лучше иностранная, куда точно приходят письма с кодами.</a:t>
            </a:r>
            <a:endParaRPr lang="en-US" sz="1400" dirty="0"/>
          </a:p>
        </p:txBody>
      </p:sp>
      <p:sp>
        <p:nvSpPr>
          <p:cNvPr id="12" name="Shape 10"/>
          <p:cNvSpPr/>
          <p:nvPr/>
        </p:nvSpPr>
        <p:spPr>
          <a:xfrm>
            <a:off x="8001000" y="1896070"/>
            <a:ext cx="3378200" cy="3945930"/>
          </a:xfrm>
          <a:prstGeom prst="roundRect">
            <a:avLst>
              <a:gd name="adj" fmla="val 4511"/>
            </a:avLst>
          </a:prstGeom>
          <a:solidFill>
            <a:srgbClr val="1F2333"/>
          </a:solidFill>
          <a:ln/>
        </p:spPr>
      </p:sp>
      <p:sp>
        <p:nvSpPr>
          <p:cNvPr id="13" name="Text 11"/>
          <p:cNvSpPr/>
          <p:nvPr/>
        </p:nvSpPr>
        <p:spPr>
          <a:xfrm>
            <a:off x="8280400" y="2175470"/>
            <a:ext cx="2903982"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F4A261"/>
                </a:solidFill>
                <a:latin typeface="Unbounded" pitchFamily="34" charset="0"/>
                <a:ea typeface="Unbounded" pitchFamily="34" charset="-122"/>
                <a:cs typeface="Unbounded" pitchFamily="34" charset="-120"/>
              </a:rPr>
              <a:t>3</a:t>
            </a:r>
            <a:endParaRPr lang="en-US" sz="3200" dirty="0"/>
          </a:p>
        </p:txBody>
      </p:sp>
      <p:sp>
        <p:nvSpPr>
          <p:cNvPr id="14" name="Text 12"/>
          <p:cNvSpPr/>
          <p:nvPr/>
        </p:nvSpPr>
        <p:spPr>
          <a:xfrm>
            <a:off x="8280400" y="2708870"/>
            <a:ext cx="2903982"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2EA"/>
                </a:solidFill>
                <a:latin typeface="Manrope" pitchFamily="34" charset="0"/>
                <a:ea typeface="Manrope" pitchFamily="34" charset="-122"/>
                <a:cs typeface="Manrope" pitchFamily="34" charset="-120"/>
              </a:rPr>
              <a:t>Личное устройство и Google</a:t>
            </a:r>
            <a:endParaRPr lang="en-US" sz="1800" dirty="0"/>
          </a:p>
        </p:txBody>
      </p:sp>
      <p:sp>
        <p:nvSpPr>
          <p:cNvPr id="15" name="Text 13"/>
          <p:cNvSpPr/>
          <p:nvPr/>
        </p:nvSpPr>
        <p:spPr>
          <a:xfrm>
            <a:off x="8280400" y="3384451"/>
            <a:ext cx="2903982"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CBD4"/>
                </a:solidFill>
                <a:latin typeface="Manrope" pitchFamily="34" charset="0"/>
                <a:ea typeface="Manrope" pitchFamily="34" charset="-122"/>
                <a:cs typeface="Manrope" pitchFamily="34" charset="-120"/>
              </a:rPr>
              <a:t>Google-аккаунт и VPN. Открывает весь набор: NotebookLM, Gamma, Napkin.</a:t>
            </a:r>
            <a:endParaRPr lang="en-US" sz="1400" dirty="0"/>
          </a:p>
        </p:txBody>
      </p:sp>
      <p:sp>
        <p:nvSpPr>
          <p:cNvPr id="16"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5"/>
          <p:cNvSpPr/>
          <p:nvPr/>
        </p:nvSpPr>
        <p:spPr>
          <a:xfrm>
            <a:off x="11146979" y="6238280"/>
            <a:ext cx="23222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5D6"/>
        </a:solidFill>
      </p:bgPr>
    </p:bg>
    <p:spTree>
      <p:nvGrpSpPr>
        <p:cNvPr id="1" name=""/>
        <p:cNvGrpSpPr/>
        <p:nvPr/>
      </p:nvGrpSpPr>
      <p:grpSpPr>
        <a:xfrm>
          <a:off x="0" y="0"/>
          <a:ext cx="0" cy="0"/>
          <a:chOff x="0" y="0"/>
          <a:chExt cx="0" cy="0"/>
        </a:xfrm>
      </p:grpSpPr>
      <p:pic>
        <p:nvPicPr>
          <p:cNvPr id="2" name="Image 0" descr="Lock">    </p:cNvPr>
          <p:cNvPicPr>
            <a:picLocks noChangeAspect="1"/>
          </p:cNvPicPr>
          <p:nvPr/>
        </p:nvPicPr>
        <p:blipFill>
          <a:blip r:embed="rId1"/>
          <a:srcRect l="0" r="0" t="0" b="0"/>
          <a:stretch/>
        </p:blipFill>
        <p:spPr>
          <a:xfrm>
            <a:off x="812800" y="2106315"/>
            <a:ext cx="558800" cy="558800"/>
          </a:xfrm>
          <a:prstGeom prst="rect">
            <a:avLst/>
          </a:prstGeom>
        </p:spPr>
      </p:pic>
      <p:sp>
        <p:nvSpPr>
          <p:cNvPr id="3" name="Text 0"/>
          <p:cNvSpPr/>
          <p:nvPr/>
        </p:nvSpPr>
        <p:spPr>
          <a:xfrm>
            <a:off x="812800" y="2842915"/>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БЕЗОПАСНОСТЬ</a:t>
            </a:r>
            <a:endParaRPr lang="en-US" sz="1200" dirty="0"/>
          </a:p>
        </p:txBody>
      </p:sp>
      <p:sp>
        <p:nvSpPr>
          <p:cNvPr id="4" name="Text 1"/>
          <p:cNvSpPr/>
          <p:nvPr>
            <p:ph type="title"/>
          </p:nvPr>
        </p:nvSpPr>
        <p:spPr>
          <a:xfrm>
            <a:off x="812800" y="3234035"/>
            <a:ext cx="4185920" cy="13398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Какие данные берём для первой пробы</a:t>
            </a:r>
            <a:endParaRPr lang="en-US" sz="3000" dirty="0"/>
          </a:p>
        </p:txBody>
      </p:sp>
      <p:sp>
        <p:nvSpPr>
          <p:cNvPr id="5" name="Text 2"/>
          <p:cNvSpPr/>
          <p:nvPr/>
        </p:nvSpPr>
        <p:spPr>
          <a:xfrm>
            <a:off x="5486400" y="1443335"/>
            <a:ext cx="5892800" cy="1009650"/>
          </a:xfrm>
          <a:prstGeom prst="roundRect">
            <a:avLst>
              <a:gd name="adj" fmla="val 12579"/>
            </a:avLst>
          </a:prstGeom>
          <a:solidFill>
            <a:srgbClr val="FFFDF8"/>
          </a:solidFill>
          <a:ln/>
        </p:spPr>
        <p:txBody>
          <a:bodyPr wrap="square" lIns="216803" tIns="191403" rIns="55259" bIns="166003" rtlCol="0" anchor="t">
            <a:normAutofit/>
          </a:bodyPr>
          <a:lstStyle/>
          <a:p>
            <a:pPr algn="l" indent="0" marL="0">
              <a:lnSpc>
                <a:spcPts val="2175"/>
              </a:lnSpc>
              <a:buNone/>
            </a:pPr>
            <a:r>
              <a:rPr lang="en-US" sz="1500" dirty="0">
                <a:solidFill>
                  <a:srgbClr val="1F2333"/>
                </a:solidFill>
                <a:latin typeface="Manrope" pitchFamily="34" charset="0"/>
                <a:ea typeface="Manrope" pitchFamily="34" charset="-122"/>
                <a:cs typeface="Manrope" pitchFamily="34" charset="-120"/>
              </a:rPr>
              <a:t>Учебные примеры или разрешённые публичные материалы.</a:t>
            </a:r>
            <a:endParaRPr lang="en-US" sz="1500" dirty="0"/>
          </a:p>
        </p:txBody>
      </p:sp>
      <p:sp>
        <p:nvSpPr>
          <p:cNvPr id="6" name="Text 3"/>
          <p:cNvSpPr/>
          <p:nvPr/>
        </p:nvSpPr>
        <p:spPr>
          <a:xfrm>
            <a:off x="5486400" y="2605385"/>
            <a:ext cx="5892800" cy="1009650"/>
          </a:xfrm>
          <a:prstGeom prst="roundRect">
            <a:avLst>
              <a:gd name="adj" fmla="val 12579"/>
            </a:avLst>
          </a:prstGeom>
          <a:solidFill>
            <a:srgbClr val="FFFDF8"/>
          </a:solidFill>
          <a:ln/>
        </p:spPr>
        <p:txBody>
          <a:bodyPr wrap="square" lIns="216803" tIns="191403" rIns="55259" bIns="166003" rtlCol="0" anchor="t">
            <a:normAutofit/>
          </a:bodyPr>
          <a:lstStyle/>
          <a:p>
            <a:pPr algn="l" indent="0" marL="0">
              <a:lnSpc>
                <a:spcPts val="2175"/>
              </a:lnSpc>
              <a:buNone/>
            </a:pPr>
            <a:r>
              <a:rPr lang="en-US" sz="1500" dirty="0">
                <a:solidFill>
                  <a:srgbClr val="1F2333"/>
                </a:solidFill>
                <a:latin typeface="Manrope" pitchFamily="34" charset="0"/>
                <a:ea typeface="Manrope" pitchFamily="34" charset="-122"/>
                <a:cs typeface="Manrope" pitchFamily="34" charset="-120"/>
              </a:rPr>
              <a:t>Для внутренних файлов сначала выясните владельца данных и допустимый сервис.</a:t>
            </a:r>
            <a:endParaRPr lang="en-US" sz="1500" dirty="0"/>
          </a:p>
        </p:txBody>
      </p:sp>
      <p:sp>
        <p:nvSpPr>
          <p:cNvPr id="7" name="Text 4"/>
          <p:cNvSpPr/>
          <p:nvPr/>
        </p:nvSpPr>
        <p:spPr>
          <a:xfrm>
            <a:off x="5486400" y="3767435"/>
            <a:ext cx="5892800" cy="1009650"/>
          </a:xfrm>
          <a:prstGeom prst="roundRect">
            <a:avLst>
              <a:gd name="adj" fmla="val 12579"/>
            </a:avLst>
          </a:prstGeom>
          <a:solidFill>
            <a:srgbClr val="FFFDF8"/>
          </a:solidFill>
          <a:ln/>
        </p:spPr>
        <p:txBody>
          <a:bodyPr wrap="square" lIns="216803" tIns="191403" rIns="55259" bIns="166003" rtlCol="0" anchor="t">
            <a:normAutofit/>
          </a:bodyPr>
          <a:lstStyle/>
          <a:p>
            <a:pPr algn="l" indent="0" marL="0">
              <a:lnSpc>
                <a:spcPts val="2175"/>
              </a:lnSpc>
              <a:buNone/>
            </a:pPr>
            <a:r>
              <a:rPr lang="en-US" sz="1500" dirty="0">
                <a:solidFill>
                  <a:srgbClr val="1F2333"/>
                </a:solidFill>
                <a:latin typeface="Manrope" pitchFamily="34" charset="0"/>
                <a:ea typeface="Manrope" pitchFamily="34" charset="-122"/>
                <a:cs typeface="Manrope" pitchFamily="34" charset="-120"/>
              </a:rPr>
              <a:t>VPN и шифрование защищают канал. Модель всё равно видит текст, который вы ей отправили.</a:t>
            </a:r>
            <a:endParaRPr lang="en-US" sz="1500" dirty="0"/>
          </a:p>
        </p:txBody>
      </p:sp>
      <p:sp>
        <p:nvSpPr>
          <p:cNvPr id="8" name="Text 5"/>
          <p:cNvSpPr/>
          <p:nvPr/>
        </p:nvSpPr>
        <p:spPr>
          <a:xfrm>
            <a:off x="5486400" y="4980285"/>
            <a:ext cx="60695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Правила информационной безопасности компании действуют и здесь.</a:t>
            </a:r>
            <a:endParaRPr lang="en-US" sz="1300" dirty="0"/>
          </a:p>
        </p:txBody>
      </p:sp>
      <p:sp>
        <p:nvSpPr>
          <p:cNvPr id="9" name="Text 6"/>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0" name="Text 7"/>
          <p:cNvSpPr/>
          <p:nvPr/>
        </p:nvSpPr>
        <p:spPr>
          <a:xfrm>
            <a:off x="11140827" y="6238280"/>
            <a:ext cx="2383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3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347200" y="3860800"/>
            <a:ext cx="2032000" cy="2032000"/>
          </a:xfrm>
          <a:prstGeom prst="rect">
            <a:avLst/>
          </a:prstGeom>
        </p:spPr>
      </p:pic>
      <p:sp>
        <p:nvSpPr>
          <p:cNvPr id="3" name="Text 0"/>
          <p:cNvSpPr/>
          <p:nvPr/>
        </p:nvSpPr>
        <p:spPr>
          <a:xfrm>
            <a:off x="812800" y="219457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A261"/>
                </a:solidFill>
                <a:latin typeface="Unbounded" pitchFamily="34" charset="0"/>
                <a:ea typeface="Unbounded" pitchFamily="34" charset="-122"/>
                <a:cs typeface="Unbounded" pitchFamily="34" charset="-120"/>
              </a:rPr>
              <a:t>02</a:t>
            </a:r>
            <a:endParaRPr lang="en-US" sz="6000" dirty="0"/>
          </a:p>
        </p:txBody>
      </p:sp>
      <p:sp>
        <p:nvSpPr>
          <p:cNvPr id="4" name="Text 1"/>
          <p:cNvSpPr/>
          <p:nvPr>
            <p:ph type="title"/>
          </p:nvPr>
        </p:nvSpPr>
        <p:spPr>
          <a:xfrm>
            <a:off x="812800" y="3210570"/>
            <a:ext cx="8371840"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2EA"/>
                </a:solidFill>
                <a:latin typeface="Unbounded" pitchFamily="34" charset="0"/>
                <a:ea typeface="Unbounded" pitchFamily="34" charset="-122"/>
                <a:cs typeface="Unbounded" pitchFamily="34" charset="-120"/>
              </a:rPr>
              <a:t>Презентации</a:t>
            </a:r>
            <a:endParaRPr lang="en-US" sz="4000" dirty="0"/>
          </a:p>
        </p:txBody>
      </p:sp>
      <p:sp>
        <p:nvSpPr>
          <p:cNvPr id="5" name="Text 2"/>
          <p:cNvSpPr/>
          <p:nvPr/>
        </p:nvSpPr>
        <p:spPr>
          <a:xfrm>
            <a:off x="812800" y="4023370"/>
            <a:ext cx="78486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BD4"/>
                </a:solidFill>
                <a:latin typeface="Manrope" pitchFamily="34" charset="0"/>
                <a:ea typeface="Manrope" pitchFamily="34" charset="-122"/>
                <a:cs typeface="Manrope" pitchFamily="34" charset="-120"/>
              </a:rPr>
              <a:t>Самая наглядная задача для первого знакомства: результат видно сразу, и его легко показать коллеге.</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ПОДХОДЫ</a:t>
            </a:r>
            <a:endParaRPr lang="en-US" sz="1200" dirty="0"/>
          </a:p>
        </p:txBody>
      </p:sp>
      <p:sp>
        <p:nvSpPr>
          <p:cNvPr id="3" name="Text 1"/>
          <p:cNvSpPr/>
          <p:nvPr>
            <p:ph type="title"/>
          </p:nvPr>
        </p:nvSpPr>
        <p:spPr>
          <a:xfrm>
            <a:off x="812800" y="115312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Четыре способа сделать презентацию с ИИ</a:t>
            </a:r>
            <a:endParaRPr lang="en-US" sz="3000" dirty="0"/>
          </a:p>
        </p:txBody>
      </p:sp>
      <p:sp>
        <p:nvSpPr>
          <p:cNvPr id="4" name="Shape 2"/>
          <p:cNvSpPr/>
          <p:nvPr/>
        </p:nvSpPr>
        <p:spPr>
          <a:xfrm>
            <a:off x="815975" y="2337395"/>
            <a:ext cx="5187950" cy="1781175"/>
          </a:xfrm>
          <a:prstGeom prst="roundRect">
            <a:avLst>
              <a:gd name="adj" fmla="val 8378"/>
            </a:avLst>
          </a:prstGeom>
          <a:solidFill>
            <a:srgbClr val="FFFDF8"/>
          </a:solidFill>
          <a:ln w="6350">
            <a:solidFill>
              <a:srgbClr val="E4DCCD"/>
            </a:solidFill>
            <a:prstDash val="solid"/>
          </a:ln>
        </p:spPr>
      </p:sp>
      <p:sp>
        <p:nvSpPr>
          <p:cNvPr id="5" name="Text 3"/>
          <p:cNvSpPr/>
          <p:nvPr/>
        </p:nvSpPr>
        <p:spPr>
          <a:xfrm>
            <a:off x="1073150" y="2569170"/>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Manrope" pitchFamily="34" charset="0"/>
                <a:ea typeface="Manrope" pitchFamily="34" charset="-122"/>
                <a:cs typeface="Manrope" pitchFamily="34" charset="-120"/>
              </a:rPr>
              <a:t>01</a:t>
            </a:r>
            <a:r>
              <a:rPr lang="en-US" sz="1700" b="1" dirty="0">
                <a:solidFill>
                  <a:srgbClr val="1F2333"/>
                </a:solidFill>
                <a:latin typeface="Manrope" pitchFamily="34" charset="0"/>
                <a:ea typeface="Manrope" pitchFamily="34" charset="-122"/>
                <a:cs typeface="Manrope" pitchFamily="34" charset="-120"/>
              </a:rPr>
              <a:t> Автоматический</a:t>
            </a:r>
            <a:endParaRPr lang="en-US" sz="1700" dirty="0"/>
          </a:p>
        </p:txBody>
      </p:sp>
      <p:sp>
        <p:nvSpPr>
          <p:cNvPr id="6" name="Text 4"/>
          <p:cNvSpPr/>
          <p:nvPr/>
        </p:nvSpPr>
        <p:spPr>
          <a:xfrm>
            <a:off x="1073150" y="2904430"/>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Даёте тему, получаете черновик целиком. Хорош для старта и мозгового штурма.</a:t>
            </a:r>
            <a:endParaRPr lang="en-US" sz="1400" dirty="0"/>
          </a:p>
        </p:txBody>
      </p:sp>
      <p:sp>
        <p:nvSpPr>
          <p:cNvPr id="7" name="Shape 5"/>
          <p:cNvSpPr/>
          <p:nvPr/>
        </p:nvSpPr>
        <p:spPr>
          <a:xfrm>
            <a:off x="6184900" y="2334220"/>
            <a:ext cx="5194300" cy="1787525"/>
          </a:xfrm>
          <a:prstGeom prst="roundRect">
            <a:avLst>
              <a:gd name="adj" fmla="val 8526"/>
            </a:avLst>
          </a:prstGeom>
          <a:solidFill>
            <a:srgbClr val="1F2333"/>
          </a:solidFill>
          <a:ln/>
        </p:spPr>
      </p:sp>
      <p:sp>
        <p:nvSpPr>
          <p:cNvPr id="8" name="Text 6"/>
          <p:cNvSpPr/>
          <p:nvPr/>
        </p:nvSpPr>
        <p:spPr>
          <a:xfrm>
            <a:off x="6438900" y="2562820"/>
            <a:ext cx="482688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A261"/>
                </a:solidFill>
                <a:latin typeface="Manrope" pitchFamily="34" charset="0"/>
                <a:ea typeface="Manrope" pitchFamily="34" charset="-122"/>
                <a:cs typeface="Manrope" pitchFamily="34" charset="-120"/>
              </a:rPr>
              <a:t>02</a:t>
            </a:r>
            <a:r>
              <a:rPr lang="en-US" sz="1700" b="1" dirty="0">
                <a:solidFill>
                  <a:srgbClr val="F6F2EA"/>
                </a:solidFill>
                <a:latin typeface="Manrope" pitchFamily="34" charset="0"/>
                <a:ea typeface="Manrope" pitchFamily="34" charset="-122"/>
                <a:cs typeface="Manrope" pitchFamily="34" charset="-120"/>
              </a:rPr>
              <a:t> Смешанный · начнём с него</a:t>
            </a:r>
            <a:endParaRPr lang="en-US" sz="1700" dirty="0"/>
          </a:p>
        </p:txBody>
      </p:sp>
      <p:sp>
        <p:nvSpPr>
          <p:cNvPr id="9" name="Text 7"/>
          <p:cNvSpPr/>
          <p:nvPr/>
        </p:nvSpPr>
        <p:spPr>
          <a:xfrm>
            <a:off x="6438900" y="2898080"/>
            <a:ext cx="4826889"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BD4"/>
                </a:solidFill>
                <a:latin typeface="Manrope" pitchFamily="34" charset="0"/>
                <a:ea typeface="Manrope" pitchFamily="34" charset="-122"/>
                <a:cs typeface="Manrope" pitchFamily="34" charset="-120"/>
              </a:rPr>
              <a:t>Текст готовите сами или с сильной моделью, оформление отдаёте сервису. Самый надёжный путь для рабочих материалов.</a:t>
            </a:r>
            <a:endParaRPr lang="en-US" sz="1400" dirty="0"/>
          </a:p>
        </p:txBody>
      </p:sp>
      <p:sp>
        <p:nvSpPr>
          <p:cNvPr id="10" name="Shape 8"/>
          <p:cNvSpPr/>
          <p:nvPr/>
        </p:nvSpPr>
        <p:spPr>
          <a:xfrm>
            <a:off x="815975" y="4302720"/>
            <a:ext cx="5187950" cy="1536105"/>
          </a:xfrm>
          <a:prstGeom prst="roundRect">
            <a:avLst>
              <a:gd name="adj" fmla="val 9715"/>
            </a:avLst>
          </a:prstGeom>
          <a:solidFill>
            <a:srgbClr val="FFFDF8"/>
          </a:solidFill>
          <a:ln w="6350">
            <a:solidFill>
              <a:srgbClr val="E4DCCD"/>
            </a:solidFill>
            <a:prstDash val="solid"/>
          </a:ln>
        </p:spPr>
      </p:sp>
      <p:sp>
        <p:nvSpPr>
          <p:cNvPr id="11" name="Text 9"/>
          <p:cNvSpPr/>
          <p:nvPr/>
        </p:nvSpPr>
        <p:spPr>
          <a:xfrm>
            <a:off x="1073150" y="4534495"/>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Manrope" pitchFamily="34" charset="0"/>
                <a:ea typeface="Manrope" pitchFamily="34" charset="-122"/>
                <a:cs typeface="Manrope" pitchFamily="34" charset="-120"/>
              </a:rPr>
              <a:t>03</a:t>
            </a:r>
            <a:r>
              <a:rPr lang="en-US" sz="1700" b="1" dirty="0">
                <a:solidFill>
                  <a:srgbClr val="1F2333"/>
                </a:solidFill>
                <a:latin typeface="Manrope" pitchFamily="34" charset="0"/>
                <a:ea typeface="Manrope" pitchFamily="34" charset="-122"/>
                <a:cs typeface="Manrope" pitchFamily="34" charset="-120"/>
              </a:rPr>
              <a:t> Дизайнерский</a:t>
            </a:r>
            <a:endParaRPr lang="en-US" sz="1700" dirty="0"/>
          </a:p>
        </p:txBody>
      </p:sp>
      <p:sp>
        <p:nvSpPr>
          <p:cNvPr id="12" name="Text 10"/>
          <p:cNvSpPr/>
          <p:nvPr/>
        </p:nvSpPr>
        <p:spPr>
          <a:xfrm>
            <a:off x="1073150" y="4869755"/>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Работаете послайдово: палитра, картинки, схемы, точечные правки. Для важных выступлений.</a:t>
            </a:r>
            <a:endParaRPr lang="en-US" sz="1400" dirty="0"/>
          </a:p>
        </p:txBody>
      </p:sp>
      <p:sp>
        <p:nvSpPr>
          <p:cNvPr id="13" name="Shape 11"/>
          <p:cNvSpPr/>
          <p:nvPr/>
        </p:nvSpPr>
        <p:spPr>
          <a:xfrm>
            <a:off x="6188075" y="4302720"/>
            <a:ext cx="5187950" cy="1536105"/>
          </a:xfrm>
          <a:prstGeom prst="roundRect">
            <a:avLst>
              <a:gd name="adj" fmla="val 9715"/>
            </a:avLst>
          </a:prstGeom>
          <a:solidFill>
            <a:srgbClr val="FFFDF8"/>
          </a:solidFill>
          <a:ln w="6350">
            <a:solidFill>
              <a:srgbClr val="E4DCCD"/>
            </a:solidFill>
            <a:prstDash val="solid"/>
          </a:ln>
        </p:spPr>
      </p:sp>
      <p:sp>
        <p:nvSpPr>
          <p:cNvPr id="14" name="Text 12"/>
          <p:cNvSpPr/>
          <p:nvPr/>
        </p:nvSpPr>
        <p:spPr>
          <a:xfrm>
            <a:off x="6445250" y="4534495"/>
            <a:ext cx="481380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Manrope" pitchFamily="34" charset="0"/>
                <a:ea typeface="Manrope" pitchFamily="34" charset="-122"/>
                <a:cs typeface="Manrope" pitchFamily="34" charset="-120"/>
              </a:rPr>
              <a:t>04</a:t>
            </a:r>
            <a:r>
              <a:rPr lang="en-US" sz="1700" b="1" dirty="0">
                <a:solidFill>
                  <a:srgbClr val="1F2333"/>
                </a:solidFill>
                <a:latin typeface="Manrope" pitchFamily="34" charset="0"/>
                <a:ea typeface="Manrope" pitchFamily="34" charset="-122"/>
                <a:cs typeface="Manrope" pitchFamily="34" charset="-120"/>
              </a:rPr>
              <a:t> Свой набор</a:t>
            </a:r>
            <a:endParaRPr lang="en-US" sz="1700" dirty="0"/>
          </a:p>
        </p:txBody>
      </p:sp>
      <p:sp>
        <p:nvSpPr>
          <p:cNvPr id="15" name="Text 13"/>
          <p:cNvSpPr/>
          <p:nvPr/>
        </p:nvSpPr>
        <p:spPr>
          <a:xfrm>
            <a:off x="6445250" y="4869755"/>
            <a:ext cx="4813808"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B5061"/>
                </a:solidFill>
                <a:latin typeface="Manrope" pitchFamily="34" charset="0"/>
                <a:ea typeface="Manrope" pitchFamily="34" charset="-122"/>
                <a:cs typeface="Manrope" pitchFamily="34" charset="-120"/>
              </a:rPr>
              <a:t>Связка из модели, сервиса и шаблона под вашу задачу. Так в итоге работает большинство.</a:t>
            </a:r>
            <a:endParaRPr lang="en-US" sz="1400" dirty="0"/>
          </a:p>
        </p:txBody>
      </p:sp>
      <p:sp>
        <p:nvSpPr>
          <p:cNvPr id="16"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5"/>
          <p:cNvSpPr/>
          <p:nvPr/>
        </p:nvSpPr>
        <p:spPr>
          <a:xfrm>
            <a:off x="11209486" y="6238280"/>
            <a:ext cx="16971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210949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ШАГ 1 · ДО ЛЮБОГО СЕРВИСА</a:t>
            </a:r>
            <a:endParaRPr lang="en-US" sz="1200" dirty="0"/>
          </a:p>
        </p:txBody>
      </p:sp>
      <p:sp>
        <p:nvSpPr>
          <p:cNvPr id="3" name="Text 1"/>
          <p:cNvSpPr/>
          <p:nvPr>
            <p:ph type="title"/>
          </p:nvPr>
        </p:nvSpPr>
        <p:spPr>
          <a:xfrm>
            <a:off x="812800" y="2500610"/>
            <a:ext cx="3924300" cy="13398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Сначала соберите контекст</a:t>
            </a:r>
            <a:endParaRPr lang="en-US" sz="3000" dirty="0"/>
          </a:p>
        </p:txBody>
      </p:sp>
      <p:sp>
        <p:nvSpPr>
          <p:cNvPr id="4" name="Text 2"/>
          <p:cNvSpPr/>
          <p:nvPr/>
        </p:nvSpPr>
        <p:spPr>
          <a:xfrm>
            <a:off x="812800" y="3992860"/>
            <a:ext cx="39243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B5061"/>
                </a:solidFill>
                <a:latin typeface="Manrope" pitchFamily="34" charset="0"/>
                <a:ea typeface="Manrope" pitchFamily="34" charset="-122"/>
                <a:cs typeface="Manrope" pitchFamily="34" charset="-120"/>
              </a:rPr>
              <a:t>Чем больше своего материала вы дадите, тем меньше модель будет додумывать.</a:t>
            </a:r>
            <a:endParaRPr lang="en-US" sz="1500" dirty="0"/>
          </a:p>
        </p:txBody>
      </p:sp>
      <p:sp>
        <p:nvSpPr>
          <p:cNvPr id="5" name="Shape 3"/>
          <p:cNvSpPr/>
          <p:nvPr/>
        </p:nvSpPr>
        <p:spPr>
          <a:xfrm>
            <a:off x="5232400" y="2456210"/>
            <a:ext cx="6146800" cy="0"/>
          </a:xfrm>
          <a:prstGeom prst="line">
            <a:avLst/>
          </a:prstGeom>
          <a:noFill/>
          <a:ln w="12700">
            <a:solidFill>
              <a:srgbClr val="E4DCCD"/>
            </a:solidFill>
            <a:prstDash val="solid"/>
          </a:ln>
        </p:spPr>
      </p:sp>
      <p:pic>
        <p:nvPicPr>
          <p:cNvPr id="6" name="Image 0" descr="Book">    </p:cNvPr>
          <p:cNvPicPr>
            <a:picLocks noChangeAspect="1"/>
          </p:cNvPicPr>
          <p:nvPr/>
        </p:nvPicPr>
        <p:blipFill>
          <a:blip r:embed="rId1"/>
          <a:srcRect l="0" r="0" t="0" b="0"/>
          <a:stretch/>
        </p:blipFill>
        <p:spPr>
          <a:xfrm>
            <a:off x="5232400" y="1891060"/>
            <a:ext cx="355600" cy="355600"/>
          </a:xfrm>
          <a:prstGeom prst="rect">
            <a:avLst/>
          </a:prstGeom>
        </p:spPr>
      </p:pic>
      <p:sp>
        <p:nvSpPr>
          <p:cNvPr id="7" name="Text 4"/>
          <p:cNvSpPr/>
          <p:nvPr/>
        </p:nvSpPr>
        <p:spPr>
          <a:xfrm>
            <a:off x="5791200" y="1931690"/>
            <a:ext cx="575564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33"/>
                </a:solidFill>
                <a:latin typeface="Manrope" pitchFamily="34" charset="0"/>
                <a:ea typeface="Manrope" pitchFamily="34" charset="-122"/>
                <a:cs typeface="Manrope" pitchFamily="34" charset="-120"/>
              </a:rPr>
              <a:t>Свой текст:</a:t>
            </a:r>
            <a:r>
              <a:rPr lang="en-US" sz="1600" dirty="0">
                <a:solidFill>
                  <a:srgbClr val="1F2333"/>
                </a:solidFill>
                <a:latin typeface="Manrope" pitchFamily="34" charset="0"/>
                <a:ea typeface="Manrope" pitchFamily="34" charset="-122"/>
                <a:cs typeface="Manrope" pitchFamily="34" charset="-120"/>
              </a:rPr>
              <a:t> заметки, тезисы, цифры</a:t>
            </a:r>
            <a:endParaRPr lang="en-US" sz="1600" dirty="0"/>
          </a:p>
        </p:txBody>
      </p:sp>
      <p:sp>
        <p:nvSpPr>
          <p:cNvPr id="8" name="Shape 5"/>
          <p:cNvSpPr/>
          <p:nvPr/>
        </p:nvSpPr>
        <p:spPr>
          <a:xfrm>
            <a:off x="5232400" y="3230910"/>
            <a:ext cx="6146800" cy="0"/>
          </a:xfrm>
          <a:prstGeom prst="line">
            <a:avLst/>
          </a:prstGeom>
          <a:noFill/>
          <a:ln w="12700">
            <a:solidFill>
              <a:srgbClr val="E4DCCD"/>
            </a:solidFill>
            <a:prstDash val="solid"/>
          </a:ln>
        </p:spPr>
      </p:sp>
      <p:pic>
        <p:nvPicPr>
          <p:cNvPr id="9" name="Image 1" descr="Database">    </p:cNvPr>
          <p:cNvPicPr>
            <a:picLocks noChangeAspect="1"/>
          </p:cNvPicPr>
          <p:nvPr/>
        </p:nvPicPr>
        <p:blipFill>
          <a:blip r:embed="rId2"/>
          <a:srcRect l="0" r="0" t="0" b="0"/>
          <a:stretch/>
        </p:blipFill>
        <p:spPr>
          <a:xfrm>
            <a:off x="5232400" y="2665760"/>
            <a:ext cx="355600" cy="355600"/>
          </a:xfrm>
          <a:prstGeom prst="rect">
            <a:avLst/>
          </a:prstGeom>
        </p:spPr>
      </p:pic>
      <p:sp>
        <p:nvSpPr>
          <p:cNvPr id="10" name="Text 6"/>
          <p:cNvSpPr/>
          <p:nvPr/>
        </p:nvSpPr>
        <p:spPr>
          <a:xfrm>
            <a:off x="5791200" y="2706390"/>
            <a:ext cx="575564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33"/>
                </a:solidFill>
                <a:latin typeface="Manrope" pitchFamily="34" charset="0"/>
                <a:ea typeface="Manrope" pitchFamily="34" charset="-122"/>
                <a:cs typeface="Manrope" pitchFamily="34" charset="-120"/>
              </a:rPr>
              <a:t>Файлы:</a:t>
            </a:r>
            <a:r>
              <a:rPr lang="en-US" sz="1600" dirty="0">
                <a:solidFill>
                  <a:srgbClr val="1F2333"/>
                </a:solidFill>
                <a:latin typeface="Manrope" pitchFamily="34" charset="0"/>
                <a:ea typeface="Manrope" pitchFamily="34" charset="-122"/>
                <a:cs typeface="Manrope" pitchFamily="34" charset="-120"/>
              </a:rPr>
              <a:t> отчёт, регламент, таблица</a:t>
            </a:r>
            <a:endParaRPr lang="en-US" sz="1600" dirty="0"/>
          </a:p>
        </p:txBody>
      </p:sp>
      <p:sp>
        <p:nvSpPr>
          <p:cNvPr id="11" name="Shape 7"/>
          <p:cNvSpPr/>
          <p:nvPr/>
        </p:nvSpPr>
        <p:spPr>
          <a:xfrm>
            <a:off x="5232400" y="4005610"/>
            <a:ext cx="6146800" cy="0"/>
          </a:xfrm>
          <a:prstGeom prst="line">
            <a:avLst/>
          </a:prstGeom>
          <a:noFill/>
          <a:ln w="12700">
            <a:solidFill>
              <a:srgbClr val="E4DCCD"/>
            </a:solidFill>
            <a:prstDash val="solid"/>
          </a:ln>
        </p:spPr>
      </p:sp>
      <p:pic>
        <p:nvPicPr>
          <p:cNvPr id="12" name="Image 2" descr="Star">    </p:cNvPr>
          <p:cNvPicPr>
            <a:picLocks noChangeAspect="1"/>
          </p:cNvPicPr>
          <p:nvPr/>
        </p:nvPicPr>
        <p:blipFill>
          <a:blip r:embed="rId3"/>
          <a:srcRect l="0" r="0" t="0" b="0"/>
          <a:stretch/>
        </p:blipFill>
        <p:spPr>
          <a:xfrm>
            <a:off x="5232400" y="3440460"/>
            <a:ext cx="355600" cy="355600"/>
          </a:xfrm>
          <a:prstGeom prst="rect">
            <a:avLst/>
          </a:prstGeom>
        </p:spPr>
      </p:pic>
      <p:sp>
        <p:nvSpPr>
          <p:cNvPr id="13" name="Text 8"/>
          <p:cNvSpPr/>
          <p:nvPr/>
        </p:nvSpPr>
        <p:spPr>
          <a:xfrm>
            <a:off x="5791200" y="3481090"/>
            <a:ext cx="5755640" cy="29969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33"/>
                </a:solidFill>
                <a:latin typeface="Manrope" pitchFamily="34" charset="0"/>
                <a:ea typeface="Manrope" pitchFamily="34" charset="-122"/>
                <a:cs typeface="Manrope" pitchFamily="34" charset="-120"/>
              </a:rPr>
              <a:t>Пример стиля:</a:t>
            </a:r>
            <a:r>
              <a:rPr lang="en-US" sz="1600" dirty="0">
                <a:solidFill>
                  <a:srgbClr val="1F2333"/>
                </a:solidFill>
                <a:latin typeface="Manrope" pitchFamily="34" charset="0"/>
                <a:ea typeface="Manrope" pitchFamily="34" charset="-122"/>
                <a:cs typeface="Manrope" pitchFamily="34" charset="-120"/>
              </a:rPr>
              <a:t> 2–3 скриншота ваших слайдов</a:t>
            </a:r>
            <a:endParaRPr lang="en-US" sz="1600" dirty="0"/>
          </a:p>
        </p:txBody>
      </p:sp>
      <p:pic>
        <p:nvPicPr>
          <p:cNvPr id="14" name="Image 3" descr="Lock">    </p:cNvPr>
          <p:cNvPicPr>
            <a:picLocks noChangeAspect="1"/>
          </p:cNvPicPr>
          <p:nvPr/>
        </p:nvPicPr>
        <p:blipFill>
          <a:blip r:embed="rId4"/>
          <a:srcRect l="0" r="0" t="0" b="0"/>
          <a:stretch/>
        </p:blipFill>
        <p:spPr>
          <a:xfrm>
            <a:off x="5232400" y="4311650"/>
            <a:ext cx="355600" cy="355600"/>
          </a:xfrm>
          <a:prstGeom prst="rect">
            <a:avLst/>
          </a:prstGeom>
        </p:spPr>
      </p:pic>
      <p:sp>
        <p:nvSpPr>
          <p:cNvPr id="15" name="Text 9"/>
          <p:cNvSpPr/>
          <p:nvPr/>
        </p:nvSpPr>
        <p:spPr>
          <a:xfrm>
            <a:off x="5791200" y="4215160"/>
            <a:ext cx="5755640" cy="57398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F2333"/>
                </a:solidFill>
                <a:latin typeface="Manrope" pitchFamily="34" charset="0"/>
                <a:ea typeface="Manrope" pitchFamily="34" charset="-122"/>
                <a:cs typeface="Manrope" pitchFamily="34" charset="-120"/>
              </a:rPr>
              <a:t>Ограничения:</a:t>
            </a:r>
            <a:r>
              <a:rPr lang="en-US" sz="1600" dirty="0">
                <a:solidFill>
                  <a:srgbClr val="1F2333"/>
                </a:solidFill>
                <a:latin typeface="Manrope" pitchFamily="34" charset="0"/>
                <a:ea typeface="Manrope" pitchFamily="34" charset="-122"/>
                <a:cs typeface="Manrope" pitchFamily="34" charset="-120"/>
              </a:rPr>
              <a:t> что менять нельзя и чего нельзя придумывать</a:t>
            </a:r>
            <a:endParaRPr lang="en-US" sz="1600" dirty="0"/>
          </a:p>
        </p:txBody>
      </p:sp>
      <p:sp>
        <p:nvSpPr>
          <p:cNvPr id="16" name="Text 10"/>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1"/>
          <p:cNvSpPr/>
          <p:nvPr/>
        </p:nvSpPr>
        <p:spPr>
          <a:xfrm>
            <a:off x="11182052" y="6238280"/>
            <a:ext cx="19714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ЗАПРОС</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Как выглядит запрос без тумана</a:t>
            </a:r>
            <a:endParaRPr lang="en-US" sz="3000" dirty="0"/>
          </a:p>
        </p:txBody>
      </p:sp>
      <p:sp>
        <p:nvSpPr>
          <p:cNvPr id="4" name="Shape 2"/>
          <p:cNvSpPr/>
          <p:nvPr/>
        </p:nvSpPr>
        <p:spPr>
          <a:xfrm>
            <a:off x="812800" y="1896070"/>
            <a:ext cx="10566400" cy="1163290"/>
          </a:xfrm>
          <a:prstGeom prst="roundRect">
            <a:avLst>
              <a:gd name="adj" fmla="val 13101"/>
            </a:avLst>
          </a:prstGeom>
          <a:solidFill>
            <a:srgbClr val="E9E3D8"/>
          </a:solidFill>
          <a:ln/>
        </p:spPr>
      </p:sp>
      <p:sp>
        <p:nvSpPr>
          <p:cNvPr id="5" name="Text 3"/>
          <p:cNvSpPr/>
          <p:nvPr/>
        </p:nvSpPr>
        <p:spPr>
          <a:xfrm>
            <a:off x="1117600" y="2362150"/>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6E6A5E"/>
                </a:solidFill>
                <a:latin typeface="Manrope" pitchFamily="34" charset="0"/>
                <a:ea typeface="Manrope" pitchFamily="34" charset="-122"/>
                <a:cs typeface="Manrope" pitchFamily="34" charset="-120"/>
              </a:rPr>
              <a:t>РАСПЛЫВЧАТО</a:t>
            </a:r>
            <a:endParaRPr lang="en-US" sz="1300" dirty="0"/>
          </a:p>
        </p:txBody>
      </p:sp>
      <p:sp>
        <p:nvSpPr>
          <p:cNvPr id="6" name="Text 4"/>
          <p:cNvSpPr/>
          <p:nvPr/>
        </p:nvSpPr>
        <p:spPr>
          <a:xfrm>
            <a:off x="2946400" y="2150070"/>
            <a:ext cx="837184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6E6A5E"/>
                </a:solidFill>
                <a:latin typeface="Manrope" pitchFamily="34" charset="0"/>
                <a:ea typeface="Manrope" pitchFamily="34" charset="-122"/>
                <a:cs typeface="Manrope" pitchFamily="34" charset="-120"/>
              </a:rPr>
              <a:t>«Сделай красиво про ИИ»</a:t>
            </a:r>
            <a:endParaRPr lang="en-US" sz="2000" dirty="0"/>
          </a:p>
        </p:txBody>
      </p:sp>
      <p:sp>
        <p:nvSpPr>
          <p:cNvPr id="7" name="Text 5"/>
          <p:cNvSpPr/>
          <p:nvPr/>
        </p:nvSpPr>
        <p:spPr>
          <a:xfrm>
            <a:off x="2946400" y="2556470"/>
            <a:ext cx="83718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061"/>
                </a:solidFill>
                <a:latin typeface="Manrope" pitchFamily="34" charset="0"/>
                <a:ea typeface="Manrope" pitchFamily="34" charset="-122"/>
                <a:cs typeface="Manrope" pitchFamily="34" charset="-120"/>
              </a:rPr>
              <a:t>Модель не знает, из чего собирать и что важно. Получится общий текст.</a:t>
            </a:r>
            <a:endParaRPr lang="en-US" sz="1400" dirty="0"/>
          </a:p>
        </p:txBody>
      </p:sp>
      <p:sp>
        <p:nvSpPr>
          <p:cNvPr id="8" name="Shape 6"/>
          <p:cNvSpPr/>
          <p:nvPr/>
        </p:nvSpPr>
        <p:spPr>
          <a:xfrm>
            <a:off x="812800" y="3237161"/>
            <a:ext cx="10566400" cy="2604839"/>
          </a:xfrm>
          <a:prstGeom prst="roundRect">
            <a:avLst>
              <a:gd name="adj" fmla="val 5851"/>
            </a:avLst>
          </a:prstGeom>
          <a:solidFill>
            <a:srgbClr val="1F2333"/>
          </a:solidFill>
          <a:ln/>
        </p:spPr>
      </p:sp>
      <p:sp>
        <p:nvSpPr>
          <p:cNvPr id="9" name="Text 7"/>
          <p:cNvSpPr/>
          <p:nvPr/>
        </p:nvSpPr>
        <p:spPr>
          <a:xfrm>
            <a:off x="1117600" y="4424015"/>
            <a:ext cx="1574800"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4A261"/>
                </a:solidFill>
                <a:latin typeface="Manrope" pitchFamily="34" charset="0"/>
                <a:ea typeface="Manrope" pitchFamily="34" charset="-122"/>
                <a:cs typeface="Manrope" pitchFamily="34" charset="-120"/>
              </a:rPr>
              <a:t>ПОНЯТНО</a:t>
            </a:r>
            <a:endParaRPr lang="en-US" sz="1300" dirty="0"/>
          </a:p>
        </p:txBody>
      </p:sp>
      <p:sp>
        <p:nvSpPr>
          <p:cNvPr id="10" name="Text 8"/>
          <p:cNvSpPr/>
          <p:nvPr/>
        </p:nvSpPr>
        <p:spPr>
          <a:xfrm>
            <a:off x="2946400" y="4196655"/>
            <a:ext cx="8371840" cy="7112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F6F2EA"/>
                </a:solidFill>
                <a:latin typeface="Manrope" pitchFamily="34" charset="0"/>
                <a:ea typeface="Manrope" pitchFamily="34" charset="-122"/>
                <a:cs typeface="Manrope" pitchFamily="34" charset="-120"/>
              </a:rPr>
              <a:t>«Собери пять слайдов по заметкам из файла. Используй только их, цифры не меняй. Пропуски вынеси в вопросы».</a:t>
            </a:r>
            <a:endParaRPr lang="en-US" sz="2000" dirty="0"/>
          </a:p>
        </p:txBody>
      </p:sp>
      <p:sp>
        <p:nvSpPr>
          <p:cNvPr id="11" name="Text 9"/>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2" name="Text 10"/>
          <p:cNvSpPr/>
          <p:nvPr/>
        </p:nvSpPr>
        <p:spPr>
          <a:xfrm>
            <a:off x="11184682" y="6238280"/>
            <a:ext cx="1945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ШАГ 2 · ПЕРЕД ГЕНЕРАЦИЕЙ</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Затем выберите настройки</a:t>
            </a:r>
            <a:endParaRPr lang="en-US" sz="3000" dirty="0"/>
          </a:p>
        </p:txBody>
      </p:sp>
      <p:sp>
        <p:nvSpPr>
          <p:cNvPr id="4" name="Shape 2"/>
          <p:cNvSpPr/>
          <p:nvPr/>
        </p:nvSpPr>
        <p:spPr>
          <a:xfrm>
            <a:off x="815975" y="1899245"/>
            <a:ext cx="3414167" cy="1890415"/>
          </a:xfrm>
          <a:prstGeom prst="roundRect">
            <a:avLst>
              <a:gd name="adj" fmla="val 7894"/>
            </a:avLst>
          </a:prstGeom>
          <a:solidFill>
            <a:srgbClr val="FFFDF8"/>
          </a:solidFill>
          <a:ln w="6350">
            <a:solidFill>
              <a:srgbClr val="E4DCCD"/>
            </a:solidFill>
            <a:prstDash val="solid"/>
          </a:ln>
        </p:spPr>
      </p:sp>
      <p:sp>
        <p:nvSpPr>
          <p:cNvPr id="5" name="Text 3"/>
          <p:cNvSpPr/>
          <p:nvPr/>
        </p:nvSpPr>
        <p:spPr>
          <a:xfrm>
            <a:off x="1047750" y="2105620"/>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Число слайдов</a:t>
            </a:r>
            <a:endParaRPr lang="en-US" sz="1600" dirty="0"/>
          </a:p>
        </p:txBody>
      </p:sp>
      <p:sp>
        <p:nvSpPr>
          <p:cNvPr id="6" name="Text 4"/>
          <p:cNvSpPr/>
          <p:nvPr/>
        </p:nvSpPr>
        <p:spPr>
          <a:xfrm>
            <a:off x="1047750" y="2425650"/>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Для тренировки берём пять: их легко проверить целиком.</a:t>
            </a:r>
            <a:endParaRPr lang="en-US" sz="1300" dirty="0"/>
          </a:p>
        </p:txBody>
      </p:sp>
      <p:sp>
        <p:nvSpPr>
          <p:cNvPr id="7" name="Shape 5"/>
          <p:cNvSpPr/>
          <p:nvPr/>
        </p:nvSpPr>
        <p:spPr>
          <a:xfrm>
            <a:off x="4388892" y="1899245"/>
            <a:ext cx="3414167" cy="1890415"/>
          </a:xfrm>
          <a:prstGeom prst="roundRect">
            <a:avLst>
              <a:gd name="adj" fmla="val 7894"/>
            </a:avLst>
          </a:prstGeom>
          <a:solidFill>
            <a:srgbClr val="FFFDF8"/>
          </a:solidFill>
          <a:ln w="6350">
            <a:solidFill>
              <a:srgbClr val="E4DCCD"/>
            </a:solidFill>
            <a:prstDash val="solid"/>
          </a:ln>
        </p:spPr>
      </p:sp>
      <p:sp>
        <p:nvSpPr>
          <p:cNvPr id="8" name="Text 6"/>
          <p:cNvSpPr/>
          <p:nvPr/>
        </p:nvSpPr>
        <p:spPr>
          <a:xfrm>
            <a:off x="4620667" y="2105620"/>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Объём текста</a:t>
            </a:r>
            <a:endParaRPr lang="en-US" sz="1600" dirty="0"/>
          </a:p>
        </p:txBody>
      </p:sp>
      <p:sp>
        <p:nvSpPr>
          <p:cNvPr id="9" name="Text 7"/>
          <p:cNvSpPr/>
          <p:nvPr/>
        </p:nvSpPr>
        <p:spPr>
          <a:xfrm>
            <a:off x="4620667" y="2425650"/>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Кратко, средне или подробно на каждом слайде.</a:t>
            </a:r>
            <a:endParaRPr lang="en-US" sz="1300" dirty="0"/>
          </a:p>
        </p:txBody>
      </p:sp>
      <p:sp>
        <p:nvSpPr>
          <p:cNvPr id="10" name="Shape 8"/>
          <p:cNvSpPr/>
          <p:nvPr/>
        </p:nvSpPr>
        <p:spPr>
          <a:xfrm>
            <a:off x="7961809" y="1899245"/>
            <a:ext cx="3414216" cy="1890415"/>
          </a:xfrm>
          <a:prstGeom prst="roundRect">
            <a:avLst>
              <a:gd name="adj" fmla="val 7894"/>
            </a:avLst>
          </a:prstGeom>
          <a:solidFill>
            <a:srgbClr val="FFFDF8"/>
          </a:solidFill>
          <a:ln w="6350">
            <a:solidFill>
              <a:srgbClr val="E4DCCD"/>
            </a:solidFill>
            <a:prstDash val="solid"/>
          </a:ln>
        </p:spPr>
      </p:sp>
      <p:sp>
        <p:nvSpPr>
          <p:cNvPr id="11" name="Text 9"/>
          <p:cNvSpPr/>
          <p:nvPr/>
        </p:nvSpPr>
        <p:spPr>
          <a:xfrm>
            <a:off x="8193584" y="2105620"/>
            <a:ext cx="30391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Язык</a:t>
            </a:r>
            <a:endParaRPr lang="en-US" sz="1600" dirty="0"/>
          </a:p>
        </p:txBody>
      </p:sp>
      <p:sp>
        <p:nvSpPr>
          <p:cNvPr id="12" name="Text 10"/>
          <p:cNvSpPr/>
          <p:nvPr/>
        </p:nvSpPr>
        <p:spPr>
          <a:xfrm>
            <a:off x="8193584" y="2425650"/>
            <a:ext cx="303918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Задайте явно, иначе часть текста может уйти на английский.</a:t>
            </a:r>
            <a:endParaRPr lang="en-US" sz="1300" dirty="0"/>
          </a:p>
        </p:txBody>
      </p:sp>
      <p:sp>
        <p:nvSpPr>
          <p:cNvPr id="13" name="Shape 11"/>
          <p:cNvSpPr/>
          <p:nvPr/>
        </p:nvSpPr>
        <p:spPr>
          <a:xfrm>
            <a:off x="815975" y="3948410"/>
            <a:ext cx="3414167" cy="1890415"/>
          </a:xfrm>
          <a:prstGeom prst="roundRect">
            <a:avLst>
              <a:gd name="adj" fmla="val 7894"/>
            </a:avLst>
          </a:prstGeom>
          <a:solidFill>
            <a:srgbClr val="FFFDF8"/>
          </a:solidFill>
          <a:ln w="6350">
            <a:solidFill>
              <a:srgbClr val="E4DCCD"/>
            </a:solidFill>
            <a:prstDash val="solid"/>
          </a:ln>
        </p:spPr>
      </p:sp>
      <p:sp>
        <p:nvSpPr>
          <p:cNvPr id="14" name="Text 12"/>
          <p:cNvSpPr/>
          <p:nvPr/>
        </p:nvSpPr>
        <p:spPr>
          <a:xfrm>
            <a:off x="1047750" y="4154785"/>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Тема и стиль</a:t>
            </a:r>
            <a:endParaRPr lang="en-US" sz="1600" dirty="0"/>
          </a:p>
        </p:txBody>
      </p:sp>
      <p:sp>
        <p:nvSpPr>
          <p:cNvPr id="15" name="Text 13"/>
          <p:cNvSpPr/>
          <p:nvPr/>
        </p:nvSpPr>
        <p:spPr>
          <a:xfrm>
            <a:off x="1047750" y="4474815"/>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Готовая тема сервиса или ваш референс.</a:t>
            </a:r>
            <a:endParaRPr lang="en-US" sz="1300" dirty="0"/>
          </a:p>
        </p:txBody>
      </p:sp>
      <p:sp>
        <p:nvSpPr>
          <p:cNvPr id="16" name="Shape 14"/>
          <p:cNvSpPr/>
          <p:nvPr/>
        </p:nvSpPr>
        <p:spPr>
          <a:xfrm>
            <a:off x="4388892" y="3948410"/>
            <a:ext cx="3414167" cy="1890415"/>
          </a:xfrm>
          <a:prstGeom prst="roundRect">
            <a:avLst>
              <a:gd name="adj" fmla="val 7894"/>
            </a:avLst>
          </a:prstGeom>
          <a:solidFill>
            <a:srgbClr val="FFFDF8"/>
          </a:solidFill>
          <a:ln w="6350">
            <a:solidFill>
              <a:srgbClr val="E4DCCD"/>
            </a:solidFill>
            <a:prstDash val="solid"/>
          </a:ln>
        </p:spPr>
      </p:sp>
      <p:sp>
        <p:nvSpPr>
          <p:cNvPr id="17" name="Text 15"/>
          <p:cNvSpPr/>
          <p:nvPr/>
        </p:nvSpPr>
        <p:spPr>
          <a:xfrm>
            <a:off x="4620667" y="4154785"/>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Картинки</a:t>
            </a:r>
            <a:endParaRPr lang="en-US" sz="1600" dirty="0"/>
          </a:p>
        </p:txBody>
      </p:sp>
      <p:sp>
        <p:nvSpPr>
          <p:cNvPr id="18" name="Text 16"/>
          <p:cNvSpPr/>
          <p:nvPr/>
        </p:nvSpPr>
        <p:spPr>
          <a:xfrm>
            <a:off x="4620667" y="4474815"/>
            <a:ext cx="303913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Сгенерировать, взять из библиотеки или обойтись без них.</a:t>
            </a:r>
            <a:endParaRPr lang="en-US" sz="1300" dirty="0"/>
          </a:p>
        </p:txBody>
      </p:sp>
      <p:sp>
        <p:nvSpPr>
          <p:cNvPr id="19" name="Shape 17"/>
          <p:cNvSpPr/>
          <p:nvPr/>
        </p:nvSpPr>
        <p:spPr>
          <a:xfrm>
            <a:off x="7958634" y="3945235"/>
            <a:ext cx="3420566" cy="1896765"/>
          </a:xfrm>
          <a:prstGeom prst="roundRect">
            <a:avLst>
              <a:gd name="adj" fmla="val 8035"/>
            </a:avLst>
          </a:prstGeom>
          <a:solidFill>
            <a:srgbClr val="1F2333"/>
          </a:solidFill>
          <a:ln/>
        </p:spPr>
      </p:sp>
      <p:sp>
        <p:nvSpPr>
          <p:cNvPr id="20" name="Text 18"/>
          <p:cNvSpPr/>
          <p:nvPr/>
        </p:nvSpPr>
        <p:spPr>
          <a:xfrm>
            <a:off x="8187234" y="4148435"/>
            <a:ext cx="30522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61"/>
                </a:solidFill>
                <a:latin typeface="Manrope" pitchFamily="34" charset="0"/>
                <a:ea typeface="Manrope" pitchFamily="34" charset="-122"/>
                <a:cs typeface="Manrope" pitchFamily="34" charset="-120"/>
              </a:rPr>
              <a:t>Выгрузка</a:t>
            </a:r>
            <a:endParaRPr lang="en-US" sz="1600" dirty="0"/>
          </a:p>
        </p:txBody>
      </p:sp>
      <p:sp>
        <p:nvSpPr>
          <p:cNvPr id="21" name="Text 19"/>
          <p:cNvSpPr/>
          <p:nvPr/>
        </p:nvSpPr>
        <p:spPr>
          <a:xfrm>
            <a:off x="8187234" y="4468465"/>
            <a:ext cx="305226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2EA"/>
                </a:solidFill>
                <a:latin typeface="Manrope" pitchFamily="34" charset="0"/>
                <a:ea typeface="Manrope" pitchFamily="34" charset="-122"/>
                <a:cs typeface="Manrope" pitchFamily="34" charset="-120"/>
              </a:rPr>
              <a:t>PPTX, PDF или ссылка. Проверьте до того, как потратите генерацию.</a:t>
            </a:r>
            <a:endParaRPr lang="en-US" sz="1300" dirty="0"/>
          </a:p>
        </p:txBody>
      </p:sp>
      <p:sp>
        <p:nvSpPr>
          <p:cNvPr id="22" name="Text 20"/>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23" name="Text 21"/>
          <p:cNvSpPr/>
          <p:nvPr/>
        </p:nvSpPr>
        <p:spPr>
          <a:xfrm>
            <a:off x="11179076" y="6238280"/>
            <a:ext cx="20012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CHATGPT</a:t>
            </a:r>
            <a:endParaRPr lang="en-US" sz="1200" dirty="0"/>
          </a:p>
        </p:txBody>
      </p:sp>
      <p:sp>
        <p:nvSpPr>
          <p:cNvPr id="4" name="Text 2"/>
          <p:cNvSpPr/>
          <p:nvPr/>
        </p:nvSpPr>
        <p:spPr>
          <a:xfrm>
            <a:off x="1168400" y="4099570"/>
            <a:ext cx="266852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A261"/>
                </a:solidFill>
                <a:latin typeface="Unbounded" pitchFamily="34" charset="0"/>
                <a:ea typeface="Unbounded" pitchFamily="34" charset="-122"/>
                <a:cs typeface="Unbounded" pitchFamily="34" charset="-120"/>
              </a:rPr>
              <a:t>8</a:t>
            </a:r>
            <a:endParaRPr lang="en-US" sz="8000" dirty="0"/>
          </a:p>
        </p:txBody>
      </p:sp>
      <p:sp>
        <p:nvSpPr>
          <p:cNvPr id="5" name="Text 3"/>
          <p:cNvSpPr/>
          <p:nvPr/>
        </p:nvSpPr>
        <p:spPr>
          <a:xfrm>
            <a:off x="1168400" y="5166370"/>
            <a:ext cx="266852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2EA"/>
                </a:solidFill>
                <a:latin typeface="Manrope" pitchFamily="34" charset="0"/>
                <a:ea typeface="Manrope" pitchFamily="34" charset="-122"/>
                <a:cs typeface="Manrope" pitchFamily="34" charset="-120"/>
              </a:rPr>
              <a:t>минут</a:t>
            </a:r>
            <a:endParaRPr lang="en-US" sz="1800" dirty="0"/>
          </a:p>
        </p:txBody>
      </p:sp>
      <p:sp>
        <p:nvSpPr>
          <p:cNvPr id="6" name="Text 4"/>
          <p:cNvSpPr/>
          <p:nvPr>
            <p:ph type="title"/>
          </p:nvPr>
        </p:nvSpPr>
        <p:spPr>
          <a:xfrm>
            <a:off x="4622800" y="812800"/>
            <a:ext cx="69590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Соберите историю из заметок</a:t>
            </a:r>
            <a:endParaRPr lang="en-US" sz="2800" dirty="0"/>
          </a:p>
        </p:txBody>
      </p:sp>
      <p:sp>
        <p:nvSpPr>
          <p:cNvPr id="7" name="Text 5"/>
          <p:cNvSpPr/>
          <p:nvPr/>
        </p:nvSpPr>
        <p:spPr>
          <a:xfrm>
            <a:off x="4622800" y="18846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8" name="Text 6"/>
          <p:cNvSpPr/>
          <p:nvPr/>
        </p:nvSpPr>
        <p:spPr>
          <a:xfrm>
            <a:off x="5156200" y="188466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Откройте chatgpt.com и вставьте исходник «Итоги пилота».</a:t>
            </a:r>
            <a:endParaRPr lang="en-US" sz="1600" dirty="0"/>
          </a:p>
        </p:txBody>
      </p:sp>
      <p:sp>
        <p:nvSpPr>
          <p:cNvPr id="9" name="Text 7"/>
          <p:cNvSpPr/>
          <p:nvPr/>
        </p:nvSpPr>
        <p:spPr>
          <a:xfrm>
            <a:off x="4622800" y="24180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0" name="Text 8"/>
          <p:cNvSpPr/>
          <p:nvPr/>
        </p:nvSpPr>
        <p:spPr>
          <a:xfrm>
            <a:off x="5156200" y="241806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Выполните запрос №1: структура на пять слайдов.</a:t>
            </a:r>
            <a:endParaRPr lang="en-US" sz="1600" dirty="0"/>
          </a:p>
        </p:txBody>
      </p:sp>
      <p:sp>
        <p:nvSpPr>
          <p:cNvPr id="11" name="Text 9"/>
          <p:cNvSpPr/>
          <p:nvPr/>
        </p:nvSpPr>
        <p:spPr>
          <a:xfrm>
            <a:off x="4622800" y="29514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2" name="Text 10"/>
          <p:cNvSpPr/>
          <p:nvPr/>
        </p:nvSpPr>
        <p:spPr>
          <a:xfrm>
            <a:off x="5156200" y="295146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Сверьте все числа с исходником. Сохраните текст — он пойдёт в Gamma.</a:t>
            </a:r>
            <a:endParaRPr lang="en-US" sz="1600" dirty="0"/>
          </a:p>
        </p:txBody>
      </p:sp>
      <p:sp>
        <p:nvSpPr>
          <p:cNvPr id="13" name="Text 11"/>
          <p:cNvSpPr/>
          <p:nvPr/>
        </p:nvSpPr>
        <p:spPr>
          <a:xfrm>
            <a:off x="4622800" y="5610870"/>
            <a:ext cx="69590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A5E"/>
                </a:solidFill>
                <a:latin typeface="Manrope" pitchFamily="34" charset="0"/>
                <a:ea typeface="Manrope" pitchFamily="34" charset="-122"/>
                <a:cs typeface="Manrope" pitchFamily="34" charset="-120"/>
              </a:rPr>
              <a:t>Готовые запросы и учебные файлы — в практикуме.</a:t>
            </a:r>
            <a:endParaRPr lang="en-US" sz="1300" dirty="0"/>
          </a:p>
        </p:txBody>
      </p:sp>
      <p:sp>
        <p:nvSpPr>
          <p:cNvPr id="14" name="Text 12"/>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5" name="Text 13"/>
          <p:cNvSpPr/>
          <p:nvPr/>
        </p:nvSpPr>
        <p:spPr>
          <a:xfrm>
            <a:off x="11180911" y="6238280"/>
            <a:ext cx="19828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ШПАРГАЛКА</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Три запроса на все случаи</a:t>
            </a:r>
            <a:endParaRPr lang="en-US" sz="3000" dirty="0"/>
          </a:p>
        </p:txBody>
      </p:sp>
      <p:sp>
        <p:nvSpPr>
          <p:cNvPr id="4" name="Shape 2"/>
          <p:cNvSpPr/>
          <p:nvPr/>
        </p:nvSpPr>
        <p:spPr>
          <a:xfrm>
            <a:off x="812800" y="1845270"/>
            <a:ext cx="10566400" cy="2203053"/>
          </a:xfrm>
          <a:prstGeom prst="roundRect">
            <a:avLst>
              <a:gd name="adj" fmla="val 5765"/>
            </a:avLst>
          </a:prstGeom>
          <a:solidFill>
            <a:srgbClr val="FFFDF8"/>
          </a:solidFill>
          <a:ln/>
        </p:spPr>
      </p:sp>
      <p:sp>
        <p:nvSpPr>
          <p:cNvPr id="5" name="Shape 3"/>
          <p:cNvSpPr/>
          <p:nvPr/>
        </p:nvSpPr>
        <p:spPr>
          <a:xfrm>
            <a:off x="812800" y="1845270"/>
            <a:ext cx="10566400" cy="2203053"/>
          </a:xfrm>
          <a:custGeom>
            <a:avLst/>
            <a:gdLst/>
            <a:ahLst/>
            <a:cxnLst/>
            <a:rect l="l" t="t" r="r" b="b"/>
            <a:pathLst>
              <a:path w="10566400" h="2203053">
                <a:moveTo>
                  <a:pt x="10439400" y="0"/>
                </a:moveTo>
                <a:lnTo>
                  <a:pt x="10439400" y="0"/>
                </a:lnTo>
                <a:arcTo hR="127000" wR="127000" stAng="16200000" swAng="5400000"/>
                <a:lnTo>
                  <a:pt x="10566400" y="2076053"/>
                </a:lnTo>
                <a:arcTo hR="127000" wR="127000" stAng="0" swAng="5400000"/>
                <a:lnTo>
                  <a:pt x="127000" y="2203053"/>
                </a:lnTo>
                <a:arcTo hR="127000" wR="127000" stAng="5400000" swAng="5400000"/>
                <a:lnTo>
                  <a:pt x="0" y="2076053"/>
                </a:lnTo>
                <a:arcTo hR="120650" wR="127000" stAng="10800000" swAng="-5400000"/>
                <a:lnTo>
                  <a:pt x="10439400" y="2196703"/>
                </a:lnTo>
                <a:arcTo hR="120650" wR="120650" stAng="5400000" swAng="-5400000"/>
                <a:lnTo>
                  <a:pt x="10560050" y="127000"/>
                </a:lnTo>
                <a:arcTo hR="127000" wR="120650" stAng="0" swAng="-5400000"/>
                <a:close/>
              </a:path>
            </a:pathLst>
          </a:custGeom>
          <a:solidFill>
            <a:srgbClr val="E4DCCD"/>
          </a:solidFill>
          <a:ln/>
        </p:spPr>
      </p:sp>
      <p:sp>
        <p:nvSpPr>
          <p:cNvPr id="6" name="Shape 4"/>
          <p:cNvSpPr/>
          <p:nvPr/>
        </p:nvSpPr>
        <p:spPr>
          <a:xfrm>
            <a:off x="812800" y="1845270"/>
            <a:ext cx="10566400" cy="2203053"/>
          </a:xfrm>
          <a:custGeom>
            <a:avLst/>
            <a:gdLst/>
            <a:ahLst/>
            <a:cxnLst/>
            <a:rect l="l" t="t" r="r" b="b"/>
            <a:pathLst>
              <a:path w="10566400" h="2203053">
                <a:moveTo>
                  <a:pt x="127000" y="2203053"/>
                </a:moveTo>
                <a:lnTo>
                  <a:pt x="127000" y="2203053"/>
                </a:lnTo>
                <a:arcTo hR="127000" wR="127000" stAng="5400000" swAng="5400000"/>
                <a:lnTo>
                  <a:pt x="0" y="127000"/>
                </a:lnTo>
                <a:arcTo hR="127000" wR="127000" stAng="10800000" swAng="5400000"/>
                <a:lnTo>
                  <a:pt x="10439400" y="0"/>
                </a:lnTo>
                <a:arcTo hR="127000" wR="127000" stAng="16200000" swAng="5400000"/>
                <a:lnTo>
                  <a:pt x="10566400" y="127000"/>
                </a:lnTo>
                <a:arcTo hR="114300" wR="127000" stAng="0" swAng="-5400000"/>
                <a:lnTo>
                  <a:pt x="127000" y="12700"/>
                </a:lnTo>
                <a:arcTo hR="114300" wR="114300" stAng="16200000" swAng="-5400000"/>
                <a:lnTo>
                  <a:pt x="12700" y="2076053"/>
                </a:lnTo>
                <a:arcTo hR="127000" wR="1143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57970"/>
          <a:ext cx="10547350" cy="2184003"/>
        </p:xfrm>
        <a:graphic>
          <a:graphicData uri="http://schemas.openxmlformats.org/drawingml/2006/table">
            <a:tbl>
              <a:tblPr/>
              <a:tblGrid>
                <a:gridCol w="2320417"/>
                <a:gridCol w="1898523"/>
                <a:gridCol w="6328410"/>
              </a:tblGrid>
              <a:tr h="332680">
                <a:tc>
                  <a:txBody>
                    <a:bodyPr/>
                    <a:lstStyle/>
                    <a:p>
                      <a:pPr indent="0" marL="0">
                        <a:lnSpc>
                          <a:spcPts val="1680"/>
                        </a:lnSpc>
                        <a:buNone/>
                      </a:pPr>
                      <a:r>
                        <a:rPr lang="en-US" sz="1200" b="1" dirty="0">
                          <a:solidFill>
                            <a:srgbClr val="1F2333"/>
                          </a:solidFill>
                          <a:latin typeface="Manrope" pitchFamily="34" charset="0"/>
                          <a:ea typeface="Manrope" pitchFamily="34" charset="-122"/>
                          <a:cs typeface="Manrope" pitchFamily="34" charset="-120"/>
                        </a:rPr>
                        <a:t>Когда</a:t>
                      </a:r>
                      <a:endParaRPr lang="en-US" sz="1200" dirty="0">
                        <a:latin typeface="Manrope" charset="0"/>
                        <a:ea typeface="Manrope" charset="0"/>
                        <a:cs typeface="Manrope" charset="0"/>
                      </a:endParaRPr>
                    </a:p>
                  </a:txBody>
                  <a:tcPr marL="53340" marR="53340" marT="53340" marB="53340" anchor="t">
                    <a:lnL w="0" cap="flat" cmpd="sng" algn="ctr">
                      <a:noFill/>
                    </a:lnL>
                    <a:lnR w="12700" cap="flat" cmpd="sng" algn="ctr">
                      <a:solidFill>
                        <a:srgbClr val="BDB7AB"/>
                      </a:solidFill>
                      <a:prstDash val="solid"/>
                      <a:round/>
                      <a:headEnd type="none" w="med" len="med"/>
                      <a:tailEnd type="none" w="med" len="med"/>
                    </a:lnR>
                    <a:lnT w="0" cap="flat" cmpd="sng" algn="ctr">
                      <a:noFill/>
                    </a:lnT>
                    <a:lnB w="12700" cap="flat" cmpd="sng" algn="ctr">
                      <a:solidFill>
                        <a:srgbClr val="BDB7AB"/>
                      </a:solidFill>
                      <a:prstDash val="solid"/>
                      <a:round/>
                      <a:headEnd type="none" w="med" len="med"/>
                      <a:tailEnd type="none" w="med" len="med"/>
                    </a:lnB>
                    <a:solidFill>
                      <a:srgbClr val="EDE5D6"/>
                    </a:solidFill>
                  </a:tcPr>
                </a:tc>
                <a:tc>
                  <a:txBody>
                    <a:bodyPr/>
                    <a:lstStyle/>
                    <a:p>
                      <a:pPr indent="0" marL="0">
                        <a:lnSpc>
                          <a:spcPts val="1680"/>
                        </a:lnSpc>
                        <a:buNone/>
                      </a:pPr>
                      <a:r>
                        <a:rPr lang="en-US" sz="1200" b="1" dirty="0">
                          <a:solidFill>
                            <a:srgbClr val="1F2333"/>
                          </a:solidFill>
                          <a:latin typeface="Manrope" pitchFamily="34" charset="0"/>
                          <a:ea typeface="Manrope" pitchFamily="34" charset="-122"/>
                          <a:cs typeface="Manrope" pitchFamily="34" charset="-120"/>
                        </a:rPr>
                        <a:t>Что получите</a:t>
                      </a:r>
                      <a:endParaRPr lang="en-US" sz="1200" dirty="0">
                        <a:latin typeface="Manrope" charset="0"/>
                        <a:ea typeface="Manrope" charset="0"/>
                        <a:cs typeface="Manrope" charset="0"/>
                      </a:endParaRPr>
                    </a:p>
                  </a:txBody>
                  <a:tcPr marL="53340" marR="53340" marT="53340" marB="53340" anchor="t">
                    <a:lnL w="12700" cap="flat" cmpd="sng" algn="ctr">
                      <a:solidFill>
                        <a:srgbClr val="BDB7AB"/>
                      </a:solidFill>
                      <a:prstDash val="solid"/>
                      <a:round/>
                      <a:headEnd type="none" w="med" len="med"/>
                      <a:tailEnd type="none" w="med" len="med"/>
                    </a:lnL>
                    <a:lnR w="12700" cap="flat" cmpd="sng" algn="ctr">
                      <a:solidFill>
                        <a:srgbClr val="BDB7AB"/>
                      </a:solidFill>
                      <a:prstDash val="solid"/>
                      <a:round/>
                      <a:headEnd type="none" w="med" len="med"/>
                      <a:tailEnd type="none" w="med" len="med"/>
                    </a:lnR>
                    <a:lnT w="0" cap="flat" cmpd="sng" algn="ctr">
                      <a:noFill/>
                    </a:lnT>
                    <a:lnB w="12700" cap="flat" cmpd="sng" algn="ctr">
                      <a:solidFill>
                        <a:srgbClr val="BDB7AB"/>
                      </a:solidFill>
                      <a:prstDash val="solid"/>
                      <a:round/>
                      <a:headEnd type="none" w="med" len="med"/>
                      <a:tailEnd type="none" w="med" len="med"/>
                    </a:lnB>
                    <a:solidFill>
                      <a:srgbClr val="EDE5D6"/>
                    </a:solidFill>
                  </a:tcPr>
                </a:tc>
                <a:tc>
                  <a:txBody>
                    <a:bodyPr/>
                    <a:lstStyle/>
                    <a:p>
                      <a:pPr indent="0" marL="0">
                        <a:lnSpc>
                          <a:spcPts val="1680"/>
                        </a:lnSpc>
                        <a:buNone/>
                      </a:pPr>
                      <a:r>
                        <a:rPr lang="en-US" sz="1200" b="1" dirty="0">
                          <a:solidFill>
                            <a:srgbClr val="1F2333"/>
                          </a:solidFill>
                          <a:latin typeface="Manrope" pitchFamily="34" charset="0"/>
                          <a:ea typeface="Manrope" pitchFamily="34" charset="-122"/>
                          <a:cs typeface="Manrope" pitchFamily="34" charset="-120"/>
                        </a:rPr>
                        <a:t>Текст запроса</a:t>
                      </a:r>
                      <a:endParaRPr lang="en-US" sz="1200" dirty="0">
                        <a:latin typeface="Manrope" charset="0"/>
                        <a:ea typeface="Manrope" charset="0"/>
                        <a:cs typeface="Manrope" charset="0"/>
                      </a:endParaRPr>
                    </a:p>
                  </a:txBody>
                  <a:tcPr marL="53340" marR="53340" marT="53340" marB="53340" anchor="t">
                    <a:lnL w="12700" cap="flat" cmpd="sng" algn="ctr">
                      <a:solidFill>
                        <a:srgbClr val="BDB7AB"/>
                      </a:solidFill>
                      <a:prstDash val="solid"/>
                      <a:round/>
                      <a:headEnd type="none" w="med" len="med"/>
                      <a:tailEnd type="none" w="med" len="med"/>
                    </a:lnL>
                    <a:lnR w="12700" cap="flat" cmpd="sng" algn="ctr">
                      <a:solidFill>
                        <a:srgbClr val="BDB7AB"/>
                      </a:solidFill>
                      <a:prstDash val="solid"/>
                      <a:round/>
                      <a:headEnd type="none" w="med" len="med"/>
                      <a:tailEnd type="none" w="med" len="med"/>
                    </a:lnR>
                    <a:lnT w="0" cap="flat" cmpd="sng" algn="ctr">
                      <a:noFill/>
                    </a:lnT>
                    <a:lnB w="12700" cap="flat" cmpd="sng" algn="ctr">
                      <a:solidFill>
                        <a:srgbClr val="BDB7AB"/>
                      </a:solidFill>
                      <a:prstDash val="solid"/>
                      <a:round/>
                      <a:headEnd type="none" w="med" len="med"/>
                      <a:tailEnd type="none" w="med" len="med"/>
                    </a:lnB>
                    <a:solidFill>
                      <a:srgbClr val="EDE5D6"/>
                    </a:solidFill>
                  </a:tcPr>
                </a:tc>
              </a:tr>
              <a:tr h="546001">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Есть материал и пример стиля</a:t>
                      </a:r>
                      <a:endParaRPr lang="en-US" sz="1200" dirty="0">
                        <a:latin typeface="Manrope" charset="0"/>
                        <a:ea typeface="Manrope" charset="0"/>
                        <a:cs typeface="Manrope" charset="0"/>
                      </a:endParaRPr>
                    </a:p>
                  </a:txBody>
                  <a:tcPr marL="53340" marR="53340" marT="53340" marB="5334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BDB7A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Слайды в вашем стиле</a:t>
                      </a:r>
                      <a:endParaRPr lang="en-US" sz="1200" dirty="0">
                        <a:latin typeface="Manrope" charset="0"/>
                        <a:ea typeface="Manrope" charset="0"/>
                        <a:cs typeface="Manrope"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DB7A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«Собери презентацию по приложенному материалу. Графики, схемы и таблицы оформи в стиле референса — прилагаю три скриншота моих слайдов».</a:t>
                      </a:r>
                      <a:endParaRPr lang="en-US" sz="1200" dirty="0">
                        <a:latin typeface="Manrope" charset="0"/>
                        <a:ea typeface="Manrope" charset="0"/>
                        <a:cs typeface="Manrope"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DB7AB"/>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9321">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Есть только идея</a:t>
                      </a:r>
                      <a:endParaRPr lang="en-US" sz="1200" dirty="0">
                        <a:latin typeface="Manrope" charset="0"/>
                        <a:ea typeface="Manrope" charset="0"/>
                        <a:cs typeface="Manrope" charset="0"/>
                      </a:endParaRPr>
                    </a:p>
                  </a:txBody>
                  <a:tcPr marL="53340" marR="53340" marT="53340" marB="5334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План и черновик</a:t>
                      </a:r>
                      <a:endParaRPr lang="en-US" sz="1200" dirty="0">
                        <a:latin typeface="Manrope" charset="0"/>
                        <a:ea typeface="Manrope" charset="0"/>
                        <a:cs typeface="Manrope"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«Проработай идею презентации о выходе компании „Улыбка радуги“ на рынок СНГ: цель, страны, конкуренты, формат, риски, этапы. Предложи структуру на 7–10 слайдов без выдуманных цифр».</a:t>
                      </a:r>
                      <a:endParaRPr lang="en-US" sz="1200" dirty="0">
                        <a:latin typeface="Manrope" charset="0"/>
                        <a:ea typeface="Manrope" charset="0"/>
                        <a:cs typeface="Manrope"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Готовый файл pptx</a:t>
                      </a:r>
                      <a:endParaRPr lang="en-US" sz="1200" dirty="0">
                        <a:latin typeface="Manrope" charset="0"/>
                        <a:ea typeface="Manrope" charset="0"/>
                        <a:cs typeface="Manrope" charset="0"/>
                      </a:endParaRPr>
                    </a:p>
                  </a:txBody>
                  <a:tcPr marL="53340" marR="53340" marT="53340" marB="53340" anchor="t">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Редизайн</a:t>
                      </a:r>
                      <a:endParaRPr lang="en-US" sz="1200" dirty="0">
                        <a:latin typeface="Manrope" charset="0"/>
                        <a:ea typeface="Manrope" charset="0"/>
                        <a:cs typeface="Manrope"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F2333"/>
                          </a:solidFill>
                          <a:latin typeface="Manrope" pitchFamily="34" charset="0"/>
                          <a:ea typeface="Manrope" pitchFamily="34" charset="-122"/>
                          <a:cs typeface="Manrope" pitchFamily="34" charset="-120"/>
                        </a:rPr>
                        <a:t>«Доработай презентацию: единая логика, без повторов, один стиль шрифтов и цветов, меньше текста на слайде. Смысл не меняй, новых данных не добавляй».</a:t>
                      </a:r>
                      <a:endParaRPr lang="en-US" sz="1200" dirty="0">
                        <a:latin typeface="Manrope" charset="0"/>
                        <a:ea typeface="Manrope" charset="0"/>
                        <a:cs typeface="Manrope"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9" name="Text 6"/>
          <p:cNvSpPr/>
          <p:nvPr/>
        </p:nvSpPr>
        <p:spPr>
          <a:xfrm>
            <a:off x="11174363" y="6238280"/>
            <a:ext cx="2048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КАРТА СЕРВИСОВ</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Что под какую задачу</a:t>
            </a:r>
            <a:endParaRPr lang="en-US" sz="3000" dirty="0"/>
          </a:p>
        </p:txBody>
      </p:sp>
      <p:sp>
        <p:nvSpPr>
          <p:cNvPr id="4" name="Shape 2"/>
          <p:cNvSpPr/>
          <p:nvPr/>
        </p:nvSpPr>
        <p:spPr>
          <a:xfrm>
            <a:off x="812800" y="1845270"/>
            <a:ext cx="3420517" cy="2031355"/>
          </a:xfrm>
          <a:prstGeom prst="roundRect">
            <a:avLst>
              <a:gd name="adj" fmla="val 7502"/>
            </a:avLst>
          </a:prstGeom>
          <a:solidFill>
            <a:srgbClr val="1F2333"/>
          </a:solidFill>
          <a:ln/>
        </p:spPr>
      </p:sp>
      <p:sp>
        <p:nvSpPr>
          <p:cNvPr id="5" name="Text 3"/>
          <p:cNvSpPr/>
          <p:nvPr/>
        </p:nvSpPr>
        <p:spPr>
          <a:xfrm>
            <a:off x="1041400" y="2048470"/>
            <a:ext cx="30522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61"/>
                </a:solidFill>
                <a:latin typeface="Unbounded" pitchFamily="34" charset="0"/>
                <a:ea typeface="Unbounded" pitchFamily="34" charset="-122"/>
                <a:cs typeface="Unbounded" pitchFamily="34" charset="-120"/>
              </a:rPr>
              <a:t>Gamma</a:t>
            </a:r>
            <a:endParaRPr lang="en-US" sz="1600" dirty="0"/>
          </a:p>
        </p:txBody>
      </p:sp>
      <p:sp>
        <p:nvSpPr>
          <p:cNvPr id="6" name="Text 4"/>
          <p:cNvSpPr/>
          <p:nvPr/>
        </p:nvSpPr>
        <p:spPr>
          <a:xfrm>
            <a:off x="1041400" y="2368500"/>
            <a:ext cx="305221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2EA"/>
                </a:solidFill>
                <a:latin typeface="Manrope" pitchFamily="34" charset="0"/>
                <a:ea typeface="Manrope" pitchFamily="34" charset="-122"/>
                <a:cs typeface="Manrope" pitchFamily="34" charset="-120"/>
              </a:rPr>
              <a:t>Ваш текст становится готовыми слайдами за пару минут. Удобная правка и выгрузка в PPTX и PDF.</a:t>
            </a:r>
            <a:endParaRPr lang="en-US" sz="1300" dirty="0"/>
          </a:p>
        </p:txBody>
      </p:sp>
      <p:sp>
        <p:nvSpPr>
          <p:cNvPr id="7" name="Shape 5"/>
          <p:cNvSpPr/>
          <p:nvPr/>
        </p:nvSpPr>
        <p:spPr>
          <a:xfrm>
            <a:off x="4385717" y="1845270"/>
            <a:ext cx="3420517" cy="2031355"/>
          </a:xfrm>
          <a:prstGeom prst="roundRect">
            <a:avLst>
              <a:gd name="adj" fmla="val 7502"/>
            </a:avLst>
          </a:prstGeom>
          <a:solidFill>
            <a:srgbClr val="1F2333"/>
          </a:solidFill>
          <a:ln/>
        </p:spPr>
      </p:sp>
      <p:sp>
        <p:nvSpPr>
          <p:cNvPr id="8" name="Text 6"/>
          <p:cNvSpPr/>
          <p:nvPr/>
        </p:nvSpPr>
        <p:spPr>
          <a:xfrm>
            <a:off x="4614317" y="2048470"/>
            <a:ext cx="305221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61"/>
                </a:solidFill>
                <a:latin typeface="Unbounded" pitchFamily="34" charset="0"/>
                <a:ea typeface="Unbounded" pitchFamily="34" charset="-122"/>
                <a:cs typeface="Unbounded" pitchFamily="34" charset="-120"/>
              </a:rPr>
              <a:t>NotebookLM</a:t>
            </a:r>
            <a:endParaRPr lang="en-US" sz="1600" dirty="0"/>
          </a:p>
        </p:txBody>
      </p:sp>
      <p:sp>
        <p:nvSpPr>
          <p:cNvPr id="9" name="Text 7"/>
          <p:cNvSpPr/>
          <p:nvPr/>
        </p:nvSpPr>
        <p:spPr>
          <a:xfrm>
            <a:off x="4614317" y="2368500"/>
            <a:ext cx="3052216"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2EA"/>
                </a:solidFill>
                <a:latin typeface="Manrope" pitchFamily="34" charset="0"/>
                <a:ea typeface="Manrope" pitchFamily="34" charset="-122"/>
                <a:cs typeface="Manrope" pitchFamily="34" charset="-120"/>
              </a:rPr>
              <a:t>Работает строго по вашим документам: презентация, инфографика, карта знаний, аудиообзор.</a:t>
            </a:r>
            <a:endParaRPr lang="en-US" sz="1300" dirty="0"/>
          </a:p>
        </p:txBody>
      </p:sp>
      <p:sp>
        <p:nvSpPr>
          <p:cNvPr id="10" name="Shape 8"/>
          <p:cNvSpPr/>
          <p:nvPr/>
        </p:nvSpPr>
        <p:spPr>
          <a:xfrm>
            <a:off x="7958634" y="1845270"/>
            <a:ext cx="3420566" cy="2031355"/>
          </a:xfrm>
          <a:prstGeom prst="roundRect">
            <a:avLst>
              <a:gd name="adj" fmla="val 7502"/>
            </a:avLst>
          </a:prstGeom>
          <a:solidFill>
            <a:srgbClr val="1F2333"/>
          </a:solidFill>
          <a:ln/>
        </p:spPr>
      </p:sp>
      <p:sp>
        <p:nvSpPr>
          <p:cNvPr id="11" name="Text 9"/>
          <p:cNvSpPr/>
          <p:nvPr/>
        </p:nvSpPr>
        <p:spPr>
          <a:xfrm>
            <a:off x="8187234" y="2048470"/>
            <a:ext cx="3052267"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61"/>
                </a:solidFill>
                <a:latin typeface="Unbounded" pitchFamily="34" charset="0"/>
                <a:ea typeface="Unbounded" pitchFamily="34" charset="-122"/>
                <a:cs typeface="Unbounded" pitchFamily="34" charset="-120"/>
              </a:rPr>
              <a:t>Napkin</a:t>
            </a:r>
            <a:endParaRPr lang="en-US" sz="1600" dirty="0"/>
          </a:p>
        </p:txBody>
      </p:sp>
      <p:sp>
        <p:nvSpPr>
          <p:cNvPr id="12" name="Text 10"/>
          <p:cNvSpPr/>
          <p:nvPr/>
        </p:nvSpPr>
        <p:spPr>
          <a:xfrm>
            <a:off x="8187234" y="2368500"/>
            <a:ext cx="3052267"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2EA"/>
                </a:solidFill>
                <a:latin typeface="Manrope" pitchFamily="34" charset="0"/>
                <a:ea typeface="Manrope" pitchFamily="34" charset="-122"/>
                <a:cs typeface="Manrope" pitchFamily="34" charset="-120"/>
              </a:rPr>
              <a:t>Превращает абзац текста в схему или инфографику, которую можно вставить в любой слайд.</a:t>
            </a:r>
            <a:endParaRPr lang="en-US" sz="1300" dirty="0"/>
          </a:p>
        </p:txBody>
      </p:sp>
      <p:sp>
        <p:nvSpPr>
          <p:cNvPr id="13" name="Shape 11"/>
          <p:cNvSpPr/>
          <p:nvPr/>
        </p:nvSpPr>
        <p:spPr>
          <a:xfrm>
            <a:off x="815975" y="4032200"/>
            <a:ext cx="3414167" cy="1806625"/>
          </a:xfrm>
          <a:prstGeom prst="roundRect">
            <a:avLst>
              <a:gd name="adj" fmla="val 8260"/>
            </a:avLst>
          </a:prstGeom>
          <a:solidFill>
            <a:srgbClr val="FFFDF8"/>
          </a:solidFill>
          <a:ln w="6350">
            <a:solidFill>
              <a:srgbClr val="E4DCCD"/>
            </a:solidFill>
            <a:prstDash val="solid"/>
          </a:ln>
        </p:spPr>
      </p:sp>
      <p:sp>
        <p:nvSpPr>
          <p:cNvPr id="14" name="Text 12"/>
          <p:cNvSpPr/>
          <p:nvPr/>
        </p:nvSpPr>
        <p:spPr>
          <a:xfrm>
            <a:off x="1047750" y="4238575"/>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Unbounded" pitchFamily="34" charset="0"/>
                <a:ea typeface="Unbounded" pitchFamily="34" charset="-122"/>
                <a:cs typeface="Unbounded" pitchFamily="34" charset="-120"/>
              </a:rPr>
              <a:t>GLM / Z.ai</a:t>
            </a:r>
            <a:endParaRPr lang="en-US" sz="1600" dirty="0"/>
          </a:p>
        </p:txBody>
      </p:sp>
      <p:sp>
        <p:nvSpPr>
          <p:cNvPr id="15" name="Text 13"/>
          <p:cNvSpPr/>
          <p:nvPr/>
        </p:nvSpPr>
        <p:spPr>
          <a:xfrm>
            <a:off x="1047750" y="4558605"/>
            <a:ext cx="30391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Отдельный режим слайдов, пока бесплатно. Самый недооценённый и быстро растёт.</a:t>
            </a:r>
            <a:endParaRPr lang="en-US" sz="1300" dirty="0"/>
          </a:p>
        </p:txBody>
      </p:sp>
      <p:sp>
        <p:nvSpPr>
          <p:cNvPr id="16" name="Shape 14"/>
          <p:cNvSpPr/>
          <p:nvPr/>
        </p:nvSpPr>
        <p:spPr>
          <a:xfrm>
            <a:off x="4388892" y="4032200"/>
            <a:ext cx="3414167" cy="1806625"/>
          </a:xfrm>
          <a:prstGeom prst="roundRect">
            <a:avLst>
              <a:gd name="adj" fmla="val 8260"/>
            </a:avLst>
          </a:prstGeom>
          <a:solidFill>
            <a:srgbClr val="FFFDF8"/>
          </a:solidFill>
          <a:ln w="6350">
            <a:solidFill>
              <a:srgbClr val="E4DCCD"/>
            </a:solidFill>
            <a:prstDash val="solid"/>
          </a:ln>
        </p:spPr>
      </p:sp>
      <p:sp>
        <p:nvSpPr>
          <p:cNvPr id="17" name="Text 15"/>
          <p:cNvSpPr/>
          <p:nvPr/>
        </p:nvSpPr>
        <p:spPr>
          <a:xfrm>
            <a:off x="4620667" y="4238575"/>
            <a:ext cx="303913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Unbounded" pitchFamily="34" charset="0"/>
                <a:ea typeface="Unbounded" pitchFamily="34" charset="-122"/>
                <a:cs typeface="Unbounded" pitchFamily="34" charset="-120"/>
              </a:rPr>
              <a:t>Kimi</a:t>
            </a:r>
            <a:endParaRPr lang="en-US" sz="1600" dirty="0"/>
          </a:p>
        </p:txBody>
      </p:sp>
      <p:sp>
        <p:nvSpPr>
          <p:cNvPr id="18" name="Text 16"/>
          <p:cNvSpPr/>
          <p:nvPr/>
        </p:nvSpPr>
        <p:spPr>
          <a:xfrm>
            <a:off x="4620667" y="4558605"/>
            <a:ext cx="303913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Агентный режим для слайдов и разбор длинной переписки на дела и сроки.</a:t>
            </a:r>
            <a:endParaRPr lang="en-US" sz="1300" dirty="0"/>
          </a:p>
        </p:txBody>
      </p:sp>
      <p:sp>
        <p:nvSpPr>
          <p:cNvPr id="19" name="Shape 17"/>
          <p:cNvSpPr/>
          <p:nvPr/>
        </p:nvSpPr>
        <p:spPr>
          <a:xfrm>
            <a:off x="7961809" y="4032200"/>
            <a:ext cx="3414216" cy="1806625"/>
          </a:xfrm>
          <a:prstGeom prst="roundRect">
            <a:avLst>
              <a:gd name="adj" fmla="val 8260"/>
            </a:avLst>
          </a:prstGeom>
          <a:solidFill>
            <a:srgbClr val="FFFDF8"/>
          </a:solidFill>
          <a:ln w="6350">
            <a:solidFill>
              <a:srgbClr val="E4DCCD"/>
            </a:solidFill>
            <a:prstDash val="solid"/>
          </a:ln>
        </p:spPr>
      </p:sp>
      <p:sp>
        <p:nvSpPr>
          <p:cNvPr id="20" name="Text 18"/>
          <p:cNvSpPr/>
          <p:nvPr/>
        </p:nvSpPr>
        <p:spPr>
          <a:xfrm>
            <a:off x="8193584" y="4238575"/>
            <a:ext cx="303918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Unbounded" pitchFamily="34" charset="0"/>
                <a:ea typeface="Unbounded" pitchFamily="34" charset="-122"/>
                <a:cs typeface="Unbounded" pitchFamily="34" charset="-120"/>
              </a:rPr>
              <a:t>SimpleSlide</a:t>
            </a:r>
            <a:endParaRPr lang="en-US" sz="1600" dirty="0"/>
          </a:p>
        </p:txBody>
      </p:sp>
      <p:sp>
        <p:nvSpPr>
          <p:cNvPr id="21" name="Text 19"/>
          <p:cNvSpPr/>
          <p:nvPr/>
        </p:nvSpPr>
        <p:spPr>
          <a:xfrm>
            <a:off x="8193584" y="4558605"/>
            <a:ext cx="3039186"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Без оплаты, VPN и сложной регистрации. Лучший первый шаг с корпоративного компьютера.</a:t>
            </a:r>
            <a:endParaRPr lang="en-US" sz="1300" dirty="0"/>
          </a:p>
        </p:txBody>
      </p:sp>
      <p:sp>
        <p:nvSpPr>
          <p:cNvPr id="22" name="Text 20"/>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23" name="Text 21"/>
          <p:cNvSpPr/>
          <p:nvPr/>
        </p:nvSpPr>
        <p:spPr>
          <a:xfrm>
            <a:off x="11192421" y="6238280"/>
            <a:ext cx="18677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GAMMA</a:t>
            </a:r>
            <a:endParaRPr lang="en-US" sz="1200" dirty="0"/>
          </a:p>
        </p:txBody>
      </p:sp>
      <p:sp>
        <p:nvSpPr>
          <p:cNvPr id="4" name="Text 2"/>
          <p:cNvSpPr/>
          <p:nvPr/>
        </p:nvSpPr>
        <p:spPr>
          <a:xfrm>
            <a:off x="1168400" y="4099570"/>
            <a:ext cx="266852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A261"/>
                </a:solidFill>
                <a:latin typeface="Unbounded" pitchFamily="34" charset="0"/>
                <a:ea typeface="Unbounded" pitchFamily="34" charset="-122"/>
                <a:cs typeface="Unbounded" pitchFamily="34" charset="-120"/>
              </a:rPr>
              <a:t>10</a:t>
            </a:r>
            <a:endParaRPr lang="en-US" sz="8000" dirty="0"/>
          </a:p>
        </p:txBody>
      </p:sp>
      <p:sp>
        <p:nvSpPr>
          <p:cNvPr id="5" name="Text 3"/>
          <p:cNvSpPr/>
          <p:nvPr/>
        </p:nvSpPr>
        <p:spPr>
          <a:xfrm>
            <a:off x="1168400" y="5166370"/>
            <a:ext cx="266852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2EA"/>
                </a:solidFill>
                <a:latin typeface="Manrope" pitchFamily="34" charset="0"/>
                <a:ea typeface="Manrope" pitchFamily="34" charset="-122"/>
                <a:cs typeface="Manrope" pitchFamily="34" charset="-120"/>
              </a:rPr>
              <a:t>минут</a:t>
            </a:r>
            <a:endParaRPr lang="en-US" sz="1800" dirty="0"/>
          </a:p>
        </p:txBody>
      </p:sp>
      <p:sp>
        <p:nvSpPr>
          <p:cNvPr id="6" name="Text 4"/>
          <p:cNvSpPr/>
          <p:nvPr>
            <p:ph type="title"/>
          </p:nvPr>
        </p:nvSpPr>
        <p:spPr>
          <a:xfrm>
            <a:off x="4622800" y="812800"/>
            <a:ext cx="69590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Соберите презентацию из своего текста</a:t>
            </a:r>
            <a:endParaRPr lang="en-US" sz="2800" dirty="0"/>
          </a:p>
        </p:txBody>
      </p:sp>
      <p:sp>
        <p:nvSpPr>
          <p:cNvPr id="7" name="Text 5"/>
          <p:cNvSpPr/>
          <p:nvPr/>
        </p:nvSpPr>
        <p:spPr>
          <a:xfrm>
            <a:off x="4622800" y="18846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8" name="Text 6"/>
          <p:cNvSpPr/>
          <p:nvPr/>
        </p:nvSpPr>
        <p:spPr>
          <a:xfrm>
            <a:off x="5156200" y="188466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Откройте gamma.app и вставьте текст, который подготовили в ChatGPT.</a:t>
            </a:r>
            <a:endParaRPr lang="en-US" sz="1600" dirty="0"/>
          </a:p>
        </p:txBody>
      </p:sp>
      <p:sp>
        <p:nvSpPr>
          <p:cNvPr id="9" name="Text 7"/>
          <p:cNvSpPr/>
          <p:nvPr/>
        </p:nvSpPr>
        <p:spPr>
          <a:xfrm>
            <a:off x="4622800" y="263138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0" name="Text 8"/>
          <p:cNvSpPr/>
          <p:nvPr/>
        </p:nvSpPr>
        <p:spPr>
          <a:xfrm>
            <a:off x="5156200" y="2631380"/>
            <a:ext cx="7035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Попросите ровно пять слайдов. Проверьте план до генерации.</a:t>
            </a:r>
            <a:endParaRPr lang="en-US" sz="1600" dirty="0"/>
          </a:p>
        </p:txBody>
      </p:sp>
      <p:sp>
        <p:nvSpPr>
          <p:cNvPr id="11" name="Text 9"/>
          <p:cNvSpPr/>
          <p:nvPr/>
        </p:nvSpPr>
        <p:spPr>
          <a:xfrm>
            <a:off x="4622800" y="316478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2" name="Text 10"/>
          <p:cNvSpPr/>
          <p:nvPr/>
        </p:nvSpPr>
        <p:spPr>
          <a:xfrm>
            <a:off x="5156200" y="316478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Поправьте один слайд вручную и выгрузите файл.</a:t>
            </a:r>
            <a:endParaRPr lang="en-US" sz="1600" dirty="0"/>
          </a:p>
        </p:txBody>
      </p:sp>
      <p:sp>
        <p:nvSpPr>
          <p:cNvPr id="13" name="Text 11"/>
          <p:cNvSpPr/>
          <p:nvPr/>
        </p:nvSpPr>
        <p:spPr>
          <a:xfrm>
            <a:off x="4622800" y="5610870"/>
            <a:ext cx="69590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A5E"/>
                </a:solidFill>
                <a:latin typeface="Manrope" pitchFamily="34" charset="0"/>
                <a:ea typeface="Manrope" pitchFamily="34" charset="-122"/>
                <a:cs typeface="Manrope" pitchFamily="34" charset="-120"/>
              </a:rPr>
              <a:t>Готовые запросы и учебные файлы — в практикуме.</a:t>
            </a:r>
            <a:endParaRPr lang="en-US" sz="1300" dirty="0"/>
          </a:p>
        </p:txBody>
      </p:sp>
      <p:sp>
        <p:nvSpPr>
          <p:cNvPr id="14" name="Text 12"/>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5" name="Text 13"/>
          <p:cNvSpPr/>
          <p:nvPr/>
        </p:nvSpPr>
        <p:spPr>
          <a:xfrm>
            <a:off x="11180514" y="6238280"/>
            <a:ext cx="19868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NOTEBOOKLM</a:t>
            </a:r>
            <a:endParaRPr lang="en-US" sz="1200" dirty="0"/>
          </a:p>
        </p:txBody>
      </p:sp>
      <p:sp>
        <p:nvSpPr>
          <p:cNvPr id="4" name="Text 2"/>
          <p:cNvSpPr/>
          <p:nvPr/>
        </p:nvSpPr>
        <p:spPr>
          <a:xfrm>
            <a:off x="1168400" y="3488928"/>
            <a:ext cx="2668524"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9CBD4"/>
                </a:solidFill>
                <a:latin typeface="Manrope" pitchFamily="34" charset="0"/>
                <a:ea typeface="Manrope" pitchFamily="34" charset="-122"/>
                <a:cs typeface="Manrope" pitchFamily="34" charset="-120"/>
              </a:rPr>
              <a:t>Отвечает только по тому, что вы загрузили, и показывает, откуда взял каждую мысль.</a:t>
            </a:r>
            <a:endParaRPr lang="en-US" sz="1400" dirty="0"/>
          </a:p>
        </p:txBody>
      </p:sp>
      <p:sp>
        <p:nvSpPr>
          <p:cNvPr id="5" name="Text 3"/>
          <p:cNvSpPr/>
          <p:nvPr/>
        </p:nvSpPr>
        <p:spPr>
          <a:xfrm>
            <a:off x="1168400" y="4389239"/>
            <a:ext cx="1245791" cy="314920"/>
          </a:xfrm>
          <a:prstGeom prst="roundRect">
            <a:avLst>
              <a:gd name="adj" fmla="val 50000"/>
            </a:avLst>
          </a:prstGeom>
          <a:solidFill>
            <a:srgbClr val="3A3F52"/>
          </a:solidFill>
          <a:ln/>
        </p:spPr>
        <p:txBody>
          <a:bodyPr wrap="none" lIns="0" tIns="0" rIns="0" bIns="0" rtlCol="0" anchor="ctr">
            <a:normAutofit/>
          </a:bodyPr>
          <a:lstStyle/>
          <a:p>
            <a:pPr algn="ctr" indent="0" marL="0">
              <a:lnSpc>
                <a:spcPts val="1680"/>
              </a:lnSpc>
              <a:buNone/>
            </a:pPr>
            <a:r>
              <a:rPr lang="en-US" sz="1200" b="1" dirty="0">
                <a:solidFill>
                  <a:srgbClr val="F6F2EA"/>
                </a:solidFill>
                <a:latin typeface="Manrope" pitchFamily="34" charset="0"/>
                <a:ea typeface="Manrope" pitchFamily="34" charset="-122"/>
                <a:cs typeface="Manrope" pitchFamily="34" charset="-120"/>
              </a:rPr>
              <a:t>Презентация</a:t>
            </a:r>
            <a:endParaRPr lang="en-US" sz="1200" dirty="0"/>
          </a:p>
        </p:txBody>
      </p:sp>
      <p:sp>
        <p:nvSpPr>
          <p:cNvPr id="6" name="Text 4"/>
          <p:cNvSpPr/>
          <p:nvPr/>
        </p:nvSpPr>
        <p:spPr>
          <a:xfrm>
            <a:off x="1168400" y="4780359"/>
            <a:ext cx="1283146" cy="314920"/>
          </a:xfrm>
          <a:prstGeom prst="roundRect">
            <a:avLst>
              <a:gd name="adj" fmla="val 50000"/>
            </a:avLst>
          </a:prstGeom>
          <a:solidFill>
            <a:srgbClr val="3A3F52"/>
          </a:solidFill>
          <a:ln/>
        </p:spPr>
        <p:txBody>
          <a:bodyPr wrap="none" lIns="0" tIns="0" rIns="0" bIns="0" rtlCol="0" anchor="ctr">
            <a:normAutofit/>
          </a:bodyPr>
          <a:lstStyle/>
          <a:p>
            <a:pPr algn="ctr" indent="0" marL="0">
              <a:lnSpc>
                <a:spcPts val="1680"/>
              </a:lnSpc>
              <a:buNone/>
            </a:pPr>
            <a:r>
              <a:rPr lang="en-US" sz="1200" b="1" dirty="0">
                <a:solidFill>
                  <a:srgbClr val="F6F2EA"/>
                </a:solidFill>
                <a:latin typeface="Manrope" pitchFamily="34" charset="0"/>
                <a:ea typeface="Manrope" pitchFamily="34" charset="-122"/>
                <a:cs typeface="Manrope" pitchFamily="34" charset="-120"/>
              </a:rPr>
              <a:t>Инфографика</a:t>
            </a:r>
            <a:endParaRPr lang="en-US" sz="1200" dirty="0"/>
          </a:p>
        </p:txBody>
      </p:sp>
      <p:sp>
        <p:nvSpPr>
          <p:cNvPr id="7" name="Text 5"/>
          <p:cNvSpPr/>
          <p:nvPr/>
        </p:nvSpPr>
        <p:spPr>
          <a:xfrm>
            <a:off x="1168400" y="5171480"/>
            <a:ext cx="1257350" cy="314920"/>
          </a:xfrm>
          <a:prstGeom prst="roundRect">
            <a:avLst>
              <a:gd name="adj" fmla="val 50000"/>
            </a:avLst>
          </a:prstGeom>
          <a:solidFill>
            <a:srgbClr val="3A3F52"/>
          </a:solidFill>
          <a:ln/>
        </p:spPr>
        <p:txBody>
          <a:bodyPr wrap="none" lIns="0" tIns="0" rIns="0" bIns="0" rtlCol="0" anchor="ctr">
            <a:normAutofit/>
          </a:bodyPr>
          <a:lstStyle/>
          <a:p>
            <a:pPr algn="ctr" indent="0" marL="0">
              <a:lnSpc>
                <a:spcPts val="1680"/>
              </a:lnSpc>
              <a:buNone/>
            </a:pPr>
            <a:r>
              <a:rPr lang="en-US" sz="1200" b="1" dirty="0">
                <a:solidFill>
                  <a:srgbClr val="F6F2EA"/>
                </a:solidFill>
                <a:latin typeface="Manrope" pitchFamily="34" charset="0"/>
                <a:ea typeface="Manrope" pitchFamily="34" charset="-122"/>
                <a:cs typeface="Manrope" pitchFamily="34" charset="-120"/>
              </a:rPr>
              <a:t>Карта знаний</a:t>
            </a:r>
            <a:endParaRPr lang="en-US" sz="1200" dirty="0"/>
          </a:p>
        </p:txBody>
      </p:sp>
      <p:sp>
        <p:nvSpPr>
          <p:cNvPr id="8" name="Text 6"/>
          <p:cNvSpPr/>
          <p:nvPr/>
        </p:nvSpPr>
        <p:spPr>
          <a:xfrm>
            <a:off x="2501950" y="5171480"/>
            <a:ext cx="1150689" cy="314920"/>
          </a:xfrm>
          <a:prstGeom prst="roundRect">
            <a:avLst>
              <a:gd name="adj" fmla="val 50000"/>
            </a:avLst>
          </a:prstGeom>
          <a:solidFill>
            <a:srgbClr val="3A3F52"/>
          </a:solidFill>
          <a:ln/>
        </p:spPr>
        <p:txBody>
          <a:bodyPr wrap="none" lIns="0" tIns="0" rIns="0" bIns="0" rtlCol="0" anchor="ctr">
            <a:normAutofit/>
          </a:bodyPr>
          <a:lstStyle/>
          <a:p>
            <a:pPr algn="ctr" indent="0" marL="0">
              <a:lnSpc>
                <a:spcPts val="1680"/>
              </a:lnSpc>
              <a:buNone/>
            </a:pPr>
            <a:r>
              <a:rPr lang="en-US" sz="1200" b="1" dirty="0">
                <a:solidFill>
                  <a:srgbClr val="F6F2EA"/>
                </a:solidFill>
                <a:latin typeface="Manrope" pitchFamily="34" charset="0"/>
                <a:ea typeface="Manrope" pitchFamily="34" charset="-122"/>
                <a:cs typeface="Manrope" pitchFamily="34" charset="-120"/>
              </a:rPr>
              <a:t>Аудиообзор</a:t>
            </a:r>
            <a:endParaRPr lang="en-US" sz="1200" dirty="0"/>
          </a:p>
        </p:txBody>
      </p:sp>
      <p:sp>
        <p:nvSpPr>
          <p:cNvPr id="9" name="Text 7"/>
          <p:cNvSpPr/>
          <p:nvPr>
            <p:ph type="title"/>
          </p:nvPr>
        </p:nvSpPr>
        <p:spPr>
          <a:xfrm>
            <a:off x="4622800" y="812800"/>
            <a:ext cx="69590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Слайды и инфографика прямо из документов</a:t>
            </a:r>
            <a:endParaRPr lang="en-US" sz="2800" dirty="0"/>
          </a:p>
        </p:txBody>
      </p:sp>
      <p:sp>
        <p:nvSpPr>
          <p:cNvPr id="10" name="Text 8"/>
          <p:cNvSpPr/>
          <p:nvPr/>
        </p:nvSpPr>
        <p:spPr>
          <a:xfrm>
            <a:off x="4622800" y="18846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11" name="Text 9"/>
          <p:cNvSpPr/>
          <p:nvPr/>
        </p:nvSpPr>
        <p:spPr>
          <a:xfrm>
            <a:off x="5156200" y="188466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Зайдите на notebooklm.google.com, создайте блокнот и загрузите «Итоги пилота».</a:t>
            </a:r>
            <a:endParaRPr lang="en-US" sz="1600" dirty="0"/>
          </a:p>
        </p:txBody>
      </p:sp>
      <p:sp>
        <p:nvSpPr>
          <p:cNvPr id="12" name="Text 10"/>
          <p:cNvSpPr/>
          <p:nvPr/>
        </p:nvSpPr>
        <p:spPr>
          <a:xfrm>
            <a:off x="4622800" y="263138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3" name="Text 11"/>
          <p:cNvSpPr/>
          <p:nvPr/>
        </p:nvSpPr>
        <p:spPr>
          <a:xfrm>
            <a:off x="5156200" y="263138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В панели Studio выберите презентацию или инфографику и задайте настройки: объём, язык, стиль.</a:t>
            </a:r>
            <a:endParaRPr lang="en-US" sz="1600" dirty="0"/>
          </a:p>
        </p:txBody>
      </p:sp>
      <p:sp>
        <p:nvSpPr>
          <p:cNvPr id="14" name="Text 12"/>
          <p:cNvSpPr/>
          <p:nvPr/>
        </p:nvSpPr>
        <p:spPr>
          <a:xfrm>
            <a:off x="4622800" y="3378101"/>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5" name="Text 13"/>
          <p:cNvSpPr/>
          <p:nvPr/>
        </p:nvSpPr>
        <p:spPr>
          <a:xfrm>
            <a:off x="5156200" y="3378101"/>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Сравните с версией из Gamma: где меньше пришлось исправлять?</a:t>
            </a:r>
            <a:endParaRPr lang="en-US" sz="1600" dirty="0"/>
          </a:p>
        </p:txBody>
      </p:sp>
      <p:sp>
        <p:nvSpPr>
          <p:cNvPr id="16" name="Text 14"/>
          <p:cNvSpPr/>
          <p:nvPr/>
        </p:nvSpPr>
        <p:spPr>
          <a:xfrm>
            <a:off x="4622800" y="5610870"/>
            <a:ext cx="69590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A5E"/>
                </a:solidFill>
                <a:latin typeface="Manrope" pitchFamily="34" charset="0"/>
                <a:ea typeface="Manrope" pitchFamily="34" charset="-122"/>
                <a:cs typeface="Manrope" pitchFamily="34" charset="-120"/>
              </a:rPr>
              <a:t>Нужны Google-аккаунт и маршрут 3. Время — 10 минут.</a:t>
            </a:r>
            <a:endParaRPr lang="en-US" sz="1300" dirty="0"/>
          </a:p>
        </p:txBody>
      </p:sp>
      <p:sp>
        <p:nvSpPr>
          <p:cNvPr id="17" name="Text 15"/>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8" name="Text 16"/>
          <p:cNvSpPr/>
          <p:nvPr/>
        </p:nvSpPr>
        <p:spPr>
          <a:xfrm>
            <a:off x="11174363" y="6238280"/>
            <a:ext cx="20483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NAPKIN</a:t>
            </a:r>
            <a:endParaRPr lang="en-US" sz="1200" dirty="0"/>
          </a:p>
        </p:txBody>
      </p:sp>
      <p:sp>
        <p:nvSpPr>
          <p:cNvPr id="4" name="Text 2"/>
          <p:cNvSpPr/>
          <p:nvPr/>
        </p:nvSpPr>
        <p:spPr>
          <a:xfrm>
            <a:off x="1168400" y="3789759"/>
            <a:ext cx="2590800" cy="518120"/>
          </a:xfrm>
          <a:prstGeom prst="roundRect">
            <a:avLst>
              <a:gd name="adj" fmla="val 19609"/>
            </a:avLst>
          </a:prstGeom>
          <a:solidFill>
            <a:srgbClr val="3A3F52"/>
          </a:solidFill>
          <a:ln/>
        </p:spPr>
        <p:txBody>
          <a:bodyPr wrap="square" lIns="122642" tIns="122642" rIns="54062" bIns="97242" rtlCol="0" anchor="t">
            <a:normAutofit/>
          </a:bodyPr>
          <a:lstStyle/>
          <a:p>
            <a:pPr algn="l" indent="0" marL="0">
              <a:lnSpc>
                <a:spcPts val="1680"/>
              </a:lnSpc>
              <a:buNone/>
            </a:pPr>
            <a:r>
              <a:rPr lang="en-US" sz="1200" dirty="0">
                <a:solidFill>
                  <a:srgbClr val="C9CBD4"/>
                </a:solidFill>
                <a:latin typeface="Manrope" pitchFamily="34" charset="0"/>
                <a:ea typeface="Manrope" pitchFamily="34" charset="-122"/>
                <a:cs typeface="Manrope" pitchFamily="34" charset="-120"/>
              </a:rPr>
              <a:t>Абзац текста</a:t>
            </a:r>
            <a:endParaRPr lang="en-US" sz="1200" dirty="0"/>
          </a:p>
        </p:txBody>
      </p:sp>
      <p:sp>
        <p:nvSpPr>
          <p:cNvPr id="5" name="Text 3"/>
          <p:cNvSpPr/>
          <p:nvPr/>
        </p:nvSpPr>
        <p:spPr>
          <a:xfrm>
            <a:off x="1168400" y="4460280"/>
            <a:ext cx="266852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A261"/>
                </a:solidFill>
                <a:latin typeface="Manrope" pitchFamily="34" charset="0"/>
                <a:ea typeface="Manrope" pitchFamily="34" charset="-122"/>
                <a:cs typeface="Manrope" pitchFamily="34" charset="-120"/>
              </a:rPr>
              <a:t>↓</a:t>
            </a:r>
            <a:endParaRPr lang="en-US" sz="2000" dirty="0"/>
          </a:p>
        </p:txBody>
      </p:sp>
      <p:sp>
        <p:nvSpPr>
          <p:cNvPr id="6" name="Text 4"/>
          <p:cNvSpPr/>
          <p:nvPr/>
        </p:nvSpPr>
        <p:spPr>
          <a:xfrm>
            <a:off x="1168400" y="4968280"/>
            <a:ext cx="2590800" cy="518120"/>
          </a:xfrm>
          <a:prstGeom prst="roundRect">
            <a:avLst>
              <a:gd name="adj" fmla="val 19609"/>
            </a:avLst>
          </a:prstGeom>
          <a:solidFill>
            <a:srgbClr val="F4A261"/>
          </a:solidFill>
          <a:ln/>
        </p:spPr>
        <p:txBody>
          <a:bodyPr wrap="square" lIns="122642" tIns="122642" rIns="54062" bIns="97242" rtlCol="0" anchor="t">
            <a:normAutofit/>
          </a:bodyPr>
          <a:lstStyle/>
          <a:p>
            <a:pPr algn="l" indent="0" marL="0">
              <a:lnSpc>
                <a:spcPts val="1680"/>
              </a:lnSpc>
              <a:buNone/>
            </a:pPr>
            <a:r>
              <a:rPr lang="en-US" sz="1200" b="1" dirty="0">
                <a:solidFill>
                  <a:srgbClr val="1F2333"/>
                </a:solidFill>
                <a:latin typeface="Manrope" pitchFamily="34" charset="0"/>
                <a:ea typeface="Manrope" pitchFamily="34" charset="-122"/>
                <a:cs typeface="Manrope" pitchFamily="34" charset="-120"/>
              </a:rPr>
              <a:t>Схема для слайда</a:t>
            </a:r>
            <a:endParaRPr lang="en-US" sz="1200" dirty="0"/>
          </a:p>
        </p:txBody>
      </p:sp>
      <p:sp>
        <p:nvSpPr>
          <p:cNvPr id="7" name="Text 5"/>
          <p:cNvSpPr/>
          <p:nvPr>
            <p:ph type="title"/>
          </p:nvPr>
        </p:nvSpPr>
        <p:spPr>
          <a:xfrm>
            <a:off x="4622800" y="812800"/>
            <a:ext cx="69590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Один абзац превращаем в схему</a:t>
            </a:r>
            <a:endParaRPr lang="en-US" sz="2800" dirty="0"/>
          </a:p>
        </p:txBody>
      </p:sp>
      <p:sp>
        <p:nvSpPr>
          <p:cNvPr id="8" name="Text 6"/>
          <p:cNvSpPr/>
          <p:nvPr/>
        </p:nvSpPr>
        <p:spPr>
          <a:xfrm>
            <a:off x="4622800" y="18846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9" name="Text 7"/>
          <p:cNvSpPr/>
          <p:nvPr/>
        </p:nvSpPr>
        <p:spPr>
          <a:xfrm>
            <a:off x="5156200" y="188466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Откройте napkin.ai и вставьте абзац «Что получили в пилоте».</a:t>
            </a:r>
            <a:endParaRPr lang="en-US" sz="1600" dirty="0"/>
          </a:p>
        </p:txBody>
      </p:sp>
      <p:sp>
        <p:nvSpPr>
          <p:cNvPr id="10" name="Text 8"/>
          <p:cNvSpPr/>
          <p:nvPr/>
        </p:nvSpPr>
        <p:spPr>
          <a:xfrm>
            <a:off x="4622800" y="24180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1" name="Text 9"/>
          <p:cNvSpPr/>
          <p:nvPr/>
        </p:nvSpPr>
        <p:spPr>
          <a:xfrm>
            <a:off x="5156200" y="2418060"/>
            <a:ext cx="70358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Нажмите значок генерации у абзаца и выберите вариант схемы.</a:t>
            </a:r>
            <a:endParaRPr lang="en-US" sz="1600" dirty="0"/>
          </a:p>
        </p:txBody>
      </p:sp>
      <p:sp>
        <p:nvSpPr>
          <p:cNvPr id="12" name="Text 10"/>
          <p:cNvSpPr/>
          <p:nvPr/>
        </p:nvSpPr>
        <p:spPr>
          <a:xfrm>
            <a:off x="4622800" y="29514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3" name="Text 11"/>
          <p:cNvSpPr/>
          <p:nvPr/>
        </p:nvSpPr>
        <p:spPr>
          <a:xfrm>
            <a:off x="5156200" y="295146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Поправьте подписи, скачайте PNG или SVG и вставьте в слайд из Gamma.</a:t>
            </a:r>
            <a:endParaRPr lang="en-US" sz="1600" dirty="0"/>
          </a:p>
        </p:txBody>
      </p:sp>
      <p:sp>
        <p:nvSpPr>
          <p:cNvPr id="14" name="Text 12"/>
          <p:cNvSpPr/>
          <p:nvPr/>
        </p:nvSpPr>
        <p:spPr>
          <a:xfrm>
            <a:off x="4622800" y="5610870"/>
            <a:ext cx="69590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A5E"/>
                </a:solidFill>
                <a:latin typeface="Manrope" pitchFamily="34" charset="0"/>
                <a:ea typeface="Manrope" pitchFamily="34" charset="-122"/>
                <a:cs typeface="Manrope" pitchFamily="34" charset="-120"/>
              </a:rPr>
              <a:t>Время — 5 минут. Лучше всего работает на списках, процессах и сравнениях.</a:t>
            </a:r>
            <a:endParaRPr lang="en-US" sz="1300" dirty="0"/>
          </a:p>
        </p:txBody>
      </p:sp>
      <p:sp>
        <p:nvSpPr>
          <p:cNvPr id="15" name="Text 13"/>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6" name="Text 14"/>
          <p:cNvSpPr/>
          <p:nvPr/>
        </p:nvSpPr>
        <p:spPr>
          <a:xfrm>
            <a:off x="11148566" y="6238280"/>
            <a:ext cx="23063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GLM / Z.AI</a:t>
            </a:r>
            <a:endParaRPr lang="en-US" sz="1200" dirty="0"/>
          </a:p>
        </p:txBody>
      </p:sp>
      <p:sp>
        <p:nvSpPr>
          <p:cNvPr id="4" name="Text 2"/>
          <p:cNvSpPr/>
          <p:nvPr/>
        </p:nvSpPr>
        <p:spPr>
          <a:xfrm>
            <a:off x="1168400" y="4099570"/>
            <a:ext cx="266852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A261"/>
                </a:solidFill>
                <a:latin typeface="Unbounded" pitchFamily="34" charset="0"/>
                <a:ea typeface="Unbounded" pitchFamily="34" charset="-122"/>
                <a:cs typeface="Unbounded" pitchFamily="34" charset="-120"/>
              </a:rPr>
              <a:t>8</a:t>
            </a:r>
            <a:endParaRPr lang="en-US" sz="8000" dirty="0"/>
          </a:p>
        </p:txBody>
      </p:sp>
      <p:sp>
        <p:nvSpPr>
          <p:cNvPr id="5" name="Text 3"/>
          <p:cNvSpPr/>
          <p:nvPr/>
        </p:nvSpPr>
        <p:spPr>
          <a:xfrm>
            <a:off x="1168400" y="5166370"/>
            <a:ext cx="266852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2EA"/>
                </a:solidFill>
                <a:latin typeface="Manrope" pitchFamily="34" charset="0"/>
                <a:ea typeface="Manrope" pitchFamily="34" charset="-122"/>
                <a:cs typeface="Manrope" pitchFamily="34" charset="-120"/>
              </a:rPr>
              <a:t>минут</a:t>
            </a:r>
            <a:endParaRPr lang="en-US" sz="1800" dirty="0"/>
          </a:p>
        </p:txBody>
      </p:sp>
      <p:sp>
        <p:nvSpPr>
          <p:cNvPr id="6" name="Text 4"/>
          <p:cNvSpPr/>
          <p:nvPr>
            <p:ph type="title"/>
          </p:nvPr>
        </p:nvSpPr>
        <p:spPr>
          <a:xfrm>
            <a:off x="4622800" y="812800"/>
            <a:ext cx="69590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Тот же материал, другая сборка</a:t>
            </a:r>
            <a:endParaRPr lang="en-US" sz="2800" dirty="0"/>
          </a:p>
        </p:txBody>
      </p:sp>
      <p:sp>
        <p:nvSpPr>
          <p:cNvPr id="7" name="Text 5"/>
          <p:cNvSpPr/>
          <p:nvPr/>
        </p:nvSpPr>
        <p:spPr>
          <a:xfrm>
            <a:off x="4622800" y="18846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8" name="Text 6"/>
          <p:cNvSpPr/>
          <p:nvPr/>
        </p:nvSpPr>
        <p:spPr>
          <a:xfrm>
            <a:off x="5156200" y="188466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Откройте chat.z.ai, включите режим слайдов, добавьте исходник и запрос №2.</a:t>
            </a:r>
            <a:endParaRPr lang="en-US" sz="1600" dirty="0"/>
          </a:p>
        </p:txBody>
      </p:sp>
      <p:sp>
        <p:nvSpPr>
          <p:cNvPr id="9" name="Text 7"/>
          <p:cNvSpPr/>
          <p:nvPr/>
        </p:nvSpPr>
        <p:spPr>
          <a:xfrm>
            <a:off x="4622800" y="263138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0" name="Text 8"/>
          <p:cNvSpPr/>
          <p:nvPr/>
        </p:nvSpPr>
        <p:spPr>
          <a:xfrm>
            <a:off x="5156200" y="263138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Задайте настройки: пять слайдов, язык, стиль.</a:t>
            </a:r>
            <a:endParaRPr lang="en-US" sz="1600" dirty="0"/>
          </a:p>
        </p:txBody>
      </p:sp>
      <p:sp>
        <p:nvSpPr>
          <p:cNvPr id="11" name="Text 9"/>
          <p:cNvSpPr/>
          <p:nvPr/>
        </p:nvSpPr>
        <p:spPr>
          <a:xfrm>
            <a:off x="4622800" y="316478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2" name="Text 10"/>
          <p:cNvSpPr/>
          <p:nvPr/>
        </p:nvSpPr>
        <p:spPr>
          <a:xfrm>
            <a:off x="5156200" y="316478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Найдите лишнее утверждение или перегруженный слайд и дайте одну точную правку.</a:t>
            </a:r>
            <a:endParaRPr lang="en-US" sz="1600" dirty="0"/>
          </a:p>
        </p:txBody>
      </p:sp>
      <p:sp>
        <p:nvSpPr>
          <p:cNvPr id="13" name="Text 11"/>
          <p:cNvSpPr/>
          <p:nvPr/>
        </p:nvSpPr>
        <p:spPr>
          <a:xfrm>
            <a:off x="4622800" y="5610870"/>
            <a:ext cx="69590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A5E"/>
                </a:solidFill>
                <a:latin typeface="Manrope" pitchFamily="34" charset="0"/>
                <a:ea typeface="Manrope" pitchFamily="34" charset="-122"/>
                <a:cs typeface="Manrope" pitchFamily="34" charset="-120"/>
              </a:rPr>
              <a:t>Готовые запросы и учебные файлы — в практикуме.</a:t>
            </a:r>
            <a:endParaRPr lang="en-US" sz="1300" dirty="0"/>
          </a:p>
        </p:txBody>
      </p:sp>
      <p:sp>
        <p:nvSpPr>
          <p:cNvPr id="14" name="Text 12"/>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5" name="Text 13"/>
          <p:cNvSpPr/>
          <p:nvPr/>
        </p:nvSpPr>
        <p:spPr>
          <a:xfrm>
            <a:off x="11182052" y="6238280"/>
            <a:ext cx="19714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ПРОВЕРКА</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Перед тем как показать коллеге</a:t>
            </a:r>
            <a:endParaRPr lang="en-US" sz="3000" dirty="0"/>
          </a:p>
        </p:txBody>
      </p:sp>
      <p:sp>
        <p:nvSpPr>
          <p:cNvPr id="4" name="Shape 2"/>
          <p:cNvSpPr/>
          <p:nvPr/>
        </p:nvSpPr>
        <p:spPr>
          <a:xfrm>
            <a:off x="815975" y="1899245"/>
            <a:ext cx="5181600" cy="3939580"/>
          </a:xfrm>
          <a:prstGeom prst="roundRect">
            <a:avLst>
              <a:gd name="adj" fmla="val 3788"/>
            </a:avLst>
          </a:prstGeom>
          <a:solidFill>
            <a:srgbClr val="FFFDF8"/>
          </a:solidFill>
          <a:ln w="6350">
            <a:solidFill>
              <a:srgbClr val="E4DCCD"/>
            </a:solidFill>
            <a:prstDash val="solid"/>
          </a:ln>
        </p:spPr>
      </p:sp>
      <p:sp>
        <p:nvSpPr>
          <p:cNvPr id="5" name="Text 3"/>
          <p:cNvSpPr/>
          <p:nvPr/>
        </p:nvSpPr>
        <p:spPr>
          <a:xfrm>
            <a:off x="1098550" y="2181820"/>
            <a:ext cx="475494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441C"/>
                </a:solidFill>
                <a:latin typeface="Manrope" pitchFamily="34" charset="0"/>
                <a:ea typeface="Manrope" pitchFamily="34" charset="-122"/>
                <a:cs typeface="Manrope" pitchFamily="34" charset="-120"/>
              </a:rPr>
              <a:t>Проверьте результат</a:t>
            </a:r>
            <a:endParaRPr lang="en-US" sz="1700" dirty="0"/>
          </a:p>
        </p:txBody>
      </p:sp>
      <p:pic>
        <p:nvPicPr>
          <p:cNvPr id="6" name="Image 0" descr="Check">    </p:cNvPr>
          <p:cNvPicPr>
            <a:picLocks noChangeAspect="1"/>
          </p:cNvPicPr>
          <p:nvPr/>
        </p:nvPicPr>
        <p:blipFill>
          <a:blip r:embed="rId1"/>
          <a:srcRect l="0" r="0" t="0" b="0"/>
          <a:stretch/>
        </p:blipFill>
        <p:spPr>
          <a:xfrm>
            <a:off x="1098550" y="2620268"/>
            <a:ext cx="254000" cy="254000"/>
          </a:xfrm>
          <a:prstGeom prst="rect">
            <a:avLst/>
          </a:prstGeom>
        </p:spPr>
      </p:pic>
      <p:sp>
        <p:nvSpPr>
          <p:cNvPr id="7" name="Text 4"/>
          <p:cNvSpPr/>
          <p:nvPr/>
        </p:nvSpPr>
        <p:spPr>
          <a:xfrm>
            <a:off x="1479550" y="2618680"/>
            <a:ext cx="436251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333"/>
                </a:solidFill>
                <a:latin typeface="Manrope" pitchFamily="34" charset="0"/>
                <a:ea typeface="Manrope" pitchFamily="34" charset="-122"/>
                <a:cs typeface="Manrope" pitchFamily="34" charset="-120"/>
              </a:rPr>
              <a:t>Каждый заголовок что-то сообщает</a:t>
            </a:r>
            <a:endParaRPr lang="en-US" sz="1500" dirty="0"/>
          </a:p>
        </p:txBody>
      </p:sp>
      <p:pic>
        <p:nvPicPr>
          <p:cNvPr id="8" name="Image 1" descr="Check">    </p:cNvPr>
          <p:cNvPicPr>
            <a:picLocks noChangeAspect="1"/>
          </p:cNvPicPr>
          <p:nvPr/>
        </p:nvPicPr>
        <p:blipFill>
          <a:blip r:embed="rId2"/>
          <a:srcRect l="0" r="0" t="0" b="0"/>
          <a:stretch/>
        </p:blipFill>
        <p:spPr>
          <a:xfrm>
            <a:off x="1098550" y="3055243"/>
            <a:ext cx="254000" cy="254000"/>
          </a:xfrm>
          <a:prstGeom prst="rect">
            <a:avLst/>
          </a:prstGeom>
        </p:spPr>
      </p:pic>
      <p:sp>
        <p:nvSpPr>
          <p:cNvPr id="9" name="Text 5"/>
          <p:cNvSpPr/>
          <p:nvPr/>
        </p:nvSpPr>
        <p:spPr>
          <a:xfrm>
            <a:off x="1479550" y="3053655"/>
            <a:ext cx="436251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333"/>
                </a:solidFill>
                <a:latin typeface="Manrope" pitchFamily="34" charset="0"/>
                <a:ea typeface="Manrope" pitchFamily="34" charset="-122"/>
                <a:cs typeface="Manrope" pitchFamily="34" charset="-120"/>
              </a:rPr>
              <a:t>Цифры совпадают с исходником</a:t>
            </a:r>
            <a:endParaRPr lang="en-US" sz="1500" dirty="0"/>
          </a:p>
        </p:txBody>
      </p:sp>
      <p:pic>
        <p:nvPicPr>
          <p:cNvPr id="10" name="Image 2" descr="Check">    </p:cNvPr>
          <p:cNvPicPr>
            <a:picLocks noChangeAspect="1"/>
          </p:cNvPicPr>
          <p:nvPr/>
        </p:nvPicPr>
        <p:blipFill>
          <a:blip r:embed="rId3"/>
          <a:srcRect l="0" r="0" t="0" b="0"/>
          <a:stretch/>
        </p:blipFill>
        <p:spPr>
          <a:xfrm>
            <a:off x="1098550" y="3490218"/>
            <a:ext cx="254000" cy="254000"/>
          </a:xfrm>
          <a:prstGeom prst="rect">
            <a:avLst/>
          </a:prstGeom>
        </p:spPr>
      </p:pic>
      <p:sp>
        <p:nvSpPr>
          <p:cNvPr id="11" name="Text 6"/>
          <p:cNvSpPr/>
          <p:nvPr/>
        </p:nvSpPr>
        <p:spPr>
          <a:xfrm>
            <a:off x="1479550" y="3488630"/>
            <a:ext cx="436251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333"/>
                </a:solidFill>
                <a:latin typeface="Manrope" pitchFamily="34" charset="0"/>
                <a:ea typeface="Manrope" pitchFamily="34" charset="-122"/>
                <a:cs typeface="Manrope" pitchFamily="34" charset="-120"/>
              </a:rPr>
              <a:t>Нет выдуманных причин и обещаний</a:t>
            </a:r>
            <a:endParaRPr lang="en-US" sz="1500" dirty="0"/>
          </a:p>
        </p:txBody>
      </p:sp>
      <p:pic>
        <p:nvPicPr>
          <p:cNvPr id="12" name="Image 3" descr="Check">    </p:cNvPr>
          <p:cNvPicPr>
            <a:picLocks noChangeAspect="1"/>
          </p:cNvPicPr>
          <p:nvPr/>
        </p:nvPicPr>
        <p:blipFill>
          <a:blip r:embed="rId4"/>
          <a:srcRect l="0" r="0" t="0" b="0"/>
          <a:stretch/>
        </p:blipFill>
        <p:spPr>
          <a:xfrm>
            <a:off x="1098550" y="3925193"/>
            <a:ext cx="254000" cy="254000"/>
          </a:xfrm>
          <a:prstGeom prst="rect">
            <a:avLst/>
          </a:prstGeom>
        </p:spPr>
      </p:pic>
      <p:sp>
        <p:nvSpPr>
          <p:cNvPr id="13" name="Text 7"/>
          <p:cNvSpPr/>
          <p:nvPr/>
        </p:nvSpPr>
        <p:spPr>
          <a:xfrm>
            <a:off x="1479550" y="3923605"/>
            <a:ext cx="436251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333"/>
                </a:solidFill>
                <a:latin typeface="Manrope" pitchFamily="34" charset="0"/>
                <a:ea typeface="Manrope" pitchFamily="34" charset="-122"/>
                <a:cs typeface="Manrope" pitchFamily="34" charset="-120"/>
              </a:rPr>
              <a:t>Файл открывается, текст читается</a:t>
            </a:r>
            <a:endParaRPr lang="en-US" sz="1500" dirty="0"/>
          </a:p>
        </p:txBody>
      </p:sp>
      <p:sp>
        <p:nvSpPr>
          <p:cNvPr id="14" name="Shape 8"/>
          <p:cNvSpPr/>
          <p:nvPr/>
        </p:nvSpPr>
        <p:spPr>
          <a:xfrm>
            <a:off x="6203950" y="1896070"/>
            <a:ext cx="5175250" cy="3945930"/>
          </a:xfrm>
          <a:prstGeom prst="roundRect">
            <a:avLst>
              <a:gd name="adj" fmla="val 3862"/>
            </a:avLst>
          </a:prstGeom>
          <a:solidFill>
            <a:srgbClr val="1F2333"/>
          </a:solidFill>
          <a:ln/>
        </p:spPr>
      </p:sp>
      <p:sp>
        <p:nvSpPr>
          <p:cNvPr id="15" name="Text 9"/>
          <p:cNvSpPr/>
          <p:nvPr/>
        </p:nvSpPr>
        <p:spPr>
          <a:xfrm>
            <a:off x="6483350" y="2175470"/>
            <a:ext cx="475494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A261"/>
                </a:solidFill>
                <a:latin typeface="Manrope" pitchFamily="34" charset="0"/>
                <a:ea typeface="Manrope" pitchFamily="34" charset="-122"/>
                <a:cs typeface="Manrope" pitchFamily="34" charset="-120"/>
              </a:rPr>
              <a:t>Сравните сервисы</a:t>
            </a:r>
            <a:endParaRPr lang="en-US" sz="1700" dirty="0"/>
          </a:p>
        </p:txBody>
      </p:sp>
      <p:sp>
        <p:nvSpPr>
          <p:cNvPr id="16" name="Text 10"/>
          <p:cNvSpPr/>
          <p:nvPr/>
        </p:nvSpPr>
        <p:spPr>
          <a:xfrm>
            <a:off x="6483350" y="2612330"/>
            <a:ext cx="47549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2EA"/>
                </a:solidFill>
                <a:latin typeface="Manrope" pitchFamily="34" charset="0"/>
                <a:ea typeface="Manrope" pitchFamily="34" charset="-122"/>
                <a:cs typeface="Manrope" pitchFamily="34" charset="-120"/>
              </a:rPr>
              <a:t>Где меньше пришлось исправлять факты?</a:t>
            </a:r>
            <a:endParaRPr lang="en-US" sz="1500" dirty="0"/>
          </a:p>
        </p:txBody>
      </p:sp>
      <p:sp>
        <p:nvSpPr>
          <p:cNvPr id="17" name="Text 11"/>
          <p:cNvSpPr/>
          <p:nvPr/>
        </p:nvSpPr>
        <p:spPr>
          <a:xfrm>
            <a:off x="6483350" y="3047305"/>
            <a:ext cx="47549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2EA"/>
                </a:solidFill>
                <a:latin typeface="Manrope" pitchFamily="34" charset="0"/>
                <a:ea typeface="Manrope" pitchFamily="34" charset="-122"/>
                <a:cs typeface="Manrope" pitchFamily="34" charset="-120"/>
              </a:rPr>
              <a:t>Где проще поменять один слайд?</a:t>
            </a:r>
            <a:endParaRPr lang="en-US" sz="1500" dirty="0"/>
          </a:p>
        </p:txBody>
      </p:sp>
      <p:sp>
        <p:nvSpPr>
          <p:cNvPr id="18" name="Text 12"/>
          <p:cNvSpPr/>
          <p:nvPr/>
        </p:nvSpPr>
        <p:spPr>
          <a:xfrm>
            <a:off x="6483350" y="3482280"/>
            <a:ext cx="47549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2EA"/>
                </a:solidFill>
                <a:latin typeface="Manrope" pitchFamily="34" charset="0"/>
                <a:ea typeface="Manrope" pitchFamily="34" charset="-122"/>
                <a:cs typeface="Manrope" pitchFamily="34" charset="-120"/>
              </a:rPr>
              <a:t>Что удалось сохранить и открыть?</a:t>
            </a:r>
            <a:endParaRPr lang="en-US" sz="1500" dirty="0"/>
          </a:p>
        </p:txBody>
      </p:sp>
      <p:sp>
        <p:nvSpPr>
          <p:cNvPr id="19" name="Text 13"/>
          <p:cNvSpPr/>
          <p:nvPr/>
        </p:nvSpPr>
        <p:spPr>
          <a:xfrm>
            <a:off x="6483350" y="3917255"/>
            <a:ext cx="47549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2EA"/>
                </a:solidFill>
                <a:latin typeface="Manrope" pitchFamily="34" charset="0"/>
                <a:ea typeface="Manrope" pitchFamily="34" charset="-122"/>
                <a:cs typeface="Manrope" pitchFamily="34" charset="-120"/>
              </a:rPr>
              <a:t>Какой результат не стыдно показать коллеге?</a:t>
            </a:r>
            <a:endParaRPr lang="en-US" sz="1500" dirty="0"/>
          </a:p>
        </p:txBody>
      </p:sp>
      <p:sp>
        <p:nvSpPr>
          <p:cNvPr id="20"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21" name="Text 15"/>
          <p:cNvSpPr/>
          <p:nvPr/>
        </p:nvSpPr>
        <p:spPr>
          <a:xfrm>
            <a:off x="11154618" y="6238280"/>
            <a:ext cx="224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23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347200" y="3860800"/>
            <a:ext cx="2032000" cy="2032000"/>
          </a:xfrm>
          <a:prstGeom prst="rect">
            <a:avLst/>
          </a:prstGeom>
        </p:spPr>
      </p:pic>
      <p:sp>
        <p:nvSpPr>
          <p:cNvPr id="3" name="Text 0"/>
          <p:cNvSpPr/>
          <p:nvPr/>
        </p:nvSpPr>
        <p:spPr>
          <a:xfrm>
            <a:off x="812800" y="191517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A261"/>
                </a:solidFill>
                <a:latin typeface="Unbounded" pitchFamily="34" charset="0"/>
                <a:ea typeface="Unbounded" pitchFamily="34" charset="-122"/>
                <a:cs typeface="Unbounded" pitchFamily="34" charset="-120"/>
              </a:rPr>
              <a:t>03</a:t>
            </a:r>
            <a:endParaRPr lang="en-US" sz="6000" dirty="0"/>
          </a:p>
        </p:txBody>
      </p:sp>
      <p:sp>
        <p:nvSpPr>
          <p:cNvPr id="4" name="Text 1"/>
          <p:cNvSpPr/>
          <p:nvPr>
            <p:ph type="title"/>
          </p:nvPr>
        </p:nvSpPr>
        <p:spPr>
          <a:xfrm>
            <a:off x="812800" y="2931170"/>
            <a:ext cx="837184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2EA"/>
                </a:solidFill>
                <a:latin typeface="Unbounded" pitchFamily="34" charset="0"/>
                <a:ea typeface="Unbounded" pitchFamily="34" charset="-122"/>
                <a:cs typeface="Unbounded" pitchFamily="34" charset="-120"/>
              </a:rPr>
              <a:t>Что отдать ИИ, где решает человек</a:t>
            </a:r>
            <a:endParaRPr lang="en-US" sz="4000" dirty="0"/>
          </a:p>
        </p:txBody>
      </p:sp>
      <p:sp>
        <p:nvSpPr>
          <p:cNvPr id="5" name="Text 2"/>
          <p:cNvSpPr/>
          <p:nvPr/>
        </p:nvSpPr>
        <p:spPr>
          <a:xfrm>
            <a:off x="812800" y="4302770"/>
            <a:ext cx="78486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BD4"/>
                </a:solidFill>
                <a:latin typeface="Manrope" pitchFamily="34" charset="0"/>
                <a:ea typeface="Manrope" pitchFamily="34" charset="-122"/>
                <a:cs typeface="Manrope" pitchFamily="34" charset="-120"/>
              </a:rPr>
              <a:t>Здесь ИИ экономит больше всего времени, и здесь же ошибка стоит дороже всего.</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ДЕЛЕГИРОВАНИЕ</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Три уровня: что можно отдать ИИ</a:t>
            </a:r>
            <a:endParaRPr lang="en-US" sz="3000" dirty="0"/>
          </a:p>
        </p:txBody>
      </p:sp>
      <p:sp>
        <p:nvSpPr>
          <p:cNvPr id="4" name="Shape 2"/>
          <p:cNvSpPr/>
          <p:nvPr/>
        </p:nvSpPr>
        <p:spPr>
          <a:xfrm>
            <a:off x="815975" y="1848445"/>
            <a:ext cx="3405684" cy="3487489"/>
          </a:xfrm>
          <a:prstGeom prst="roundRect">
            <a:avLst>
              <a:gd name="adj" fmla="val 4382"/>
            </a:avLst>
          </a:prstGeom>
          <a:solidFill>
            <a:srgbClr val="FFFDF8"/>
          </a:solidFill>
          <a:ln w="6350">
            <a:solidFill>
              <a:srgbClr val="E4DCCD"/>
            </a:solidFill>
            <a:prstDash val="solid"/>
          </a:ln>
        </p:spPr>
      </p:sp>
      <p:sp>
        <p:nvSpPr>
          <p:cNvPr id="5" name="Text 3"/>
          <p:cNvSpPr/>
          <p:nvPr/>
        </p:nvSpPr>
        <p:spPr>
          <a:xfrm>
            <a:off x="1047750" y="2080220"/>
            <a:ext cx="303039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C"/>
                </a:solidFill>
                <a:latin typeface="Manrope" pitchFamily="34" charset="0"/>
                <a:ea typeface="Manrope" pitchFamily="34" charset="-122"/>
                <a:cs typeface="Manrope" pitchFamily="34" charset="-120"/>
              </a:rPr>
              <a:t>УРОВЕНЬ 1</a:t>
            </a:r>
            <a:endParaRPr lang="en-US" sz="1200" dirty="0"/>
          </a:p>
        </p:txBody>
      </p:sp>
      <p:sp>
        <p:nvSpPr>
          <p:cNvPr id="6" name="Text 4"/>
          <p:cNvSpPr/>
          <p:nvPr/>
        </p:nvSpPr>
        <p:spPr>
          <a:xfrm>
            <a:off x="1047750" y="2395141"/>
            <a:ext cx="303039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333"/>
                </a:solidFill>
                <a:latin typeface="Manrope" pitchFamily="34" charset="0"/>
                <a:ea typeface="Manrope" pitchFamily="34" charset="-122"/>
                <a:cs typeface="Manrope" pitchFamily="34" charset="-120"/>
              </a:rPr>
              <a:t>ИИ делает сам</a:t>
            </a:r>
            <a:endParaRPr lang="en-US" sz="1700" dirty="0"/>
          </a:p>
        </p:txBody>
      </p:sp>
      <p:sp>
        <p:nvSpPr>
          <p:cNvPr id="7" name="Text 5"/>
          <p:cNvSpPr/>
          <p:nvPr/>
        </p:nvSpPr>
        <p:spPr>
          <a:xfrm>
            <a:off x="1047750" y="2755801"/>
            <a:ext cx="3030398"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Черновики, сводки, расшифровки встреч, сортировка писем, первичный разбор данных.</a:t>
            </a:r>
            <a:endParaRPr lang="en-US" sz="1300" dirty="0"/>
          </a:p>
        </p:txBody>
      </p:sp>
      <p:sp>
        <p:nvSpPr>
          <p:cNvPr id="8" name="Text 6"/>
          <p:cNvSpPr/>
          <p:nvPr/>
        </p:nvSpPr>
        <p:spPr>
          <a:xfrm>
            <a:off x="1047750" y="4890839"/>
            <a:ext cx="303039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333"/>
                </a:solidFill>
                <a:latin typeface="Manrope" pitchFamily="34" charset="0"/>
                <a:ea typeface="Manrope" pitchFamily="34" charset="-122"/>
                <a:cs typeface="Manrope" pitchFamily="34" charset="-120"/>
              </a:rPr>
              <a:t>Человек</a:t>
            </a:r>
            <a:r>
              <a:rPr lang="en-US" sz="1200" dirty="0">
                <a:solidFill>
                  <a:srgbClr val="1F2333"/>
                </a:solidFill>
                <a:latin typeface="Manrope" pitchFamily="34" charset="0"/>
                <a:ea typeface="Manrope" pitchFamily="34" charset="-122"/>
                <a:cs typeface="Manrope" pitchFamily="34" charset="-120"/>
              </a:rPr>
              <a:t> проверяет выборочно.</a:t>
            </a:r>
            <a:endParaRPr lang="en-US" sz="1200" dirty="0"/>
          </a:p>
        </p:txBody>
      </p:sp>
      <p:sp>
        <p:nvSpPr>
          <p:cNvPr id="9" name="Shape 7"/>
          <p:cNvSpPr/>
          <p:nvPr/>
        </p:nvSpPr>
        <p:spPr>
          <a:xfrm>
            <a:off x="4402634" y="1845270"/>
            <a:ext cx="3399383" cy="3493839"/>
          </a:xfrm>
          <a:prstGeom prst="roundRect">
            <a:avLst>
              <a:gd name="adj" fmla="val 4483"/>
            </a:avLst>
          </a:prstGeom>
          <a:solidFill>
            <a:srgbClr val="EDE5D6"/>
          </a:solidFill>
          <a:ln/>
        </p:spPr>
      </p:sp>
      <p:sp>
        <p:nvSpPr>
          <p:cNvPr id="10" name="Text 8"/>
          <p:cNvSpPr/>
          <p:nvPr/>
        </p:nvSpPr>
        <p:spPr>
          <a:xfrm>
            <a:off x="4631234" y="2073870"/>
            <a:ext cx="30304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441C"/>
                </a:solidFill>
                <a:latin typeface="Manrope" pitchFamily="34" charset="0"/>
                <a:ea typeface="Manrope" pitchFamily="34" charset="-122"/>
                <a:cs typeface="Manrope" pitchFamily="34" charset="-120"/>
              </a:rPr>
              <a:t>УРОВЕНЬ 2</a:t>
            </a:r>
            <a:endParaRPr lang="en-US" sz="1200" dirty="0"/>
          </a:p>
        </p:txBody>
      </p:sp>
      <p:sp>
        <p:nvSpPr>
          <p:cNvPr id="11" name="Text 9"/>
          <p:cNvSpPr/>
          <p:nvPr/>
        </p:nvSpPr>
        <p:spPr>
          <a:xfrm>
            <a:off x="4631234" y="2388791"/>
            <a:ext cx="3030449" cy="54352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F2333"/>
                </a:solidFill>
                <a:latin typeface="Manrope" pitchFamily="34" charset="0"/>
                <a:ea typeface="Manrope" pitchFamily="34" charset="-122"/>
                <a:cs typeface="Manrope" pitchFamily="34" charset="-120"/>
              </a:rPr>
              <a:t>ИИ готовит, человек утверждает</a:t>
            </a:r>
            <a:endParaRPr lang="en-US" sz="1700" dirty="0"/>
          </a:p>
        </p:txBody>
      </p:sp>
      <p:sp>
        <p:nvSpPr>
          <p:cNvPr id="12" name="Text 10"/>
          <p:cNvSpPr/>
          <p:nvPr/>
        </p:nvSpPr>
        <p:spPr>
          <a:xfrm>
            <a:off x="4631234" y="3008511"/>
            <a:ext cx="303044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061"/>
                </a:solidFill>
                <a:latin typeface="Manrope" pitchFamily="34" charset="0"/>
                <a:ea typeface="Manrope" pitchFamily="34" charset="-122"/>
                <a:cs typeface="Manrope" pitchFamily="34" charset="-120"/>
              </a:rPr>
              <a:t>Письмо клиенту, отчёт руководителю, презентация, ответ по регламенту.</a:t>
            </a:r>
            <a:endParaRPr lang="en-US" sz="1300" dirty="0"/>
          </a:p>
        </p:txBody>
      </p:sp>
      <p:sp>
        <p:nvSpPr>
          <p:cNvPr id="13" name="Text 11"/>
          <p:cNvSpPr/>
          <p:nvPr/>
        </p:nvSpPr>
        <p:spPr>
          <a:xfrm>
            <a:off x="4631234" y="4683869"/>
            <a:ext cx="303044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333"/>
                </a:solidFill>
                <a:latin typeface="Manrope" pitchFamily="34" charset="0"/>
                <a:ea typeface="Manrope" pitchFamily="34" charset="-122"/>
                <a:cs typeface="Manrope" pitchFamily="34" charset="-120"/>
              </a:rPr>
              <a:t>Человек</a:t>
            </a:r>
            <a:r>
              <a:rPr lang="en-US" sz="1200" dirty="0">
                <a:solidFill>
                  <a:srgbClr val="1F2333"/>
                </a:solidFill>
                <a:latin typeface="Manrope" pitchFamily="34" charset="0"/>
                <a:ea typeface="Manrope" pitchFamily="34" charset="-122"/>
                <a:cs typeface="Manrope" pitchFamily="34" charset="-120"/>
              </a:rPr>
              <a:t> смотрит каждый результат до отправки.</a:t>
            </a:r>
            <a:endParaRPr lang="en-US" sz="1200" dirty="0"/>
          </a:p>
        </p:txBody>
      </p:sp>
      <p:sp>
        <p:nvSpPr>
          <p:cNvPr id="14" name="Shape 12"/>
          <p:cNvSpPr/>
          <p:nvPr/>
        </p:nvSpPr>
        <p:spPr>
          <a:xfrm>
            <a:off x="7979817" y="1845270"/>
            <a:ext cx="3399383" cy="3493839"/>
          </a:xfrm>
          <a:prstGeom prst="roundRect">
            <a:avLst>
              <a:gd name="adj" fmla="val 4483"/>
            </a:avLst>
          </a:prstGeom>
          <a:solidFill>
            <a:srgbClr val="1F2333"/>
          </a:solidFill>
          <a:ln/>
        </p:spPr>
      </p:sp>
      <p:sp>
        <p:nvSpPr>
          <p:cNvPr id="15" name="Text 13"/>
          <p:cNvSpPr/>
          <p:nvPr/>
        </p:nvSpPr>
        <p:spPr>
          <a:xfrm>
            <a:off x="8208417" y="2073870"/>
            <a:ext cx="30304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4A261"/>
                </a:solidFill>
                <a:latin typeface="Manrope" pitchFamily="34" charset="0"/>
                <a:ea typeface="Manrope" pitchFamily="34" charset="-122"/>
                <a:cs typeface="Manrope" pitchFamily="34" charset="-120"/>
              </a:rPr>
              <a:t>УРОВЕНЬ 3</a:t>
            </a:r>
            <a:endParaRPr lang="en-US" sz="1200" dirty="0"/>
          </a:p>
        </p:txBody>
      </p:sp>
      <p:sp>
        <p:nvSpPr>
          <p:cNvPr id="16" name="Text 14"/>
          <p:cNvSpPr/>
          <p:nvPr/>
        </p:nvSpPr>
        <p:spPr>
          <a:xfrm>
            <a:off x="8208417" y="2388791"/>
            <a:ext cx="303044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2EA"/>
                </a:solidFill>
                <a:latin typeface="Manrope" pitchFamily="34" charset="0"/>
                <a:ea typeface="Manrope" pitchFamily="34" charset="-122"/>
                <a:cs typeface="Manrope" pitchFamily="34" charset="-120"/>
              </a:rPr>
              <a:t>Решает только человек</a:t>
            </a:r>
            <a:endParaRPr lang="en-US" sz="1700" dirty="0"/>
          </a:p>
        </p:txBody>
      </p:sp>
      <p:sp>
        <p:nvSpPr>
          <p:cNvPr id="17" name="Text 15"/>
          <p:cNvSpPr/>
          <p:nvPr/>
        </p:nvSpPr>
        <p:spPr>
          <a:xfrm>
            <a:off x="8208417" y="2749451"/>
            <a:ext cx="3030449"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BD4"/>
                </a:solidFill>
                <a:latin typeface="Manrope" pitchFamily="34" charset="0"/>
                <a:ea typeface="Manrope" pitchFamily="34" charset="-122"/>
                <a:cs typeface="Manrope" pitchFamily="34" charset="-120"/>
              </a:rPr>
              <a:t>Бюджет и платежи, найм и оценка людей, договоры, исключения из правил.</a:t>
            </a:r>
            <a:endParaRPr lang="en-US" sz="1300" dirty="0"/>
          </a:p>
        </p:txBody>
      </p:sp>
      <p:sp>
        <p:nvSpPr>
          <p:cNvPr id="18" name="Text 16"/>
          <p:cNvSpPr/>
          <p:nvPr/>
        </p:nvSpPr>
        <p:spPr>
          <a:xfrm>
            <a:off x="8208417" y="4683869"/>
            <a:ext cx="303044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2EA"/>
                </a:solidFill>
                <a:latin typeface="Manrope" pitchFamily="34" charset="0"/>
                <a:ea typeface="Manrope" pitchFamily="34" charset="-122"/>
                <a:cs typeface="Manrope" pitchFamily="34" charset="-120"/>
              </a:rPr>
              <a:t>ИИ</a:t>
            </a:r>
            <a:r>
              <a:rPr lang="en-US" sz="1200" dirty="0">
                <a:solidFill>
                  <a:srgbClr val="F6F2EA"/>
                </a:solidFill>
                <a:latin typeface="Manrope" pitchFamily="34" charset="0"/>
                <a:ea typeface="Manrope" pitchFamily="34" charset="-122"/>
                <a:cs typeface="Manrope" pitchFamily="34" charset="-120"/>
              </a:rPr>
              <a:t> может собрать варианты и аргументы.</a:t>
            </a:r>
            <a:endParaRPr lang="en-US" sz="1200" dirty="0"/>
          </a:p>
        </p:txBody>
      </p:sp>
      <p:sp>
        <p:nvSpPr>
          <p:cNvPr id="19" name="Text 17"/>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441C"/>
                </a:solidFill>
                <a:latin typeface="Manrope" pitchFamily="34" charset="0"/>
                <a:ea typeface="Manrope" pitchFamily="34" charset="-122"/>
                <a:cs typeface="Manrope" pitchFamily="34" charset="-120"/>
              </a:rPr>
              <a:t>Простой тест:</a:t>
            </a:r>
            <a:r>
              <a:rPr lang="en-US" sz="1400" dirty="0">
                <a:solidFill>
                  <a:srgbClr val="1F2333"/>
                </a:solidFill>
                <a:latin typeface="Manrope" pitchFamily="34" charset="0"/>
                <a:ea typeface="Manrope" pitchFamily="34" charset="-122"/>
                <a:cs typeface="Manrope" pitchFamily="34" charset="-120"/>
              </a:rPr>
              <a:t> можно ли отменить последствие, и кто за него отвечает перед другими людьми?</a:t>
            </a:r>
            <a:endParaRPr lang="en-US" sz="1400" dirty="0"/>
          </a:p>
        </p:txBody>
      </p:sp>
      <p:sp>
        <p:nvSpPr>
          <p:cNvPr id="20" name="Text 18"/>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21" name="Text 19"/>
          <p:cNvSpPr/>
          <p:nvPr/>
        </p:nvSpPr>
        <p:spPr>
          <a:xfrm>
            <a:off x="11154668" y="6238280"/>
            <a:ext cx="22453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КОГДА СОТРУДНИКИ СТРОЯТ АГЕНТОВ</a:t>
            </a:r>
            <a:endParaRPr lang="en-US" sz="1200" dirty="0"/>
          </a:p>
        </p:txBody>
      </p:sp>
      <p:sp>
        <p:nvSpPr>
          <p:cNvPr id="3" name="Text 1"/>
          <p:cNvSpPr/>
          <p:nvPr>
            <p:ph type="title"/>
          </p:nvPr>
        </p:nvSpPr>
        <p:spPr>
          <a:xfrm>
            <a:off x="812800" y="115312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Где агент останавливается и зовёт человека</a:t>
            </a:r>
            <a:endParaRPr lang="en-US" sz="3000" dirty="0"/>
          </a:p>
        </p:txBody>
      </p:sp>
      <p:sp>
        <p:nvSpPr>
          <p:cNvPr id="4" name="Shape 2"/>
          <p:cNvSpPr/>
          <p:nvPr/>
        </p:nvSpPr>
        <p:spPr>
          <a:xfrm>
            <a:off x="815975" y="2286595"/>
            <a:ext cx="6115050" cy="3552230"/>
          </a:xfrm>
          <a:prstGeom prst="roundRect">
            <a:avLst>
              <a:gd name="adj" fmla="val 4201"/>
            </a:avLst>
          </a:prstGeom>
          <a:solidFill>
            <a:srgbClr val="FFFDF8"/>
          </a:solidFill>
          <a:ln w="6350">
            <a:solidFill>
              <a:srgbClr val="E4DCCD"/>
            </a:solidFill>
            <a:prstDash val="solid"/>
          </a:ln>
        </p:spPr>
      </p:sp>
      <p:sp>
        <p:nvSpPr>
          <p:cNvPr id="5" name="Text 3"/>
          <p:cNvSpPr/>
          <p:nvPr/>
        </p:nvSpPr>
        <p:spPr>
          <a:xfrm>
            <a:off x="1073150" y="2543770"/>
            <a:ext cx="576872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Контрольные точки</a:t>
            </a:r>
            <a:endParaRPr lang="en-US" sz="1600" dirty="0"/>
          </a:p>
        </p:txBody>
      </p:sp>
      <p:pic>
        <p:nvPicPr>
          <p:cNvPr id="6" name="Image 0" descr="Warning">    </p:cNvPr>
          <p:cNvPicPr>
            <a:picLocks noChangeAspect="1"/>
          </p:cNvPicPr>
          <p:nvPr/>
        </p:nvPicPr>
        <p:blipFill>
          <a:blip r:embed="rId1"/>
          <a:srcRect l="0" r="0" t="0" b="0"/>
          <a:stretch/>
        </p:blipFill>
        <p:spPr>
          <a:xfrm>
            <a:off x="1073150" y="3027611"/>
            <a:ext cx="254000" cy="254000"/>
          </a:xfrm>
          <a:prstGeom prst="rect">
            <a:avLst/>
          </a:prstGeom>
        </p:spPr>
      </p:pic>
      <p:sp>
        <p:nvSpPr>
          <p:cNvPr id="7" name="Text 4"/>
          <p:cNvSpPr/>
          <p:nvPr/>
        </p:nvSpPr>
        <p:spPr>
          <a:xfrm>
            <a:off x="1454150" y="2914600"/>
            <a:ext cx="537629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333"/>
                </a:solidFill>
                <a:latin typeface="Manrope" pitchFamily="34" charset="0"/>
                <a:ea typeface="Manrope" pitchFamily="34" charset="-122"/>
                <a:cs typeface="Manrope" pitchFamily="34" charset="-120"/>
              </a:rPr>
              <a:t>Перед необратимым: отправить, оплатить, удалить, опубликовать</a:t>
            </a:r>
            <a:endParaRPr lang="en-US" sz="1400" dirty="0"/>
          </a:p>
        </p:txBody>
      </p:sp>
      <p:pic>
        <p:nvPicPr>
          <p:cNvPr id="8" name="Image 1" descr="Warning">    </p:cNvPr>
          <p:cNvPicPr>
            <a:picLocks noChangeAspect="1"/>
          </p:cNvPicPr>
          <p:nvPr/>
        </p:nvPicPr>
        <p:blipFill>
          <a:blip r:embed="rId2"/>
          <a:srcRect l="0" r="0" t="0" b="0"/>
          <a:stretch/>
        </p:blipFill>
        <p:spPr>
          <a:xfrm>
            <a:off x="1073150" y="3521621"/>
            <a:ext cx="254000" cy="254000"/>
          </a:xfrm>
          <a:prstGeom prst="rect">
            <a:avLst/>
          </a:prstGeom>
        </p:spPr>
      </p:pic>
      <p:sp>
        <p:nvSpPr>
          <p:cNvPr id="9" name="Text 5"/>
          <p:cNvSpPr/>
          <p:nvPr/>
        </p:nvSpPr>
        <p:spPr>
          <a:xfrm>
            <a:off x="1454150" y="3528616"/>
            <a:ext cx="537629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333"/>
                </a:solidFill>
                <a:latin typeface="Manrope" pitchFamily="34" charset="0"/>
                <a:ea typeface="Manrope" pitchFamily="34" charset="-122"/>
                <a:cs typeface="Manrope" pitchFamily="34" charset="-120"/>
              </a:rPr>
              <a:t>Сумма или риск выше порога, заданного заранее</a:t>
            </a:r>
            <a:endParaRPr lang="en-US" sz="1400" dirty="0"/>
          </a:p>
        </p:txBody>
      </p:sp>
      <p:pic>
        <p:nvPicPr>
          <p:cNvPr id="10" name="Image 2" descr="Warning">    </p:cNvPr>
          <p:cNvPicPr>
            <a:picLocks noChangeAspect="1"/>
          </p:cNvPicPr>
          <p:nvPr/>
        </p:nvPicPr>
        <p:blipFill>
          <a:blip r:embed="rId3"/>
          <a:srcRect l="0" r="0" t="0" b="0"/>
          <a:stretch/>
        </p:blipFill>
        <p:spPr>
          <a:xfrm>
            <a:off x="1073150" y="3902621"/>
            <a:ext cx="254000" cy="254000"/>
          </a:xfrm>
          <a:prstGeom prst="rect">
            <a:avLst/>
          </a:prstGeom>
        </p:spPr>
      </p:pic>
      <p:sp>
        <p:nvSpPr>
          <p:cNvPr id="11" name="Text 6"/>
          <p:cNvSpPr/>
          <p:nvPr/>
        </p:nvSpPr>
        <p:spPr>
          <a:xfrm>
            <a:off x="1454150" y="3909616"/>
            <a:ext cx="537629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333"/>
                </a:solidFill>
                <a:latin typeface="Manrope" pitchFamily="34" charset="0"/>
                <a:ea typeface="Manrope" pitchFamily="34" charset="-122"/>
                <a:cs typeface="Manrope" pitchFamily="34" charset="-120"/>
              </a:rPr>
              <a:t>Источники противоречат друг другу или данных не хватает</a:t>
            </a:r>
            <a:endParaRPr lang="en-US" sz="1400" dirty="0"/>
          </a:p>
        </p:txBody>
      </p:sp>
      <p:pic>
        <p:nvPicPr>
          <p:cNvPr id="12" name="Image 3" descr="Warning">    </p:cNvPr>
          <p:cNvPicPr>
            <a:picLocks noChangeAspect="1"/>
          </p:cNvPicPr>
          <p:nvPr/>
        </p:nvPicPr>
        <p:blipFill>
          <a:blip r:embed="rId4"/>
          <a:srcRect l="0" r="0" t="0" b="0"/>
          <a:stretch/>
        </p:blipFill>
        <p:spPr>
          <a:xfrm>
            <a:off x="1073150" y="4283621"/>
            <a:ext cx="254000" cy="254000"/>
          </a:xfrm>
          <a:prstGeom prst="rect">
            <a:avLst/>
          </a:prstGeom>
        </p:spPr>
      </p:pic>
      <p:sp>
        <p:nvSpPr>
          <p:cNvPr id="13" name="Text 7"/>
          <p:cNvSpPr/>
          <p:nvPr/>
        </p:nvSpPr>
        <p:spPr>
          <a:xfrm>
            <a:off x="1454150" y="4290616"/>
            <a:ext cx="537629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333"/>
                </a:solidFill>
                <a:latin typeface="Manrope" pitchFamily="34" charset="0"/>
                <a:ea typeface="Manrope" pitchFamily="34" charset="-122"/>
                <a:cs typeface="Manrope" pitchFamily="34" charset="-120"/>
              </a:rPr>
              <a:t>Задача вышла за рамки инструкции</a:t>
            </a:r>
            <a:endParaRPr lang="en-US" sz="1400" dirty="0"/>
          </a:p>
        </p:txBody>
      </p:sp>
      <p:pic>
        <p:nvPicPr>
          <p:cNvPr id="14" name="Image 4" descr="Warning">    </p:cNvPr>
          <p:cNvPicPr>
            <a:picLocks noChangeAspect="1"/>
          </p:cNvPicPr>
          <p:nvPr/>
        </p:nvPicPr>
        <p:blipFill>
          <a:blip r:embed="rId5"/>
          <a:srcRect l="0" r="0" t="0" b="0"/>
          <a:stretch/>
        </p:blipFill>
        <p:spPr>
          <a:xfrm>
            <a:off x="1073150" y="4664621"/>
            <a:ext cx="254000" cy="254000"/>
          </a:xfrm>
          <a:prstGeom prst="rect">
            <a:avLst/>
          </a:prstGeom>
        </p:spPr>
      </p:pic>
      <p:sp>
        <p:nvSpPr>
          <p:cNvPr id="15" name="Text 8"/>
          <p:cNvSpPr/>
          <p:nvPr/>
        </p:nvSpPr>
        <p:spPr>
          <a:xfrm>
            <a:off x="1454150" y="4671616"/>
            <a:ext cx="537629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2333"/>
                </a:solidFill>
                <a:latin typeface="Manrope" pitchFamily="34" charset="0"/>
                <a:ea typeface="Manrope" pitchFamily="34" charset="-122"/>
                <a:cs typeface="Manrope" pitchFamily="34" charset="-120"/>
              </a:rPr>
              <a:t>В работе персональные или конфиденциальные данные</a:t>
            </a:r>
            <a:endParaRPr lang="en-US" sz="1400" dirty="0"/>
          </a:p>
        </p:txBody>
      </p:sp>
      <p:sp>
        <p:nvSpPr>
          <p:cNvPr id="16" name="Shape 9"/>
          <p:cNvSpPr/>
          <p:nvPr/>
        </p:nvSpPr>
        <p:spPr>
          <a:xfrm>
            <a:off x="7137400" y="2283420"/>
            <a:ext cx="4241800" cy="3558580"/>
          </a:xfrm>
          <a:prstGeom prst="roundRect">
            <a:avLst>
              <a:gd name="adj" fmla="val 4283"/>
            </a:avLst>
          </a:prstGeom>
          <a:solidFill>
            <a:srgbClr val="1F2333"/>
          </a:solidFill>
          <a:ln/>
        </p:spPr>
      </p:sp>
      <p:sp>
        <p:nvSpPr>
          <p:cNvPr id="17" name="Text 10"/>
          <p:cNvSpPr/>
          <p:nvPr/>
        </p:nvSpPr>
        <p:spPr>
          <a:xfrm>
            <a:off x="7391400" y="2537420"/>
            <a:ext cx="384581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61"/>
                </a:solidFill>
                <a:latin typeface="Manrope" pitchFamily="34" charset="0"/>
                <a:ea typeface="Manrope" pitchFamily="34" charset="-122"/>
                <a:cs typeface="Manrope" pitchFamily="34" charset="-120"/>
              </a:rPr>
              <a:t>Как это устроить</a:t>
            </a:r>
            <a:endParaRPr lang="en-US" sz="1600" dirty="0"/>
          </a:p>
        </p:txBody>
      </p:sp>
      <p:sp>
        <p:nvSpPr>
          <p:cNvPr id="18" name="Text 11"/>
          <p:cNvSpPr/>
          <p:nvPr/>
        </p:nvSpPr>
        <p:spPr>
          <a:xfrm>
            <a:off x="7391400" y="2908250"/>
            <a:ext cx="3845814"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F6F2EA"/>
                </a:solidFill>
                <a:latin typeface="Manrope" pitchFamily="34" charset="0"/>
                <a:ea typeface="Manrope" pitchFamily="34" charset="-122"/>
                <a:cs typeface="Manrope" pitchFamily="34" charset="-120"/>
              </a:rPr>
              <a:t>Пороги и правила записаны до запуска.</a:t>
            </a:r>
            <a:endParaRPr lang="en-US" sz="1350" dirty="0"/>
          </a:p>
        </p:txBody>
      </p:sp>
      <p:sp>
        <p:nvSpPr>
          <p:cNvPr id="19" name="Text 12"/>
          <p:cNvSpPr/>
          <p:nvPr/>
        </p:nvSpPr>
        <p:spPr>
          <a:xfrm>
            <a:off x="7391400" y="3275261"/>
            <a:ext cx="384581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F6F2EA"/>
                </a:solidFill>
                <a:latin typeface="Manrope" pitchFamily="34" charset="0"/>
                <a:ea typeface="Manrope" pitchFamily="34" charset="-122"/>
                <a:cs typeface="Manrope" pitchFamily="34" charset="-120"/>
              </a:rPr>
              <a:t>У каждого агента есть ответственный человек.</a:t>
            </a:r>
            <a:endParaRPr lang="en-US" sz="1350" dirty="0"/>
          </a:p>
        </p:txBody>
      </p:sp>
      <p:sp>
        <p:nvSpPr>
          <p:cNvPr id="20" name="Text 13"/>
          <p:cNvSpPr/>
          <p:nvPr/>
        </p:nvSpPr>
        <p:spPr>
          <a:xfrm>
            <a:off x="7391400" y="3882281"/>
            <a:ext cx="3845814"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F6F2EA"/>
                </a:solidFill>
                <a:latin typeface="Manrope" pitchFamily="34" charset="0"/>
                <a:ea typeface="Manrope" pitchFamily="34" charset="-122"/>
                <a:cs typeface="Manrope" pitchFamily="34" charset="-120"/>
              </a:rPr>
              <a:t>Журнал: что сделал агент и кто утвердил.</a:t>
            </a:r>
            <a:endParaRPr lang="en-US" sz="1350" dirty="0"/>
          </a:p>
        </p:txBody>
      </p:sp>
      <p:sp>
        <p:nvSpPr>
          <p:cNvPr id="21" name="Text 14"/>
          <p:cNvSpPr/>
          <p:nvPr/>
        </p:nvSpPr>
        <p:spPr>
          <a:xfrm>
            <a:off x="7391400" y="4249291"/>
            <a:ext cx="384581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F6F2EA"/>
                </a:solidFill>
                <a:latin typeface="Manrope" pitchFamily="34" charset="0"/>
                <a:ea typeface="Manrope" pitchFamily="34" charset="-122"/>
                <a:cs typeface="Manrope" pitchFamily="34" charset="-120"/>
              </a:rPr>
              <a:t>Раз в неделю выборочно смотрим то, что агент делал сам.</a:t>
            </a:r>
            <a:endParaRPr lang="en-US" sz="1350" dirty="0"/>
          </a:p>
        </p:txBody>
      </p:sp>
      <p:sp>
        <p:nvSpPr>
          <p:cNvPr id="22" name="Text 15"/>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23" name="Text 16"/>
          <p:cNvSpPr/>
          <p:nvPr/>
        </p:nvSpPr>
        <p:spPr>
          <a:xfrm>
            <a:off x="11153477" y="6238280"/>
            <a:ext cx="22572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CHATGPT ИЛИ CLAUDE</a:t>
            </a:r>
            <a:endParaRPr lang="en-US" sz="1200" dirty="0"/>
          </a:p>
        </p:txBody>
      </p:sp>
      <p:sp>
        <p:nvSpPr>
          <p:cNvPr id="4" name="Text 2"/>
          <p:cNvSpPr/>
          <p:nvPr/>
        </p:nvSpPr>
        <p:spPr>
          <a:xfrm>
            <a:off x="1168400" y="4099570"/>
            <a:ext cx="2668524"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4A261"/>
                </a:solidFill>
                <a:latin typeface="Unbounded" pitchFamily="34" charset="0"/>
                <a:ea typeface="Unbounded" pitchFamily="34" charset="-122"/>
                <a:cs typeface="Unbounded" pitchFamily="34" charset="-120"/>
              </a:rPr>
              <a:t>10</a:t>
            </a:r>
            <a:endParaRPr lang="en-US" sz="8000" dirty="0"/>
          </a:p>
        </p:txBody>
      </p:sp>
      <p:sp>
        <p:nvSpPr>
          <p:cNvPr id="5" name="Text 3"/>
          <p:cNvSpPr/>
          <p:nvPr/>
        </p:nvSpPr>
        <p:spPr>
          <a:xfrm>
            <a:off x="1168400" y="5166370"/>
            <a:ext cx="2668524"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6F2EA"/>
                </a:solidFill>
                <a:latin typeface="Manrope" pitchFamily="34" charset="0"/>
                <a:ea typeface="Manrope" pitchFamily="34" charset="-122"/>
                <a:cs typeface="Manrope" pitchFamily="34" charset="-120"/>
              </a:rPr>
              <a:t>минут</a:t>
            </a:r>
            <a:endParaRPr lang="en-US" sz="1800" dirty="0"/>
          </a:p>
        </p:txBody>
      </p:sp>
      <p:sp>
        <p:nvSpPr>
          <p:cNvPr id="6" name="Text 4"/>
          <p:cNvSpPr/>
          <p:nvPr>
            <p:ph type="title"/>
          </p:nvPr>
        </p:nvSpPr>
        <p:spPr>
          <a:xfrm>
            <a:off x="4622800" y="812800"/>
            <a:ext cx="69590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Разметьте свой процесс</a:t>
            </a:r>
            <a:endParaRPr lang="en-US" sz="2800" dirty="0"/>
          </a:p>
        </p:txBody>
      </p:sp>
      <p:sp>
        <p:nvSpPr>
          <p:cNvPr id="7" name="Text 5"/>
          <p:cNvSpPr/>
          <p:nvPr/>
        </p:nvSpPr>
        <p:spPr>
          <a:xfrm>
            <a:off x="4622800" y="145033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8" name="Text 6"/>
          <p:cNvSpPr/>
          <p:nvPr/>
        </p:nvSpPr>
        <p:spPr>
          <a:xfrm>
            <a:off x="5156200" y="1450330"/>
            <a:ext cx="64096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333"/>
                </a:solidFill>
                <a:latin typeface="Manrope" pitchFamily="34" charset="0"/>
                <a:ea typeface="Manrope" pitchFamily="34" charset="-122"/>
                <a:cs typeface="Manrope" pitchFamily="34" charset="-120"/>
              </a:rPr>
              <a:t>Возьмите повторяющуюся задачу и попросите модель разложить её на 5–7 шагов.</a:t>
            </a:r>
            <a:endParaRPr lang="en-US" sz="1500" dirty="0"/>
          </a:p>
        </p:txBody>
      </p:sp>
      <p:sp>
        <p:nvSpPr>
          <p:cNvPr id="9" name="Text 7"/>
          <p:cNvSpPr/>
          <p:nvPr/>
        </p:nvSpPr>
        <p:spPr>
          <a:xfrm>
            <a:off x="4622800" y="213613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0" name="Text 8"/>
          <p:cNvSpPr/>
          <p:nvPr/>
        </p:nvSpPr>
        <p:spPr>
          <a:xfrm>
            <a:off x="5156200" y="2136130"/>
            <a:ext cx="640969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333"/>
                </a:solidFill>
                <a:latin typeface="Manrope" pitchFamily="34" charset="0"/>
                <a:ea typeface="Manrope" pitchFamily="34" charset="-122"/>
                <a:cs typeface="Manrope" pitchFamily="34" charset="-120"/>
              </a:rPr>
              <a:t>Каждому шагу сами поставьте уровень: ИИ сам, ИИ с утверждением или только человек.</a:t>
            </a:r>
            <a:endParaRPr lang="en-US" sz="1500" dirty="0"/>
          </a:p>
        </p:txBody>
      </p:sp>
      <p:sp>
        <p:nvSpPr>
          <p:cNvPr id="11" name="Text 9"/>
          <p:cNvSpPr/>
          <p:nvPr/>
        </p:nvSpPr>
        <p:spPr>
          <a:xfrm>
            <a:off x="4622800" y="282193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2" name="Text 10"/>
          <p:cNvSpPr/>
          <p:nvPr/>
        </p:nvSpPr>
        <p:spPr>
          <a:xfrm>
            <a:off x="5156200" y="2821930"/>
            <a:ext cx="64096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333"/>
                </a:solidFill>
                <a:latin typeface="Manrope" pitchFamily="34" charset="0"/>
                <a:ea typeface="Manrope" pitchFamily="34" charset="-122"/>
                <a:cs typeface="Manrope" pitchFamily="34" charset="-120"/>
              </a:rPr>
              <a:t>Отметьте точки остановки и кто в них принимает решение.</a:t>
            </a:r>
            <a:endParaRPr lang="en-US" sz="1500" dirty="0"/>
          </a:p>
        </p:txBody>
      </p:sp>
      <p:sp>
        <p:nvSpPr>
          <p:cNvPr id="13" name="Text 11"/>
          <p:cNvSpPr/>
          <p:nvPr/>
        </p:nvSpPr>
        <p:spPr>
          <a:xfrm>
            <a:off x="4622800" y="5007670"/>
            <a:ext cx="6756400" cy="834330"/>
          </a:xfrm>
          <a:prstGeom prst="roundRect">
            <a:avLst>
              <a:gd name="adj" fmla="val 15222"/>
            </a:avLst>
          </a:prstGeom>
          <a:solidFill>
            <a:srgbClr val="EDE5D6"/>
          </a:solidFill>
          <a:ln/>
        </p:spPr>
        <p:txBody>
          <a:bodyPr wrap="square" lIns="166003" tIns="140603" rIns="0" bIns="115203" rtlCol="0" anchor="t">
            <a:normAutofit/>
          </a:bodyPr>
          <a:lstStyle/>
          <a:p>
            <a:pPr algn="l" indent="0" marL="0">
              <a:lnSpc>
                <a:spcPts val="1885"/>
              </a:lnSpc>
              <a:buNone/>
            </a:pPr>
            <a:r>
              <a:rPr lang="en-US" sz="1300" b="1" dirty="0">
                <a:solidFill>
                  <a:srgbClr val="1F2333"/>
                </a:solidFill>
                <a:latin typeface="Manrope" pitchFamily="34" charset="0"/>
                <a:ea typeface="Manrope" pitchFamily="34" charset="-122"/>
                <a:cs typeface="Manrope" pitchFamily="34" charset="-120"/>
              </a:rPr>
              <a:t>Пример, еженедельный отчёт:</a:t>
            </a:r>
            <a:r>
              <a:rPr lang="en-US" sz="1300" dirty="0">
                <a:solidFill>
                  <a:srgbClr val="1F2333"/>
                </a:solidFill>
                <a:latin typeface="Manrope" pitchFamily="34" charset="0"/>
                <a:ea typeface="Manrope" pitchFamily="34" charset="-122"/>
                <a:cs typeface="Manrope" pitchFamily="34" charset="-120"/>
              </a:rPr>
              <a:t> данные и черновик собирает ИИ, выводы утверждает руководитель, решение о бюджете он принимает сам.</a:t>
            </a:r>
            <a:endParaRPr lang="en-US" sz="1300" dirty="0"/>
          </a:p>
        </p:txBody>
      </p:sp>
      <p:sp>
        <p:nvSpPr>
          <p:cNvPr id="14" name="Text 12"/>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5" name="Text 13"/>
          <p:cNvSpPr/>
          <p:nvPr/>
        </p:nvSpPr>
        <p:spPr>
          <a:xfrm>
            <a:off x="11146929" y="6238280"/>
            <a:ext cx="23227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812800" y="812800"/>
            <a:ext cx="3302000" cy="5029200"/>
          </a:xfrm>
          <a:prstGeom prst="roundRect">
            <a:avLst>
              <a:gd name="adj" fmla="val 5385"/>
            </a:avLst>
          </a:prstGeom>
          <a:solidFill>
            <a:srgbClr val="1F2333"/>
          </a:solidFill>
          <a:ln/>
        </p:spPr>
      </p:sp>
      <p:sp>
        <p:nvSpPr>
          <p:cNvPr id="3" name="Text 1"/>
          <p:cNvSpPr/>
          <p:nvPr/>
        </p:nvSpPr>
        <p:spPr>
          <a:xfrm>
            <a:off x="1168400" y="1168400"/>
            <a:ext cx="266852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4A261"/>
                </a:solidFill>
                <a:latin typeface="Manrope" pitchFamily="34" charset="0"/>
                <a:ea typeface="Manrope" pitchFamily="34" charset="-122"/>
                <a:cs typeface="Manrope" pitchFamily="34" charset="-120"/>
              </a:rPr>
              <a:t>ПРАКТИКА · KIMI · 8 МИН</a:t>
            </a:r>
            <a:endParaRPr lang="en-US" sz="1200" dirty="0"/>
          </a:p>
        </p:txBody>
      </p:sp>
      <p:sp>
        <p:nvSpPr>
          <p:cNvPr id="4" name="Text 2"/>
          <p:cNvSpPr/>
          <p:nvPr/>
        </p:nvSpPr>
        <p:spPr>
          <a:xfrm>
            <a:off x="1168400" y="3634978"/>
            <a:ext cx="2668524"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6F2EA"/>
                </a:solidFill>
                <a:latin typeface="Manrope" pitchFamily="34" charset="0"/>
                <a:ea typeface="Manrope" pitchFamily="34" charset="-122"/>
                <a:cs typeface="Manrope" pitchFamily="34" charset="-120"/>
              </a:rPr>
              <a:t>Вход:</a:t>
            </a:r>
            <a:r>
              <a:rPr lang="en-US" sz="1400" dirty="0">
                <a:solidFill>
                  <a:srgbClr val="C9CBD4"/>
                </a:solidFill>
                <a:latin typeface="Manrope" pitchFamily="34" charset="0"/>
                <a:ea typeface="Manrope" pitchFamily="34" charset="-122"/>
                <a:cs typeface="Manrope" pitchFamily="34" charset="-120"/>
              </a:rPr>
              <a:t> несколько писем.</a:t>
            </a:r>
            <a:endParaRPr lang="en-US" sz="1400" dirty="0"/>
          </a:p>
        </p:txBody>
      </p:sp>
      <p:sp>
        <p:nvSpPr>
          <p:cNvPr id="5" name="Text 3"/>
          <p:cNvSpPr/>
          <p:nvPr/>
        </p:nvSpPr>
        <p:spPr>
          <a:xfrm>
            <a:off x="1168400" y="4045148"/>
            <a:ext cx="2668524" cy="79871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6F2EA"/>
                </a:solidFill>
                <a:latin typeface="Manrope" pitchFamily="34" charset="0"/>
                <a:ea typeface="Manrope" pitchFamily="34" charset="-122"/>
                <a:cs typeface="Manrope" pitchFamily="34" charset="-120"/>
              </a:rPr>
              <a:t>Выход:</a:t>
            </a:r>
            <a:r>
              <a:rPr lang="en-US" sz="1400" dirty="0">
                <a:solidFill>
                  <a:srgbClr val="C9CBD4"/>
                </a:solidFill>
                <a:latin typeface="Manrope" pitchFamily="34" charset="0"/>
                <a:ea typeface="Manrope" pitchFamily="34" charset="-122"/>
                <a:cs typeface="Manrope" pitchFamily="34" charset="-120"/>
              </a:rPr>
              <a:t> кто, что и к какому сроку; что ещё не согласовано.</a:t>
            </a:r>
            <a:endParaRPr lang="en-US" sz="1400" dirty="0"/>
          </a:p>
        </p:txBody>
      </p:sp>
      <p:sp>
        <p:nvSpPr>
          <p:cNvPr id="6" name="Text 4"/>
          <p:cNvSpPr/>
          <p:nvPr/>
        </p:nvSpPr>
        <p:spPr>
          <a:xfrm>
            <a:off x="1168400" y="4970859"/>
            <a:ext cx="2668524"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6F2EA"/>
                </a:solidFill>
                <a:latin typeface="Manrope" pitchFamily="34" charset="0"/>
                <a:ea typeface="Manrope" pitchFamily="34" charset="-122"/>
                <a:cs typeface="Manrope" pitchFamily="34" charset="-120"/>
              </a:rPr>
              <a:t>Человек</a:t>
            </a:r>
            <a:r>
              <a:rPr lang="en-US" sz="1400" dirty="0">
                <a:solidFill>
                  <a:srgbClr val="C9CBD4"/>
                </a:solidFill>
                <a:latin typeface="Manrope" pitchFamily="34" charset="0"/>
                <a:ea typeface="Manrope" pitchFamily="34" charset="-122"/>
                <a:cs typeface="Manrope" pitchFamily="34" charset="-120"/>
              </a:rPr>
              <a:t> сверяет сроки и решает, что отправить.</a:t>
            </a:r>
            <a:endParaRPr lang="en-US" sz="1400" dirty="0"/>
          </a:p>
        </p:txBody>
      </p:sp>
      <p:sp>
        <p:nvSpPr>
          <p:cNvPr id="7" name="Text 5"/>
          <p:cNvSpPr/>
          <p:nvPr>
            <p:ph type="title"/>
          </p:nvPr>
        </p:nvSpPr>
        <p:spPr>
          <a:xfrm>
            <a:off x="4622800" y="812800"/>
            <a:ext cx="6959092"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F2333"/>
                </a:solidFill>
                <a:latin typeface="Unbounded" pitchFamily="34" charset="0"/>
                <a:ea typeface="Unbounded" pitchFamily="34" charset="-122"/>
                <a:cs typeface="Unbounded" pitchFamily="34" charset="-120"/>
              </a:rPr>
              <a:t>Разберите переписку без новых обещаний</a:t>
            </a:r>
            <a:endParaRPr lang="en-US" sz="2800" dirty="0"/>
          </a:p>
        </p:txBody>
      </p:sp>
      <p:sp>
        <p:nvSpPr>
          <p:cNvPr id="8" name="Text 6"/>
          <p:cNvSpPr/>
          <p:nvPr/>
        </p:nvSpPr>
        <p:spPr>
          <a:xfrm>
            <a:off x="4622800" y="18846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9" name="Text 7"/>
          <p:cNvSpPr/>
          <p:nvPr/>
        </p:nvSpPr>
        <p:spPr>
          <a:xfrm>
            <a:off x="5156200" y="188466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Откройте kimi.com и вставьте учебные письма.</a:t>
            </a:r>
            <a:endParaRPr lang="en-US" sz="1600" dirty="0"/>
          </a:p>
        </p:txBody>
      </p:sp>
      <p:sp>
        <p:nvSpPr>
          <p:cNvPr id="10" name="Text 8"/>
          <p:cNvSpPr/>
          <p:nvPr/>
        </p:nvSpPr>
        <p:spPr>
          <a:xfrm>
            <a:off x="4622800" y="24180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11" name="Text 9"/>
          <p:cNvSpPr/>
          <p:nvPr/>
        </p:nvSpPr>
        <p:spPr>
          <a:xfrm>
            <a:off x="5156200" y="2418060"/>
            <a:ext cx="640969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Выполните запрос №4: дела, сроки, открытые вопросы.</a:t>
            </a:r>
            <a:endParaRPr lang="en-US" sz="1600" dirty="0"/>
          </a:p>
        </p:txBody>
      </p:sp>
      <p:sp>
        <p:nvSpPr>
          <p:cNvPr id="12" name="Text 10"/>
          <p:cNvSpPr/>
          <p:nvPr/>
        </p:nvSpPr>
        <p:spPr>
          <a:xfrm>
            <a:off x="4622800" y="2951460"/>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3" name="Text 11"/>
          <p:cNvSpPr/>
          <p:nvPr/>
        </p:nvSpPr>
        <p:spPr>
          <a:xfrm>
            <a:off x="5156200" y="2951460"/>
            <a:ext cx="640969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333"/>
                </a:solidFill>
                <a:latin typeface="Manrope" pitchFamily="34" charset="0"/>
                <a:ea typeface="Manrope" pitchFamily="34" charset="-122"/>
                <a:cs typeface="Manrope" pitchFamily="34" charset="-120"/>
              </a:rPr>
              <a:t>Проверьте: предложение о запуске так и осталось предложением, решением оно не стало.</a:t>
            </a:r>
            <a:endParaRPr lang="en-US" sz="1600" dirty="0"/>
          </a:p>
        </p:txBody>
      </p:sp>
      <p:sp>
        <p:nvSpPr>
          <p:cNvPr id="14" name="Text 12"/>
          <p:cNvSpPr/>
          <p:nvPr/>
        </p:nvSpPr>
        <p:spPr>
          <a:xfrm>
            <a:off x="4622800" y="5610870"/>
            <a:ext cx="69590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E6A5E"/>
                </a:solidFill>
                <a:latin typeface="Manrope" pitchFamily="34" charset="0"/>
                <a:ea typeface="Manrope" pitchFamily="34" charset="-122"/>
                <a:cs typeface="Manrope" pitchFamily="34" charset="-120"/>
              </a:rPr>
              <a:t>Готовые запросы и учебные файлы — в практикуме.</a:t>
            </a:r>
            <a:endParaRPr lang="en-US" sz="1300" dirty="0"/>
          </a:p>
        </p:txBody>
      </p:sp>
      <p:sp>
        <p:nvSpPr>
          <p:cNvPr id="15" name="Text 13"/>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6" name="Text 14"/>
          <p:cNvSpPr/>
          <p:nvPr/>
        </p:nvSpPr>
        <p:spPr>
          <a:xfrm>
            <a:off x="11164987" y="6238280"/>
            <a:ext cx="21421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ЧТОБЫ НЕ НАЧИНАТЬ С НУЛЯ</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Сохраните удачный запрос как шаблон</a:t>
            </a:r>
            <a:endParaRPr lang="en-US" sz="3000" dirty="0"/>
          </a:p>
        </p:txBody>
      </p:sp>
      <p:sp>
        <p:nvSpPr>
          <p:cNvPr id="4" name="Shape 2"/>
          <p:cNvSpPr/>
          <p:nvPr/>
        </p:nvSpPr>
        <p:spPr>
          <a:xfrm>
            <a:off x="815975" y="1899245"/>
            <a:ext cx="6104880" cy="3939580"/>
          </a:xfrm>
          <a:prstGeom prst="roundRect">
            <a:avLst>
              <a:gd name="adj" fmla="val 3788"/>
            </a:avLst>
          </a:prstGeom>
          <a:solidFill>
            <a:srgbClr val="FFFDF8"/>
          </a:solidFill>
          <a:ln w="6350">
            <a:solidFill>
              <a:srgbClr val="E4DCCD"/>
            </a:solidFill>
            <a:prstDash val="solid"/>
          </a:ln>
        </p:spPr>
      </p:sp>
      <p:sp>
        <p:nvSpPr>
          <p:cNvPr id="5" name="Text 3"/>
          <p:cNvSpPr/>
          <p:nvPr/>
        </p:nvSpPr>
        <p:spPr>
          <a:xfrm>
            <a:off x="1098550" y="2181820"/>
            <a:ext cx="570592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6A5E"/>
                </a:solidFill>
                <a:latin typeface="Manrope" pitchFamily="34" charset="0"/>
                <a:ea typeface="Manrope" pitchFamily="34" charset="-122"/>
                <a:cs typeface="Manrope" pitchFamily="34" charset="-120"/>
              </a:rPr>
              <a:t>ПРИМЕР</a:t>
            </a:r>
            <a:endParaRPr lang="en-US" sz="1200" dirty="0"/>
          </a:p>
        </p:txBody>
      </p:sp>
      <p:sp>
        <p:nvSpPr>
          <p:cNvPr id="6" name="Text 4"/>
          <p:cNvSpPr/>
          <p:nvPr/>
        </p:nvSpPr>
        <p:spPr>
          <a:xfrm>
            <a:off x="1098550" y="2547541"/>
            <a:ext cx="57059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41C"/>
                </a:solidFill>
                <a:latin typeface="Manrope" pitchFamily="34" charset="0"/>
                <a:ea typeface="Manrope" pitchFamily="34" charset="-122"/>
                <a:cs typeface="Manrope" pitchFamily="34" charset="-120"/>
              </a:rPr>
              <a:t>Название:</a:t>
            </a:r>
            <a:r>
              <a:rPr lang="en-US" sz="1500" dirty="0">
                <a:solidFill>
                  <a:srgbClr val="1F2333"/>
                </a:solidFill>
                <a:latin typeface="Manrope" pitchFamily="34" charset="0"/>
                <a:ea typeface="Manrope" pitchFamily="34" charset="-122"/>
                <a:cs typeface="Manrope" pitchFamily="34" charset="-120"/>
              </a:rPr>
              <a:t> «Итоги недели для руководителя»</a:t>
            </a:r>
            <a:endParaRPr lang="en-US" sz="1500" dirty="0"/>
          </a:p>
        </p:txBody>
      </p:sp>
      <p:sp>
        <p:nvSpPr>
          <p:cNvPr id="7" name="Text 5"/>
          <p:cNvSpPr/>
          <p:nvPr/>
        </p:nvSpPr>
        <p:spPr>
          <a:xfrm>
            <a:off x="1098550" y="2966641"/>
            <a:ext cx="57059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41C"/>
                </a:solidFill>
                <a:latin typeface="Manrope" pitchFamily="34" charset="0"/>
                <a:ea typeface="Manrope" pitchFamily="34" charset="-122"/>
                <a:cs typeface="Manrope" pitchFamily="34" charset="-120"/>
              </a:rPr>
              <a:t>Вход:</a:t>
            </a:r>
            <a:r>
              <a:rPr lang="en-US" sz="1500" dirty="0">
                <a:solidFill>
                  <a:srgbClr val="1F2333"/>
                </a:solidFill>
                <a:latin typeface="Manrope" pitchFamily="34" charset="0"/>
                <a:ea typeface="Manrope" pitchFamily="34" charset="-122"/>
                <a:cs typeface="Manrope" pitchFamily="34" charset="-120"/>
              </a:rPr>
              <a:t> задачи, результаты, блокеры, нужные решения</a:t>
            </a:r>
            <a:endParaRPr lang="en-US" sz="1500" dirty="0"/>
          </a:p>
        </p:txBody>
      </p:sp>
      <p:sp>
        <p:nvSpPr>
          <p:cNvPr id="8" name="Text 6"/>
          <p:cNvSpPr/>
          <p:nvPr/>
        </p:nvSpPr>
        <p:spPr>
          <a:xfrm>
            <a:off x="1098550" y="3385741"/>
            <a:ext cx="57059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41C"/>
                </a:solidFill>
                <a:latin typeface="Manrope" pitchFamily="34" charset="0"/>
                <a:ea typeface="Manrope" pitchFamily="34" charset="-122"/>
                <a:cs typeface="Manrope" pitchFamily="34" charset="-120"/>
              </a:rPr>
              <a:t>Выход:</a:t>
            </a:r>
            <a:r>
              <a:rPr lang="en-US" sz="1500" dirty="0">
                <a:solidFill>
                  <a:srgbClr val="1F2333"/>
                </a:solidFill>
                <a:latin typeface="Manrope" pitchFamily="34" charset="0"/>
                <a:ea typeface="Manrope" pitchFamily="34" charset="-122"/>
                <a:cs typeface="Manrope" pitchFamily="34" charset="-120"/>
              </a:rPr>
              <a:t> короткая записка и список вопросов</a:t>
            </a:r>
            <a:endParaRPr lang="en-US" sz="1500" dirty="0"/>
          </a:p>
        </p:txBody>
      </p:sp>
      <p:sp>
        <p:nvSpPr>
          <p:cNvPr id="9" name="Text 7"/>
          <p:cNvSpPr/>
          <p:nvPr/>
        </p:nvSpPr>
        <p:spPr>
          <a:xfrm>
            <a:off x="1098550" y="3804841"/>
            <a:ext cx="570592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441C"/>
                </a:solidFill>
                <a:latin typeface="Manrope" pitchFamily="34" charset="0"/>
                <a:ea typeface="Manrope" pitchFamily="34" charset="-122"/>
                <a:cs typeface="Manrope" pitchFamily="34" charset="-120"/>
              </a:rPr>
              <a:t>Проверка:</a:t>
            </a:r>
            <a:r>
              <a:rPr lang="en-US" sz="1500" dirty="0">
                <a:solidFill>
                  <a:srgbClr val="1F2333"/>
                </a:solidFill>
                <a:latin typeface="Manrope" pitchFamily="34" charset="0"/>
                <a:ea typeface="Manrope" pitchFamily="34" charset="-122"/>
                <a:cs typeface="Manrope" pitchFamily="34" charset="-120"/>
              </a:rPr>
              <a:t> сроки, суммы, исполнители</a:t>
            </a:r>
            <a:endParaRPr lang="en-US" sz="1500" dirty="0"/>
          </a:p>
        </p:txBody>
      </p:sp>
      <p:sp>
        <p:nvSpPr>
          <p:cNvPr id="10" name="Shape 8"/>
          <p:cNvSpPr/>
          <p:nvPr/>
        </p:nvSpPr>
        <p:spPr>
          <a:xfrm>
            <a:off x="7127230" y="1896070"/>
            <a:ext cx="4251970" cy="3945930"/>
          </a:xfrm>
          <a:prstGeom prst="roundRect">
            <a:avLst>
              <a:gd name="adj" fmla="val 3862"/>
            </a:avLst>
          </a:prstGeom>
          <a:solidFill>
            <a:srgbClr val="1F2333"/>
          </a:solidFill>
          <a:ln/>
        </p:spPr>
      </p:sp>
      <p:sp>
        <p:nvSpPr>
          <p:cNvPr id="11" name="Text 9"/>
          <p:cNvSpPr/>
          <p:nvPr/>
        </p:nvSpPr>
        <p:spPr>
          <a:xfrm>
            <a:off x="7406630" y="2175470"/>
            <a:ext cx="3803965"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4A261"/>
                </a:solidFill>
                <a:latin typeface="Manrope" pitchFamily="34" charset="0"/>
                <a:ea typeface="Manrope" pitchFamily="34" charset="-122"/>
                <a:cs typeface="Manrope" pitchFamily="34" charset="-120"/>
              </a:rPr>
              <a:t>Одна задача — один проект</a:t>
            </a:r>
            <a:endParaRPr lang="en-US" sz="1700" dirty="0"/>
          </a:p>
        </p:txBody>
      </p:sp>
      <p:sp>
        <p:nvSpPr>
          <p:cNvPr id="12" name="Text 10"/>
          <p:cNvSpPr/>
          <p:nvPr/>
        </p:nvSpPr>
        <p:spPr>
          <a:xfrm>
            <a:off x="7406630" y="2597745"/>
            <a:ext cx="3803965"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6F2EA"/>
                </a:solidFill>
                <a:latin typeface="Manrope" pitchFamily="34" charset="0"/>
                <a:ea typeface="Manrope" pitchFamily="34" charset="-122"/>
                <a:cs typeface="Manrope" pitchFamily="34" charset="-120"/>
              </a:rPr>
              <a:t>Создайте проект в ChatGPT или Claude. Положите туда инструкцию, разрешённые источники и удачный образец.</a:t>
            </a:r>
            <a:endParaRPr lang="en-US" sz="1400" dirty="0"/>
          </a:p>
        </p:txBody>
      </p:sp>
      <p:sp>
        <p:nvSpPr>
          <p:cNvPr id="13" name="Text 11"/>
          <p:cNvSpPr/>
          <p:nvPr/>
        </p:nvSpPr>
        <p:spPr>
          <a:xfrm>
            <a:off x="7406630" y="3550245"/>
            <a:ext cx="3803965"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CBD4"/>
                </a:solidFill>
                <a:latin typeface="Manrope" pitchFamily="34" charset="0"/>
                <a:ea typeface="Manrope" pitchFamily="34" charset="-122"/>
                <a:cs typeface="Manrope" pitchFamily="34" charset="-120"/>
              </a:rPr>
              <a:t>В следующий раз меняете только входные данные.</a:t>
            </a:r>
            <a:endParaRPr lang="en-US" sz="1400" dirty="0"/>
          </a:p>
        </p:txBody>
      </p:sp>
      <p:sp>
        <p:nvSpPr>
          <p:cNvPr id="14" name="Text 12"/>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5" name="Text 13"/>
          <p:cNvSpPr/>
          <p:nvPr/>
        </p:nvSpPr>
        <p:spPr>
          <a:xfrm>
            <a:off x="11153080" y="6238280"/>
            <a:ext cx="2261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F23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9347200" y="3860800"/>
            <a:ext cx="2032000" cy="2032000"/>
          </a:xfrm>
          <a:prstGeom prst="rect">
            <a:avLst/>
          </a:prstGeom>
        </p:spPr>
      </p:pic>
      <p:sp>
        <p:nvSpPr>
          <p:cNvPr id="3" name="Text 0"/>
          <p:cNvSpPr/>
          <p:nvPr/>
        </p:nvSpPr>
        <p:spPr>
          <a:xfrm>
            <a:off x="812800" y="191517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4A261"/>
                </a:solidFill>
                <a:latin typeface="Unbounded" pitchFamily="34" charset="0"/>
                <a:ea typeface="Unbounded" pitchFamily="34" charset="-122"/>
                <a:cs typeface="Unbounded" pitchFamily="34" charset="-120"/>
              </a:rPr>
              <a:t>04</a:t>
            </a:r>
            <a:endParaRPr lang="en-US" sz="6000" dirty="0"/>
          </a:p>
        </p:txBody>
      </p:sp>
      <p:sp>
        <p:nvSpPr>
          <p:cNvPr id="4" name="Text 1"/>
          <p:cNvSpPr/>
          <p:nvPr>
            <p:ph type="title"/>
          </p:nvPr>
        </p:nvSpPr>
        <p:spPr>
          <a:xfrm>
            <a:off x="812800" y="2931170"/>
            <a:ext cx="8371840" cy="11430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2EA"/>
                </a:solidFill>
                <a:latin typeface="Unbounded" pitchFamily="34" charset="0"/>
                <a:ea typeface="Unbounded" pitchFamily="34" charset="-122"/>
                <a:cs typeface="Unbounded" pitchFamily="34" charset="-120"/>
              </a:rPr>
              <a:t>Как передать это команде</a:t>
            </a:r>
            <a:endParaRPr lang="en-US" sz="4000" dirty="0"/>
          </a:p>
        </p:txBody>
      </p:sp>
      <p:sp>
        <p:nvSpPr>
          <p:cNvPr id="5" name="Text 2"/>
          <p:cNvSpPr/>
          <p:nvPr/>
        </p:nvSpPr>
        <p:spPr>
          <a:xfrm>
            <a:off x="812800" y="4302770"/>
            <a:ext cx="784860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BD4"/>
                </a:solidFill>
                <a:latin typeface="Manrope" pitchFamily="34" charset="0"/>
                <a:ea typeface="Manrope" pitchFamily="34" charset="-122"/>
                <a:cs typeface="Manrope" pitchFamily="34" charset="-120"/>
              </a:rPr>
              <a:t>Один удачный опыт руководителя ещё не привычка команды. Дальше — про то, как она появляется.</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КОМПЛЕКТ ДЛЯ КОЛЛЕГИ</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Что отдать вместе с задачей</a:t>
            </a:r>
            <a:endParaRPr lang="en-US" sz="3000" dirty="0"/>
          </a:p>
        </p:txBody>
      </p:sp>
      <p:sp>
        <p:nvSpPr>
          <p:cNvPr id="4" name="Shape 2"/>
          <p:cNvSpPr/>
          <p:nvPr/>
        </p:nvSpPr>
        <p:spPr>
          <a:xfrm>
            <a:off x="815975" y="1899245"/>
            <a:ext cx="5187950" cy="1816795"/>
          </a:xfrm>
          <a:prstGeom prst="roundRect">
            <a:avLst>
              <a:gd name="adj" fmla="val 8214"/>
            </a:avLst>
          </a:prstGeom>
          <a:solidFill>
            <a:srgbClr val="FFFDF8"/>
          </a:solidFill>
          <a:ln w="6350">
            <a:solidFill>
              <a:srgbClr val="E4DCCD"/>
            </a:solidFill>
            <a:prstDash val="solid"/>
          </a:ln>
        </p:spPr>
      </p:sp>
      <p:pic>
        <p:nvPicPr>
          <p:cNvPr id="5" name="Image 0" descr="Lightbulb">    </p:cNvPr>
          <p:cNvPicPr>
            <a:picLocks noChangeAspect="1"/>
          </p:cNvPicPr>
          <p:nvPr/>
        </p:nvPicPr>
        <p:blipFill>
          <a:blip r:embed="rId1"/>
          <a:srcRect l="0" r="0" t="0" b="0"/>
          <a:stretch/>
        </p:blipFill>
        <p:spPr>
          <a:xfrm>
            <a:off x="1073150" y="2604443"/>
            <a:ext cx="406400" cy="406400"/>
          </a:xfrm>
          <a:prstGeom prst="rect">
            <a:avLst/>
          </a:prstGeom>
        </p:spPr>
      </p:pic>
      <p:sp>
        <p:nvSpPr>
          <p:cNvPr id="6" name="Text 3"/>
          <p:cNvSpPr/>
          <p:nvPr/>
        </p:nvSpPr>
        <p:spPr>
          <a:xfrm>
            <a:off x="1657350" y="2675582"/>
            <a:ext cx="4212082"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333"/>
                </a:solidFill>
                <a:latin typeface="Manrope" pitchFamily="34" charset="0"/>
                <a:ea typeface="Manrope" pitchFamily="34" charset="-122"/>
                <a:cs typeface="Manrope" pitchFamily="34" charset="-120"/>
              </a:rPr>
              <a:t>Операцию и ожидаемый результат</a:t>
            </a:r>
            <a:endParaRPr lang="en-US" sz="1600" dirty="0"/>
          </a:p>
        </p:txBody>
      </p:sp>
      <p:sp>
        <p:nvSpPr>
          <p:cNvPr id="7" name="Shape 4"/>
          <p:cNvSpPr/>
          <p:nvPr/>
        </p:nvSpPr>
        <p:spPr>
          <a:xfrm>
            <a:off x="6188075" y="1899245"/>
            <a:ext cx="5187950" cy="1816795"/>
          </a:xfrm>
          <a:prstGeom prst="roundRect">
            <a:avLst>
              <a:gd name="adj" fmla="val 8214"/>
            </a:avLst>
          </a:prstGeom>
          <a:solidFill>
            <a:srgbClr val="FFFDF8"/>
          </a:solidFill>
          <a:ln w="6350">
            <a:solidFill>
              <a:srgbClr val="E4DCCD"/>
            </a:solidFill>
            <a:prstDash val="solid"/>
          </a:ln>
        </p:spPr>
      </p:sp>
      <p:pic>
        <p:nvPicPr>
          <p:cNvPr id="8" name="Image 1" descr="Key">    </p:cNvPr>
          <p:cNvPicPr>
            <a:picLocks noChangeAspect="1"/>
          </p:cNvPicPr>
          <p:nvPr/>
        </p:nvPicPr>
        <p:blipFill>
          <a:blip r:embed="rId2"/>
          <a:srcRect l="0" r="0" t="0" b="0"/>
          <a:stretch/>
        </p:blipFill>
        <p:spPr>
          <a:xfrm>
            <a:off x="6445250" y="2604443"/>
            <a:ext cx="406400" cy="406400"/>
          </a:xfrm>
          <a:prstGeom prst="rect">
            <a:avLst/>
          </a:prstGeom>
        </p:spPr>
      </p:pic>
      <p:sp>
        <p:nvSpPr>
          <p:cNvPr id="9" name="Text 5"/>
          <p:cNvSpPr/>
          <p:nvPr/>
        </p:nvSpPr>
        <p:spPr>
          <a:xfrm>
            <a:off x="7029450" y="2675582"/>
            <a:ext cx="43434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333"/>
                </a:solidFill>
                <a:latin typeface="Manrope" pitchFamily="34" charset="0"/>
                <a:ea typeface="Manrope" pitchFamily="34" charset="-122"/>
                <a:cs typeface="Manrope" pitchFamily="34" charset="-120"/>
              </a:rPr>
              <a:t>Личный доступ к разрешённому сервису</a:t>
            </a:r>
            <a:endParaRPr lang="en-US" sz="1600" dirty="0"/>
          </a:p>
        </p:txBody>
      </p:sp>
      <p:sp>
        <p:nvSpPr>
          <p:cNvPr id="10" name="Shape 6"/>
          <p:cNvSpPr/>
          <p:nvPr/>
        </p:nvSpPr>
        <p:spPr>
          <a:xfrm>
            <a:off x="815975" y="3900190"/>
            <a:ext cx="5187950" cy="1938635"/>
          </a:xfrm>
          <a:prstGeom prst="roundRect">
            <a:avLst>
              <a:gd name="adj" fmla="val 7697"/>
            </a:avLst>
          </a:prstGeom>
          <a:solidFill>
            <a:srgbClr val="FFFDF8"/>
          </a:solidFill>
          <a:ln w="6350">
            <a:solidFill>
              <a:srgbClr val="E4DCCD"/>
            </a:solidFill>
            <a:prstDash val="solid"/>
          </a:ln>
        </p:spPr>
      </p:sp>
      <p:pic>
        <p:nvPicPr>
          <p:cNvPr id="11" name="Image 2" descr="Database">    </p:cNvPr>
          <p:cNvPicPr>
            <a:picLocks noChangeAspect="1"/>
          </p:cNvPicPr>
          <p:nvPr/>
        </p:nvPicPr>
        <p:blipFill>
          <a:blip r:embed="rId3"/>
          <a:srcRect l="0" r="0" t="0" b="0"/>
          <a:stretch/>
        </p:blipFill>
        <p:spPr>
          <a:xfrm>
            <a:off x="1073150" y="4666307"/>
            <a:ext cx="406400" cy="406400"/>
          </a:xfrm>
          <a:prstGeom prst="rect">
            <a:avLst/>
          </a:prstGeom>
        </p:spPr>
      </p:pic>
      <p:sp>
        <p:nvSpPr>
          <p:cNvPr id="12" name="Text 7"/>
          <p:cNvSpPr/>
          <p:nvPr/>
        </p:nvSpPr>
        <p:spPr>
          <a:xfrm>
            <a:off x="1657350" y="4737447"/>
            <a:ext cx="4212082"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333"/>
                </a:solidFill>
                <a:latin typeface="Manrope" pitchFamily="34" charset="0"/>
                <a:ea typeface="Manrope" pitchFamily="34" charset="-122"/>
                <a:cs typeface="Manrope" pitchFamily="34" charset="-120"/>
              </a:rPr>
              <a:t>Исходники и готовый запрос</a:t>
            </a:r>
            <a:endParaRPr lang="en-US" sz="1600" dirty="0"/>
          </a:p>
        </p:txBody>
      </p:sp>
      <p:sp>
        <p:nvSpPr>
          <p:cNvPr id="13" name="Shape 8"/>
          <p:cNvSpPr/>
          <p:nvPr/>
        </p:nvSpPr>
        <p:spPr>
          <a:xfrm>
            <a:off x="6188075" y="3900190"/>
            <a:ext cx="5187950" cy="1938635"/>
          </a:xfrm>
          <a:prstGeom prst="roundRect">
            <a:avLst>
              <a:gd name="adj" fmla="val 7697"/>
            </a:avLst>
          </a:prstGeom>
          <a:solidFill>
            <a:srgbClr val="FFFDF8"/>
          </a:solidFill>
          <a:ln w="6350">
            <a:solidFill>
              <a:srgbClr val="E4DCCD"/>
            </a:solidFill>
            <a:prstDash val="solid"/>
          </a:ln>
        </p:spPr>
      </p:sp>
      <p:pic>
        <p:nvPicPr>
          <p:cNvPr id="14" name="Image 3" descr="Verified">    </p:cNvPr>
          <p:cNvPicPr>
            <a:picLocks noChangeAspect="1"/>
          </p:cNvPicPr>
          <p:nvPr/>
        </p:nvPicPr>
        <p:blipFill>
          <a:blip r:embed="rId4"/>
          <a:srcRect l="0" r="0" t="0" b="0"/>
          <a:stretch/>
        </p:blipFill>
        <p:spPr>
          <a:xfrm>
            <a:off x="6445250" y="4666307"/>
            <a:ext cx="406400" cy="406400"/>
          </a:xfrm>
          <a:prstGeom prst="rect">
            <a:avLst/>
          </a:prstGeom>
        </p:spPr>
      </p:pic>
      <p:sp>
        <p:nvSpPr>
          <p:cNvPr id="15" name="Text 9"/>
          <p:cNvSpPr/>
          <p:nvPr/>
        </p:nvSpPr>
        <p:spPr>
          <a:xfrm>
            <a:off x="7029450" y="4605387"/>
            <a:ext cx="4212082"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333"/>
                </a:solidFill>
                <a:latin typeface="Manrope" pitchFamily="34" charset="0"/>
                <a:ea typeface="Manrope" pitchFamily="34" charset="-122"/>
                <a:cs typeface="Manrope" pitchFamily="34" charset="-120"/>
              </a:rPr>
              <a:t>Проверенный пример и критерии приёмки</a:t>
            </a:r>
            <a:endParaRPr lang="en-US" sz="1600" dirty="0"/>
          </a:p>
        </p:txBody>
      </p:sp>
      <p:sp>
        <p:nvSpPr>
          <p:cNvPr id="16" name="Text 10"/>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1"/>
          <p:cNvSpPr/>
          <p:nvPr/>
        </p:nvSpPr>
        <p:spPr>
          <a:xfrm>
            <a:off x="11151146" y="6238280"/>
            <a:ext cx="2280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ПЕРВАЯ ПРОБА</a:t>
            </a:r>
            <a:endParaRPr lang="en-US" sz="1200" dirty="0"/>
          </a:p>
        </p:txBody>
      </p:sp>
      <p:sp>
        <p:nvSpPr>
          <p:cNvPr id="3" name="Text 1"/>
          <p:cNvSpPr/>
          <p:nvPr>
            <p:ph type="title"/>
          </p:nvPr>
        </p:nvSpPr>
        <p:spPr>
          <a:xfrm>
            <a:off x="812800" y="1153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Сначала сделайте одну пробу вместе</a:t>
            </a:r>
            <a:endParaRPr lang="en-US" sz="3000" dirty="0"/>
          </a:p>
        </p:txBody>
      </p:sp>
      <p:sp>
        <p:nvSpPr>
          <p:cNvPr id="4" name="Shape 2"/>
          <p:cNvSpPr/>
          <p:nvPr/>
        </p:nvSpPr>
        <p:spPr>
          <a:xfrm>
            <a:off x="815975" y="1950045"/>
            <a:ext cx="2524125" cy="3888780"/>
          </a:xfrm>
          <a:prstGeom prst="roundRect">
            <a:avLst>
              <a:gd name="adj" fmla="val 5912"/>
            </a:avLst>
          </a:prstGeom>
          <a:solidFill>
            <a:srgbClr val="FFFDF8"/>
          </a:solidFill>
          <a:ln w="6350">
            <a:solidFill>
              <a:srgbClr val="E4DCCD"/>
            </a:solidFill>
            <a:prstDash val="solid"/>
          </a:ln>
        </p:spPr>
      </p:sp>
      <p:sp>
        <p:nvSpPr>
          <p:cNvPr id="5" name="Text 3"/>
          <p:cNvSpPr/>
          <p:nvPr/>
        </p:nvSpPr>
        <p:spPr>
          <a:xfrm>
            <a:off x="1022350" y="2207220"/>
            <a:ext cx="217471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441C"/>
                </a:solidFill>
                <a:latin typeface="Unbounded" pitchFamily="34" charset="0"/>
                <a:ea typeface="Unbounded" pitchFamily="34" charset="-122"/>
                <a:cs typeface="Unbounded" pitchFamily="34" charset="-120"/>
              </a:rPr>
              <a:t>1</a:t>
            </a:r>
            <a:endParaRPr lang="en-US" sz="2800" dirty="0"/>
          </a:p>
        </p:txBody>
      </p:sp>
      <p:sp>
        <p:nvSpPr>
          <p:cNvPr id="6" name="Text 4"/>
          <p:cNvSpPr/>
          <p:nvPr/>
        </p:nvSpPr>
        <p:spPr>
          <a:xfrm>
            <a:off x="1022350" y="2689820"/>
            <a:ext cx="2174716"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333"/>
                </a:solidFill>
                <a:latin typeface="Manrope" pitchFamily="34" charset="0"/>
                <a:ea typeface="Manrope" pitchFamily="34" charset="-122"/>
                <a:cs typeface="Manrope" pitchFamily="34" charset="-120"/>
              </a:rPr>
              <a:t>Руководитель выделяет рабочее время</a:t>
            </a:r>
            <a:endParaRPr lang="en-US" sz="1500" dirty="0"/>
          </a:p>
        </p:txBody>
      </p:sp>
      <p:sp>
        <p:nvSpPr>
          <p:cNvPr id="7" name="Shape 5"/>
          <p:cNvSpPr/>
          <p:nvPr/>
        </p:nvSpPr>
        <p:spPr>
          <a:xfrm>
            <a:off x="3498850" y="1950045"/>
            <a:ext cx="2524125" cy="3888780"/>
          </a:xfrm>
          <a:prstGeom prst="roundRect">
            <a:avLst>
              <a:gd name="adj" fmla="val 5912"/>
            </a:avLst>
          </a:prstGeom>
          <a:solidFill>
            <a:srgbClr val="FFFDF8"/>
          </a:solidFill>
          <a:ln w="6350">
            <a:solidFill>
              <a:srgbClr val="E4DCCD"/>
            </a:solidFill>
            <a:prstDash val="solid"/>
          </a:ln>
        </p:spPr>
      </p:sp>
      <p:sp>
        <p:nvSpPr>
          <p:cNvPr id="8" name="Text 6"/>
          <p:cNvSpPr/>
          <p:nvPr/>
        </p:nvSpPr>
        <p:spPr>
          <a:xfrm>
            <a:off x="3705225" y="2207220"/>
            <a:ext cx="217471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441C"/>
                </a:solidFill>
                <a:latin typeface="Unbounded" pitchFamily="34" charset="0"/>
                <a:ea typeface="Unbounded" pitchFamily="34" charset="-122"/>
                <a:cs typeface="Unbounded" pitchFamily="34" charset="-120"/>
              </a:rPr>
              <a:t>2</a:t>
            </a:r>
            <a:endParaRPr lang="en-US" sz="2800" dirty="0"/>
          </a:p>
        </p:txBody>
      </p:sp>
      <p:sp>
        <p:nvSpPr>
          <p:cNvPr id="9" name="Text 7"/>
          <p:cNvSpPr/>
          <p:nvPr/>
        </p:nvSpPr>
        <p:spPr>
          <a:xfrm>
            <a:off x="3705225" y="2689820"/>
            <a:ext cx="2174716"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333"/>
                </a:solidFill>
                <a:latin typeface="Manrope" pitchFamily="34" charset="0"/>
                <a:ea typeface="Manrope" pitchFamily="34" charset="-122"/>
                <a:cs typeface="Manrope" pitchFamily="34" charset="-120"/>
              </a:rPr>
              <a:t>Коллега сам делает знакомую операцию</a:t>
            </a:r>
            <a:endParaRPr lang="en-US" sz="1500" dirty="0"/>
          </a:p>
        </p:txBody>
      </p:sp>
      <p:sp>
        <p:nvSpPr>
          <p:cNvPr id="10" name="Shape 8"/>
          <p:cNvSpPr/>
          <p:nvPr/>
        </p:nvSpPr>
        <p:spPr>
          <a:xfrm>
            <a:off x="6181725" y="1950045"/>
            <a:ext cx="2524125" cy="3888780"/>
          </a:xfrm>
          <a:prstGeom prst="roundRect">
            <a:avLst>
              <a:gd name="adj" fmla="val 5912"/>
            </a:avLst>
          </a:prstGeom>
          <a:solidFill>
            <a:srgbClr val="FFFDF8"/>
          </a:solidFill>
          <a:ln w="6350">
            <a:solidFill>
              <a:srgbClr val="E4DCCD"/>
            </a:solidFill>
            <a:prstDash val="solid"/>
          </a:ln>
        </p:spPr>
      </p:sp>
      <p:sp>
        <p:nvSpPr>
          <p:cNvPr id="11" name="Text 9"/>
          <p:cNvSpPr/>
          <p:nvPr/>
        </p:nvSpPr>
        <p:spPr>
          <a:xfrm>
            <a:off x="6388100" y="2207220"/>
            <a:ext cx="217471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B4441C"/>
                </a:solidFill>
                <a:latin typeface="Unbounded" pitchFamily="34" charset="0"/>
                <a:ea typeface="Unbounded" pitchFamily="34" charset="-122"/>
                <a:cs typeface="Unbounded" pitchFamily="34" charset="-120"/>
              </a:rPr>
              <a:t>3</a:t>
            </a:r>
            <a:endParaRPr lang="en-US" sz="2800" dirty="0"/>
          </a:p>
        </p:txBody>
      </p:sp>
      <p:sp>
        <p:nvSpPr>
          <p:cNvPr id="12" name="Text 10"/>
          <p:cNvSpPr/>
          <p:nvPr/>
        </p:nvSpPr>
        <p:spPr>
          <a:xfrm>
            <a:off x="6388100" y="2689820"/>
            <a:ext cx="2174716"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F2333"/>
                </a:solidFill>
                <a:latin typeface="Manrope" pitchFamily="34" charset="0"/>
                <a:ea typeface="Manrope" pitchFamily="34" charset="-122"/>
                <a:cs typeface="Manrope" pitchFamily="34" charset="-120"/>
              </a:rPr>
              <a:t>Вместе разбираете одну ошибку</a:t>
            </a:r>
            <a:endParaRPr lang="en-US" sz="1500" dirty="0"/>
          </a:p>
        </p:txBody>
      </p:sp>
      <p:sp>
        <p:nvSpPr>
          <p:cNvPr id="13" name="Shape 11"/>
          <p:cNvSpPr/>
          <p:nvPr/>
        </p:nvSpPr>
        <p:spPr>
          <a:xfrm>
            <a:off x="8861425" y="1946870"/>
            <a:ext cx="2517775" cy="3895130"/>
          </a:xfrm>
          <a:prstGeom prst="roundRect">
            <a:avLst>
              <a:gd name="adj" fmla="val 6053"/>
            </a:avLst>
          </a:prstGeom>
          <a:solidFill>
            <a:srgbClr val="1F2333"/>
          </a:solidFill>
          <a:ln/>
        </p:spPr>
      </p:sp>
      <p:sp>
        <p:nvSpPr>
          <p:cNvPr id="14" name="Text 12"/>
          <p:cNvSpPr/>
          <p:nvPr/>
        </p:nvSpPr>
        <p:spPr>
          <a:xfrm>
            <a:off x="9064625" y="2200870"/>
            <a:ext cx="2174716"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4A261"/>
                </a:solidFill>
                <a:latin typeface="Unbounded" pitchFamily="34" charset="0"/>
                <a:ea typeface="Unbounded" pitchFamily="34" charset="-122"/>
                <a:cs typeface="Unbounded" pitchFamily="34" charset="-120"/>
              </a:rPr>
              <a:t>4</a:t>
            </a:r>
            <a:endParaRPr lang="en-US" sz="2800" dirty="0"/>
          </a:p>
        </p:txBody>
      </p:sp>
      <p:sp>
        <p:nvSpPr>
          <p:cNvPr id="15" name="Text 13"/>
          <p:cNvSpPr/>
          <p:nvPr/>
        </p:nvSpPr>
        <p:spPr>
          <a:xfrm>
            <a:off x="9064625" y="2683470"/>
            <a:ext cx="2174716" cy="79692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6F2EA"/>
                </a:solidFill>
                <a:latin typeface="Manrope" pitchFamily="34" charset="0"/>
                <a:ea typeface="Manrope" pitchFamily="34" charset="-122"/>
                <a:cs typeface="Manrope" pitchFamily="34" charset="-120"/>
              </a:rPr>
              <a:t>Возвращаетесь к шаблону на следующей задаче</a:t>
            </a:r>
            <a:endParaRPr lang="en-US" sz="1500" dirty="0"/>
          </a:p>
        </p:txBody>
      </p:sp>
      <p:sp>
        <p:nvSpPr>
          <p:cNvPr id="16"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5"/>
          <p:cNvSpPr/>
          <p:nvPr/>
        </p:nvSpPr>
        <p:spPr>
          <a:xfrm>
            <a:off x="11184682" y="6238280"/>
            <a:ext cx="1945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ПРИВЫЧКА</a:t>
            </a:r>
            <a:endParaRPr lang="en-US" sz="1200" dirty="0"/>
          </a:p>
        </p:txBody>
      </p:sp>
      <p:sp>
        <p:nvSpPr>
          <p:cNvPr id="3" name="Text 1"/>
          <p:cNvSpPr/>
          <p:nvPr>
            <p:ph type="title"/>
          </p:nvPr>
        </p:nvSpPr>
        <p:spPr>
          <a:xfrm>
            <a:off x="812800" y="1153120"/>
            <a:ext cx="10883392"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Почему человек возвращается к инструменту</a:t>
            </a:r>
            <a:endParaRPr lang="en-US" sz="3000" dirty="0"/>
          </a:p>
        </p:txBody>
      </p:sp>
      <p:sp>
        <p:nvSpPr>
          <p:cNvPr id="4" name="Shape 2"/>
          <p:cNvSpPr/>
          <p:nvPr/>
        </p:nvSpPr>
        <p:spPr>
          <a:xfrm>
            <a:off x="815975" y="2337395"/>
            <a:ext cx="5181600" cy="3501430"/>
          </a:xfrm>
          <a:prstGeom prst="roundRect">
            <a:avLst>
              <a:gd name="adj" fmla="val 4262"/>
            </a:avLst>
          </a:prstGeom>
          <a:solidFill>
            <a:srgbClr val="FFFDF8"/>
          </a:solidFill>
          <a:ln w="6350">
            <a:solidFill>
              <a:srgbClr val="E4DCCD"/>
            </a:solidFill>
            <a:prstDash val="solid"/>
          </a:ln>
        </p:spPr>
      </p:sp>
      <p:sp>
        <p:nvSpPr>
          <p:cNvPr id="5" name="Text 3"/>
          <p:cNvSpPr/>
          <p:nvPr/>
        </p:nvSpPr>
        <p:spPr>
          <a:xfrm>
            <a:off x="1098550" y="2619970"/>
            <a:ext cx="47549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441C"/>
                </a:solidFill>
                <a:latin typeface="Manrope" pitchFamily="34" charset="0"/>
                <a:ea typeface="Manrope" pitchFamily="34" charset="-122"/>
                <a:cs typeface="Manrope" pitchFamily="34" charset="-120"/>
              </a:rPr>
              <a:t>Возвращается, когда</a:t>
            </a:r>
            <a:endParaRPr lang="en-US" sz="1600" dirty="0"/>
          </a:p>
        </p:txBody>
      </p:sp>
      <p:sp>
        <p:nvSpPr>
          <p:cNvPr id="6" name="Text 4"/>
          <p:cNvSpPr/>
          <p:nvPr/>
        </p:nvSpPr>
        <p:spPr>
          <a:xfrm>
            <a:off x="1098550" y="3003500"/>
            <a:ext cx="4754944" cy="27399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1F2333"/>
                </a:solidFill>
                <a:latin typeface="Manrope" pitchFamily="34" charset="0"/>
                <a:ea typeface="Manrope" pitchFamily="34" charset="-122"/>
                <a:cs typeface="Manrope" pitchFamily="34" charset="-120"/>
              </a:rPr>
              <a:t>доступ уже есть,</a:t>
            </a:r>
            <a:endParaRPr lang="en-US" sz="1450" dirty="0"/>
          </a:p>
        </p:txBody>
      </p:sp>
      <p:sp>
        <p:nvSpPr>
          <p:cNvPr id="7" name="Text 5"/>
          <p:cNvSpPr/>
          <p:nvPr/>
        </p:nvSpPr>
        <p:spPr>
          <a:xfrm>
            <a:off x="1098550" y="3391793"/>
            <a:ext cx="4754944" cy="27399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1F2333"/>
                </a:solidFill>
                <a:latin typeface="Manrope" pitchFamily="34" charset="0"/>
                <a:ea typeface="Manrope" pitchFamily="34" charset="-122"/>
                <a:cs typeface="Manrope" pitchFamily="34" charset="-120"/>
              </a:rPr>
              <a:t>исходники легко найти,</a:t>
            </a:r>
            <a:endParaRPr lang="en-US" sz="1450" dirty="0"/>
          </a:p>
        </p:txBody>
      </p:sp>
      <p:sp>
        <p:nvSpPr>
          <p:cNvPr id="8" name="Text 6"/>
          <p:cNvSpPr/>
          <p:nvPr/>
        </p:nvSpPr>
        <p:spPr>
          <a:xfrm>
            <a:off x="1098550" y="3780086"/>
            <a:ext cx="4754944" cy="27399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1F2333"/>
                </a:solidFill>
                <a:latin typeface="Manrope" pitchFamily="34" charset="0"/>
                <a:ea typeface="Manrope" pitchFamily="34" charset="-122"/>
                <a:cs typeface="Manrope" pitchFamily="34" charset="-120"/>
              </a:rPr>
              <a:t>запрос сохранён,</a:t>
            </a:r>
            <a:endParaRPr lang="en-US" sz="1450" dirty="0"/>
          </a:p>
        </p:txBody>
      </p:sp>
      <p:sp>
        <p:nvSpPr>
          <p:cNvPr id="9" name="Text 7"/>
          <p:cNvSpPr/>
          <p:nvPr/>
        </p:nvSpPr>
        <p:spPr>
          <a:xfrm>
            <a:off x="1098550" y="4168378"/>
            <a:ext cx="4754944" cy="27399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1F2333"/>
                </a:solidFill>
                <a:latin typeface="Manrope" pitchFamily="34" charset="0"/>
                <a:ea typeface="Manrope" pitchFamily="34" charset="-122"/>
                <a:cs typeface="Manrope" pitchFamily="34" charset="-120"/>
              </a:rPr>
              <a:t>помощь рядом в рабочее время,</a:t>
            </a:r>
            <a:endParaRPr lang="en-US" sz="1450" dirty="0"/>
          </a:p>
        </p:txBody>
      </p:sp>
      <p:sp>
        <p:nvSpPr>
          <p:cNvPr id="10" name="Text 8"/>
          <p:cNvSpPr/>
          <p:nvPr/>
        </p:nvSpPr>
        <p:spPr>
          <a:xfrm>
            <a:off x="1098550" y="4556671"/>
            <a:ext cx="4754944" cy="273993"/>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1F2333"/>
                </a:solidFill>
                <a:latin typeface="Manrope" pitchFamily="34" charset="0"/>
                <a:ea typeface="Manrope" pitchFamily="34" charset="-122"/>
                <a:cs typeface="Manrope" pitchFamily="34" charset="-120"/>
              </a:rPr>
              <a:t>результат полезен ему самому.</a:t>
            </a:r>
            <a:endParaRPr lang="en-US" sz="1450" dirty="0"/>
          </a:p>
        </p:txBody>
      </p:sp>
      <p:sp>
        <p:nvSpPr>
          <p:cNvPr id="11" name="Shape 9"/>
          <p:cNvSpPr/>
          <p:nvPr/>
        </p:nvSpPr>
        <p:spPr>
          <a:xfrm>
            <a:off x="6203950" y="2334220"/>
            <a:ext cx="5175250" cy="3507780"/>
          </a:xfrm>
          <a:prstGeom prst="roundRect">
            <a:avLst>
              <a:gd name="adj" fmla="val 4345"/>
            </a:avLst>
          </a:prstGeom>
          <a:solidFill>
            <a:srgbClr val="1F2333"/>
          </a:solidFill>
          <a:ln/>
        </p:spPr>
      </p:sp>
      <p:sp>
        <p:nvSpPr>
          <p:cNvPr id="12" name="Text 10"/>
          <p:cNvSpPr/>
          <p:nvPr/>
        </p:nvSpPr>
        <p:spPr>
          <a:xfrm>
            <a:off x="6483350" y="2613620"/>
            <a:ext cx="47549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A261"/>
                </a:solidFill>
                <a:latin typeface="Manrope" pitchFamily="34" charset="0"/>
                <a:ea typeface="Manrope" pitchFamily="34" charset="-122"/>
                <a:cs typeface="Manrope" pitchFamily="34" charset="-120"/>
              </a:rPr>
              <a:t>Как понять, что прижилось</a:t>
            </a:r>
            <a:endParaRPr lang="en-US" sz="1600" dirty="0"/>
          </a:p>
        </p:txBody>
      </p:sp>
      <p:sp>
        <p:nvSpPr>
          <p:cNvPr id="13" name="Text 11"/>
          <p:cNvSpPr/>
          <p:nvPr/>
        </p:nvSpPr>
        <p:spPr>
          <a:xfrm>
            <a:off x="6483350" y="2997150"/>
            <a:ext cx="4754944"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F6F2EA"/>
                </a:solidFill>
                <a:latin typeface="Manrope" pitchFamily="34" charset="0"/>
                <a:ea typeface="Manrope" pitchFamily="34" charset="-122"/>
                <a:cs typeface="Manrope" pitchFamily="34" charset="-120"/>
              </a:rPr>
              <a:t>Сколько ушло на подготовку, запрос и исправления — вместе?</a:t>
            </a:r>
            <a:endParaRPr lang="en-US" sz="1450" dirty="0"/>
          </a:p>
        </p:txBody>
      </p:sp>
      <p:sp>
        <p:nvSpPr>
          <p:cNvPr id="14" name="Text 12"/>
          <p:cNvSpPr/>
          <p:nvPr/>
        </p:nvSpPr>
        <p:spPr>
          <a:xfrm>
            <a:off x="6483350" y="3652391"/>
            <a:ext cx="4754944"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F6F2EA"/>
                </a:solidFill>
                <a:latin typeface="Manrope" pitchFamily="34" charset="0"/>
                <a:ea typeface="Manrope" pitchFamily="34" charset="-122"/>
                <a:cs typeface="Manrope" pitchFamily="34" charset="-120"/>
              </a:rPr>
              <a:t>Принял ли коллега результат?</a:t>
            </a:r>
            <a:endParaRPr lang="en-US" sz="1450" dirty="0"/>
          </a:p>
        </p:txBody>
      </p:sp>
      <p:sp>
        <p:nvSpPr>
          <p:cNvPr id="15" name="Text 13"/>
          <p:cNvSpPr/>
          <p:nvPr/>
        </p:nvSpPr>
        <p:spPr>
          <a:xfrm>
            <a:off x="6483350" y="4049861"/>
            <a:ext cx="4754944"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F6F2EA"/>
                </a:solidFill>
                <a:latin typeface="Manrope" pitchFamily="34" charset="0"/>
                <a:ea typeface="Manrope" pitchFamily="34" charset="-122"/>
                <a:cs typeface="Manrope" pitchFamily="34" charset="-120"/>
              </a:rPr>
              <a:t>Получилось ли повторить способ на следующей задаче?</a:t>
            </a:r>
            <a:endParaRPr lang="en-US" sz="1450" dirty="0"/>
          </a:p>
        </p:txBody>
      </p:sp>
      <p:sp>
        <p:nvSpPr>
          <p:cNvPr id="16"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5"/>
          <p:cNvSpPr/>
          <p:nvPr/>
        </p:nvSpPr>
        <p:spPr>
          <a:xfrm>
            <a:off x="11157248" y="6238280"/>
            <a:ext cx="22195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E5D6"/>
        </a:solidFill>
      </p:bgPr>
    </p:bg>
    <p:spTree>
      <p:nvGrpSpPr>
        <p:cNvPr id="1" name=""/>
        <p:cNvGrpSpPr/>
        <p:nvPr/>
      </p:nvGrpSpPr>
      <p:grpSpPr>
        <a:xfrm>
          <a:off x="0" y="0"/>
          <a:ext cx="0" cy="0"/>
          <a:chOff x="0" y="0"/>
          <a:chExt cx="0" cy="0"/>
        </a:xfrm>
      </p:grpSpPr>
      <p:sp>
        <p:nvSpPr>
          <p:cNvPr id="2" name="Text 0"/>
          <p:cNvSpPr/>
          <p:nvPr/>
        </p:nvSpPr>
        <p:spPr>
          <a:xfrm>
            <a:off x="812800" y="2693690"/>
            <a:ext cx="39243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4441C"/>
                </a:solidFill>
                <a:latin typeface="Manrope" pitchFamily="34" charset="0"/>
                <a:ea typeface="Manrope" pitchFamily="34" charset="-122"/>
                <a:cs typeface="Manrope" pitchFamily="34" charset="-120"/>
              </a:rPr>
              <a:t>ДО СЛЕДУЮЩЕЙ ВСТРЕЧИ</a:t>
            </a:r>
            <a:endParaRPr lang="en-US" sz="1200" dirty="0"/>
          </a:p>
        </p:txBody>
      </p:sp>
      <p:sp>
        <p:nvSpPr>
          <p:cNvPr id="3" name="Text 1"/>
          <p:cNvSpPr/>
          <p:nvPr>
            <p:ph type="title"/>
          </p:nvPr>
        </p:nvSpPr>
        <p:spPr>
          <a:xfrm>
            <a:off x="812800" y="3084810"/>
            <a:ext cx="3924300"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F2333"/>
                </a:solidFill>
                <a:latin typeface="Unbounded" pitchFamily="34" charset="0"/>
                <a:ea typeface="Unbounded" pitchFamily="34" charset="-122"/>
                <a:cs typeface="Unbounded" pitchFamily="34" charset="-120"/>
              </a:rPr>
              <a:t>Попробуйте на своей работе</a:t>
            </a:r>
            <a:endParaRPr lang="en-US" sz="3000" dirty="0"/>
          </a:p>
        </p:txBody>
      </p:sp>
      <p:sp>
        <p:nvSpPr>
          <p:cNvPr id="4" name="Shape 2"/>
          <p:cNvSpPr/>
          <p:nvPr/>
        </p:nvSpPr>
        <p:spPr>
          <a:xfrm>
            <a:off x="5232400" y="1612900"/>
            <a:ext cx="6146800" cy="762000"/>
          </a:xfrm>
          <a:prstGeom prst="roundRect">
            <a:avLst>
              <a:gd name="adj" fmla="val 16667"/>
            </a:avLst>
          </a:prstGeom>
          <a:solidFill>
            <a:srgbClr val="FFFDF8"/>
          </a:solidFill>
          <a:ln/>
        </p:spPr>
      </p:sp>
      <p:sp>
        <p:nvSpPr>
          <p:cNvPr id="5" name="Text 3"/>
          <p:cNvSpPr/>
          <p:nvPr/>
        </p:nvSpPr>
        <p:spPr>
          <a:xfrm>
            <a:off x="5486400" y="181610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1</a:t>
            </a:r>
            <a:endParaRPr lang="en-US" sz="2000" dirty="0"/>
          </a:p>
        </p:txBody>
      </p:sp>
      <p:sp>
        <p:nvSpPr>
          <p:cNvPr id="6" name="Text 4"/>
          <p:cNvSpPr/>
          <p:nvPr/>
        </p:nvSpPr>
        <p:spPr>
          <a:xfrm>
            <a:off x="5969000" y="185673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33"/>
                </a:solidFill>
                <a:latin typeface="Manrope" pitchFamily="34" charset="0"/>
                <a:ea typeface="Manrope" pitchFamily="34" charset="-122"/>
                <a:cs typeface="Manrope" pitchFamily="34" charset="-120"/>
              </a:rPr>
              <a:t>Выберите одну свою операцию.</a:t>
            </a:r>
            <a:endParaRPr lang="en-US" sz="1600" dirty="0"/>
          </a:p>
        </p:txBody>
      </p:sp>
      <p:sp>
        <p:nvSpPr>
          <p:cNvPr id="7" name="Shape 5"/>
          <p:cNvSpPr/>
          <p:nvPr/>
        </p:nvSpPr>
        <p:spPr>
          <a:xfrm>
            <a:off x="5232400" y="2501900"/>
            <a:ext cx="6146800" cy="762000"/>
          </a:xfrm>
          <a:prstGeom prst="roundRect">
            <a:avLst>
              <a:gd name="adj" fmla="val 16667"/>
            </a:avLst>
          </a:prstGeom>
          <a:solidFill>
            <a:srgbClr val="FFFDF8"/>
          </a:solidFill>
          <a:ln/>
        </p:spPr>
      </p:sp>
      <p:sp>
        <p:nvSpPr>
          <p:cNvPr id="8" name="Text 6"/>
          <p:cNvSpPr/>
          <p:nvPr/>
        </p:nvSpPr>
        <p:spPr>
          <a:xfrm>
            <a:off x="5486400" y="270510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2</a:t>
            </a:r>
            <a:endParaRPr lang="en-US" sz="2000" dirty="0"/>
          </a:p>
        </p:txBody>
      </p:sp>
      <p:sp>
        <p:nvSpPr>
          <p:cNvPr id="9" name="Text 7"/>
          <p:cNvSpPr/>
          <p:nvPr/>
        </p:nvSpPr>
        <p:spPr>
          <a:xfrm>
            <a:off x="5969000" y="274573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33"/>
                </a:solidFill>
                <a:latin typeface="Manrope" pitchFamily="34" charset="0"/>
                <a:ea typeface="Manrope" pitchFamily="34" charset="-122"/>
                <a:cs typeface="Manrope" pitchFamily="34" charset="-120"/>
              </a:rPr>
              <a:t>Подготовьте разрешённый исходник и запрос.</a:t>
            </a:r>
            <a:endParaRPr lang="en-US" sz="1600" dirty="0"/>
          </a:p>
        </p:txBody>
      </p:sp>
      <p:sp>
        <p:nvSpPr>
          <p:cNvPr id="10" name="Shape 8"/>
          <p:cNvSpPr/>
          <p:nvPr/>
        </p:nvSpPr>
        <p:spPr>
          <a:xfrm>
            <a:off x="5232400" y="3390900"/>
            <a:ext cx="6146800" cy="762000"/>
          </a:xfrm>
          <a:prstGeom prst="roundRect">
            <a:avLst>
              <a:gd name="adj" fmla="val 16667"/>
            </a:avLst>
          </a:prstGeom>
          <a:solidFill>
            <a:srgbClr val="FFFDF8"/>
          </a:solidFill>
          <a:ln/>
        </p:spPr>
      </p:sp>
      <p:sp>
        <p:nvSpPr>
          <p:cNvPr id="11" name="Text 9"/>
          <p:cNvSpPr/>
          <p:nvPr/>
        </p:nvSpPr>
        <p:spPr>
          <a:xfrm>
            <a:off x="5486400" y="359410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4441C"/>
                </a:solidFill>
                <a:latin typeface="Unbounded" pitchFamily="34" charset="0"/>
                <a:ea typeface="Unbounded" pitchFamily="34" charset="-122"/>
                <a:cs typeface="Unbounded" pitchFamily="34" charset="-120"/>
              </a:rPr>
              <a:t>3</a:t>
            </a:r>
            <a:endParaRPr lang="en-US" sz="2000" dirty="0"/>
          </a:p>
        </p:txBody>
      </p:sp>
      <p:sp>
        <p:nvSpPr>
          <p:cNvPr id="12" name="Text 10"/>
          <p:cNvSpPr/>
          <p:nvPr/>
        </p:nvSpPr>
        <p:spPr>
          <a:xfrm>
            <a:off x="5969000" y="363473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F2333"/>
                </a:solidFill>
                <a:latin typeface="Manrope" pitchFamily="34" charset="0"/>
                <a:ea typeface="Manrope" pitchFamily="34" charset="-122"/>
                <a:cs typeface="Manrope" pitchFamily="34" charset="-120"/>
              </a:rPr>
              <a:t>Сделайте вместе с коллегой и запишите правки.</a:t>
            </a:r>
            <a:endParaRPr lang="en-US" sz="1600" dirty="0"/>
          </a:p>
        </p:txBody>
      </p:sp>
      <p:sp>
        <p:nvSpPr>
          <p:cNvPr id="13" name="Shape 11"/>
          <p:cNvSpPr/>
          <p:nvPr/>
        </p:nvSpPr>
        <p:spPr>
          <a:xfrm>
            <a:off x="5232400" y="4279900"/>
            <a:ext cx="6146800" cy="762000"/>
          </a:xfrm>
          <a:prstGeom prst="roundRect">
            <a:avLst>
              <a:gd name="adj" fmla="val 16667"/>
            </a:avLst>
          </a:prstGeom>
          <a:solidFill>
            <a:srgbClr val="1F2333"/>
          </a:solidFill>
          <a:ln/>
        </p:spPr>
      </p:sp>
      <p:sp>
        <p:nvSpPr>
          <p:cNvPr id="14" name="Text 12"/>
          <p:cNvSpPr/>
          <p:nvPr/>
        </p:nvSpPr>
        <p:spPr>
          <a:xfrm>
            <a:off x="5486400" y="448310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A261"/>
                </a:solidFill>
                <a:latin typeface="Unbounded" pitchFamily="34" charset="0"/>
                <a:ea typeface="Unbounded" pitchFamily="34" charset="-122"/>
                <a:cs typeface="Unbounded" pitchFamily="34" charset="-120"/>
              </a:rPr>
              <a:t>4</a:t>
            </a:r>
            <a:endParaRPr lang="en-US" sz="2000" dirty="0"/>
          </a:p>
        </p:txBody>
      </p:sp>
      <p:sp>
        <p:nvSpPr>
          <p:cNvPr id="15" name="Text 13"/>
          <p:cNvSpPr/>
          <p:nvPr/>
        </p:nvSpPr>
        <p:spPr>
          <a:xfrm>
            <a:off x="5969000" y="4523730"/>
            <a:ext cx="5310886"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6F2EA"/>
                </a:solidFill>
                <a:latin typeface="Manrope" pitchFamily="34" charset="0"/>
                <a:ea typeface="Manrope" pitchFamily="34" charset="-122"/>
                <a:cs typeface="Manrope" pitchFamily="34" charset="-120"/>
              </a:rPr>
              <a:t>Сдайте результат и свою проверку на портале.</a:t>
            </a:r>
            <a:endParaRPr lang="en-US" sz="1600" dirty="0"/>
          </a:p>
        </p:txBody>
      </p:sp>
      <p:sp>
        <p:nvSpPr>
          <p:cNvPr id="16" name="Text 14"/>
          <p:cNvSpPr/>
          <p:nvPr/>
        </p:nvSpPr>
        <p:spPr>
          <a:xfrm>
            <a:off x="812800" y="6238280"/>
            <a:ext cx="3189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6A5E"/>
                </a:solidFill>
                <a:latin typeface="Manrope" pitchFamily="34" charset="0"/>
                <a:ea typeface="Manrope" pitchFamily="34" charset="-122"/>
                <a:cs typeface="Manrope" pitchFamily="34" charset="-120"/>
              </a:rPr>
              <a:t>ИИ для менеджеров · Дарья Жуйкова</a:t>
            </a:r>
            <a:endParaRPr lang="en-US" sz="1200" dirty="0"/>
          </a:p>
        </p:txBody>
      </p:sp>
      <p:sp>
        <p:nvSpPr>
          <p:cNvPr id="17" name="Text 15"/>
          <p:cNvSpPr/>
          <p:nvPr/>
        </p:nvSpPr>
        <p:spPr>
          <a:xfrm>
            <a:off x="11159827" y="6238280"/>
            <a:ext cx="2193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E6A5E"/>
                </a:solidFill>
                <a:latin typeface="Manrope" pitchFamily="34" charset="0"/>
                <a:ea typeface="Manrope" pitchFamily="34" charset="-122"/>
                <a:cs typeface="Manrope"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F2333"/>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331200" y="812800"/>
            <a:ext cx="3048000" cy="3048000"/>
          </a:xfrm>
          <a:prstGeom prst="rect">
            <a:avLst/>
          </a:prstGeom>
        </p:spPr>
      </p:pic>
      <p:pic>
        <p:nvPicPr>
          <p:cNvPr id="3" name="Image 1" descr="ellipse">    </p:cNvPr>
          <p:cNvPicPr>
            <a:picLocks noChangeAspect="1"/>
          </p:cNvPicPr>
          <p:nvPr/>
        </p:nvPicPr>
        <p:blipFill>
          <a:blip r:embed="rId2"/>
          <a:srcRect l="0" r="0" t="0" b="0"/>
          <a:stretch/>
        </p:blipFill>
        <p:spPr>
          <a:xfrm>
            <a:off x="7315200" y="2844800"/>
            <a:ext cx="2032000" cy="2032000"/>
          </a:xfrm>
          <a:prstGeom prst="rect">
            <a:avLst/>
          </a:prstGeom>
        </p:spPr>
      </p:pic>
      <p:sp>
        <p:nvSpPr>
          <p:cNvPr id="4"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4A261"/>
                </a:solidFill>
                <a:latin typeface="Manrope" pitchFamily="34" charset="0"/>
                <a:ea typeface="Manrope" pitchFamily="34" charset="-122"/>
                <a:cs typeface="Manrope" pitchFamily="34" charset="-120"/>
              </a:rPr>
              <a:t>ИИ ДЛЯ МЕНЕДЖЕРОВ</a:t>
            </a:r>
            <a:endParaRPr lang="en-US" sz="1400" dirty="0"/>
          </a:p>
        </p:txBody>
      </p:sp>
      <p:sp>
        <p:nvSpPr>
          <p:cNvPr id="5" name="Text 1"/>
          <p:cNvSpPr/>
          <p:nvPr>
            <p:ph type="title"/>
          </p:nvPr>
        </p:nvSpPr>
        <p:spPr>
          <a:xfrm>
            <a:off x="812800" y="2767360"/>
            <a:ext cx="680212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2EA"/>
                </a:solidFill>
                <a:latin typeface="Unbounded" pitchFamily="34" charset="0"/>
                <a:ea typeface="Unbounded" pitchFamily="34" charset="-122"/>
                <a:cs typeface="Unbounded" pitchFamily="34" charset="-120"/>
              </a:rPr>
              <a:t>Спасибо!</a:t>
            </a:r>
            <a:endParaRPr lang="en-US" sz="6000" dirty="0"/>
          </a:p>
        </p:txBody>
      </p:sp>
      <p:sp>
        <p:nvSpPr>
          <p:cNvPr id="6" name="Text 2"/>
          <p:cNvSpPr/>
          <p:nvPr/>
        </p:nvSpPr>
        <p:spPr>
          <a:xfrm>
            <a:off x="812800" y="3770660"/>
            <a:ext cx="680212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BD4"/>
                </a:solidFill>
                <a:latin typeface="Manrope" pitchFamily="34" charset="0"/>
                <a:ea typeface="Manrope" pitchFamily="34" charset="-122"/>
                <a:cs typeface="Manrope" pitchFamily="34" charset="-120"/>
              </a:rPr>
              <a:t>Самое время для вопросов.</a:t>
            </a:r>
            <a:endParaRPr lang="en-US" sz="1800" dirty="0"/>
          </a:p>
        </p:txBody>
      </p:sp>
      <p:sp>
        <p:nvSpPr>
          <p:cNvPr id="7"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2EA"/>
                </a:solidFill>
                <a:latin typeface="Manrope" pitchFamily="34" charset="0"/>
                <a:ea typeface="Manrope" pitchFamily="34" charset="-122"/>
                <a:cs typeface="Manrope" pitchFamily="34" charset="-120"/>
              </a:rPr>
              <a:t>Дарья Жуйкова</a:t>
            </a:r>
            <a:endParaRPr lang="en-US" sz="1400" dirty="0"/>
          </a:p>
        </p:txBody>
      </p:sp>
    </p:spTree>
  </p:cSld>
  <p:clrMapOvr>
    <a:masterClrMapping/>
  </p:clrMapOvr>
</p:sld>
</file>

<file path=ppt/theme/theme1.xml><?xml version="1.0" encoding="utf-8"?>
<a:theme xmlns:a="http://schemas.openxmlformats.org/drawingml/2006/main" name="ИИ для менеджеров: как помочь команде освоить ИИ">
  <a:themeElements>
    <a:clrScheme name="ИИ для менеджеров: как помочь команде освоить ИИ">
      <a:dk1>
        <a:srgbClr val="1F2333"/>
      </a:dk1>
      <a:lt1>
        <a:srgbClr val="F6F2EA"/>
      </a:lt1>
      <a:dk2>
        <a:srgbClr val="555761"/>
      </a:dk2>
      <a:lt2>
        <a:srgbClr val="E1DDD8"/>
      </a:lt2>
      <a:accent1>
        <a:srgbClr val="B4441C"/>
      </a:accent1>
      <a:accent2>
        <a:srgbClr val="F4A261"/>
      </a:accent2>
      <a:accent3>
        <a:srgbClr val="6E6A5E"/>
      </a:accent3>
      <a:accent4>
        <a:srgbClr val="4B5061"/>
      </a:accent4>
      <a:accent5>
        <a:srgbClr val="C9CBD4"/>
      </a:accent5>
      <a:accent6>
        <a:srgbClr val="3A3F52"/>
      </a:accent6>
      <a:hlink>
        <a:srgbClr val="0563C1"/>
      </a:hlink>
      <a:folHlink>
        <a:srgbClr val="954F72"/>
      </a:folHlink>
    </a:clrScheme>
    <a:fontScheme name="ИИ для менеджеров: как помочь команде освоить ИИ">
      <a:majorFont>
        <a:latin typeface="Unbound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ИИ для менеджеров: как помочь команде освоить ИИ</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Manrope
Copyright 2018 The Manrope Project Authors (https://github.com/sharanda/manrope)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Unbounded
Copyright 2022 The Unbounded Project Authors (https://github.com/googlefonts/unbounded)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2026-10-23T07:41:06Z</dcterms:created>
  <dcterms:modified xsi:type="dcterms:W3CDTF">2026-10-23T07:41:06Z</dcterms:modified>
</cp:coreProperties>
</file>